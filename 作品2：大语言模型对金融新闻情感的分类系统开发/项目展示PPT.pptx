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p:sldMasterIdLst>
    <p:sldMasterId id="2147483648" r:id="rId1"/>
  </p:sldMasterIdLst>
  <p:notesMasterIdLst>
    <p:notesMasterId r:id="rId7"/>
  </p:notesMasterIdLst>
  <p:sldIdLst>
    <p:sldId id="865" r:id="rId3"/>
    <p:sldId id="867" r:id="rId4"/>
    <p:sldId id="868" r:id="rId5"/>
    <p:sldId id="909" r:id="rId6"/>
    <p:sldId id="895" r:id="rId8"/>
    <p:sldId id="883" r:id="rId9"/>
    <p:sldId id="897" r:id="rId10"/>
    <p:sldId id="893" r:id="rId11"/>
    <p:sldId id="900" r:id="rId12"/>
    <p:sldId id="885" r:id="rId13"/>
    <p:sldId id="887" r:id="rId14"/>
    <p:sldId id="901" r:id="rId15"/>
    <p:sldId id="910" r:id="rId16"/>
    <p:sldId id="367" r:id="rId17"/>
    <p:sldId id="904" r:id="rId18"/>
    <p:sldId id="905" r:id="rId19"/>
    <p:sldId id="890" r:id="rId20"/>
    <p:sldId id="898" r:id="rId21"/>
    <p:sldId id="891" r:id="rId22"/>
    <p:sldId id="584" r:id="rId23"/>
    <p:sldId id="892" r:id="rId24"/>
    <p:sldId id="872" r:id="rId25"/>
    <p:sldId id="87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280" userDrawn="1">
          <p15:clr>
            <a:srgbClr val="A4A3A4"/>
          </p15:clr>
        </p15:guide>
        <p15:guide id="4" orient="horz" pos="597" userDrawn="1">
          <p15:clr>
            <a:srgbClr val="A4A3A4"/>
          </p15:clr>
        </p15:guide>
        <p15:guide id="5" orient="horz" pos="3935" userDrawn="1">
          <p15:clr>
            <a:srgbClr val="A4A3A4"/>
          </p15:clr>
        </p15:guide>
        <p15:guide id="6" orient="horz" pos="38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E"/>
    <a:srgbClr val="039ACF"/>
    <a:srgbClr val="64A3D7"/>
    <a:srgbClr val="ED8137"/>
    <a:srgbClr val="EBA653"/>
    <a:srgbClr val="FFCC66"/>
    <a:srgbClr val="4D9BD4"/>
    <a:srgbClr val="89DFFD"/>
    <a:srgbClr val="FFFFFF"/>
    <a:srgbClr val="0046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38" autoAdjust="0"/>
    <p:restoredTop sz="82339" autoAdjust="0"/>
  </p:normalViewPr>
  <p:slideViewPr>
    <p:cSldViewPr snapToGrid="0" showGuides="1">
      <p:cViewPr varScale="1">
        <p:scale>
          <a:sx n="68" d="100"/>
          <a:sy n="68" d="100"/>
        </p:scale>
        <p:origin x="67" y="53"/>
      </p:cViewPr>
      <p:guideLst>
        <p:guide pos="438"/>
        <p:guide pos="7280"/>
        <p:guide orient="horz" pos="597"/>
        <p:guide orient="horz" pos="3935"/>
        <p:guide orient="horz" pos="3847"/>
      </p:guideLst>
    </p:cSldViewPr>
  </p:slideViewPr>
  <p:notesTextViewPr>
    <p:cViewPr>
      <p:scale>
        <a:sx n="1" d="1"/>
        <a:sy n="1" d="1"/>
      </p:scale>
      <p:origin x="0" y="0"/>
    </p:cViewPr>
  </p:notesTextViewPr>
  <p:sorterViewPr>
    <p:cViewPr>
      <p:scale>
        <a:sx n="128" d="100"/>
        <a:sy n="128"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B5295-0690-45DE-9E01-B4636744B25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13C37-BE2C-4CB8-940D-F8BE2EE6293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3413C37-BE2C-4CB8-940D-F8BE2EE6293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28A0092B-C50C-407E-A947-70E740481C1C}">
                <a14:useLocalDpi xmlns:a14="http://schemas.microsoft.com/office/drawing/2010/main" val="0"/>
              </a:ext>
            </a:extLst>
          </a:blip>
          <a:srcRect l="1" r="33919"/>
          <a:stretch>
            <a:fillRect/>
          </a:stretch>
        </p:blipFill>
        <p:spPr>
          <a:xfrm>
            <a:off x="2737536" y="-23325"/>
            <a:ext cx="9450900" cy="6862666"/>
          </a:xfrm>
          <a:prstGeom prst="rect">
            <a:avLst/>
          </a:prstGeom>
        </p:spPr>
      </p:pic>
      <p:sp>
        <p:nvSpPr>
          <p:cNvPr id="4" name="矩形 11"/>
          <p:cNvSpPr/>
          <p:nvPr/>
        </p:nvSpPr>
        <p:spPr>
          <a:xfrm flipH="1">
            <a:off x="0" y="-9329"/>
            <a:ext cx="9172142" cy="6858000"/>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5" name="组合 4"/>
          <p:cNvGrpSpPr/>
          <p:nvPr/>
        </p:nvGrpSpPr>
        <p:grpSpPr>
          <a:xfrm flipH="1">
            <a:off x="6096000" y="-18659"/>
            <a:ext cx="3603649" cy="6858000"/>
            <a:chOff x="1531613" y="0"/>
            <a:chExt cx="3375826" cy="6858000"/>
          </a:xfrm>
        </p:grpSpPr>
        <p:sp>
          <p:nvSpPr>
            <p:cNvPr id="6" name="任意多边形: 形状 5"/>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7" name="任意多边形: 形状 6"/>
            <p:cNvSpPr/>
            <p:nvPr/>
          </p:nvSpPr>
          <p:spPr>
            <a:xfrm>
              <a:off x="1531613"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Normal"/>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l="19433" b="25926"/>
          <a:stretch>
            <a:fillRect/>
          </a:stretch>
        </p:blipFill>
        <p:spPr>
          <a:xfrm>
            <a:off x="0" y="0"/>
            <a:ext cx="9921730" cy="6909263"/>
          </a:xfrm>
          <a:prstGeom prst="rect">
            <a:avLst/>
          </a:prstGeom>
        </p:spPr>
      </p:pic>
      <p:sp>
        <p:nvSpPr>
          <p:cNvPr id="8" name="矩形 7"/>
          <p:cNvSpPr/>
          <p:nvPr userDrawn="1"/>
        </p:nvSpPr>
        <p:spPr>
          <a:xfrm>
            <a:off x="0" y="0"/>
            <a:ext cx="12227769" cy="6909263"/>
          </a:xfrm>
          <a:prstGeom prst="rect">
            <a:avLst/>
          </a:prstGeom>
          <a:gradFill flip="none" rotWithShape="1">
            <a:gsLst>
              <a:gs pos="0">
                <a:srgbClr val="1A5E87">
                  <a:alpha val="85000"/>
                </a:srgbClr>
              </a:gs>
              <a:gs pos="99000">
                <a:srgbClr val="04033F">
                  <a:alpha val="46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11"/>
          <p:cNvSpPr/>
          <p:nvPr userDrawn="1"/>
        </p:nvSpPr>
        <p:spPr>
          <a:xfrm>
            <a:off x="3635492" y="0"/>
            <a:ext cx="8592277" cy="6909262"/>
          </a:xfrm>
          <a:custGeom>
            <a:avLst/>
            <a:gdLst/>
            <a:ahLst/>
            <a:cxnLst/>
            <a:rect l="l" t="t" r="r" b="b"/>
            <a:pathLst>
              <a:path w="6444208" h="5143500">
                <a:moveTo>
                  <a:pt x="2078067" y="0"/>
                </a:moveTo>
                <a:lnTo>
                  <a:pt x="6444208" y="0"/>
                </a:lnTo>
                <a:lnTo>
                  <a:pt x="6444208" y="5143500"/>
                </a:lnTo>
                <a:lnTo>
                  <a:pt x="0" y="51435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nvGrpSpPr>
          <p:cNvPr id="10" name="组合 9"/>
          <p:cNvGrpSpPr/>
          <p:nvPr userDrawn="1"/>
        </p:nvGrpSpPr>
        <p:grpSpPr>
          <a:xfrm>
            <a:off x="3078548" y="0"/>
            <a:ext cx="3375827" cy="6909262"/>
            <a:chOff x="1531612" y="0"/>
            <a:chExt cx="3375827" cy="6858000"/>
          </a:xfrm>
        </p:grpSpPr>
        <p:sp>
          <p:nvSpPr>
            <p:cNvPr id="11" name="任意多边形: 形状 10"/>
            <p:cNvSpPr/>
            <p:nvPr/>
          </p:nvSpPr>
          <p:spPr>
            <a:xfrm>
              <a:off x="1761297" y="0"/>
              <a:ext cx="3146142" cy="6858000"/>
            </a:xfrm>
            <a:custGeom>
              <a:avLst/>
              <a:gdLst>
                <a:gd name="connsiteX0" fmla="*/ 2770756 w 3146142"/>
                <a:gd name="connsiteY0" fmla="*/ 0 h 6858000"/>
                <a:gd name="connsiteX1" fmla="*/ 3146142 w 3146142"/>
                <a:gd name="connsiteY1" fmla="*/ 0 h 6858000"/>
                <a:gd name="connsiteX2" fmla="*/ 375386 w 3146142"/>
                <a:gd name="connsiteY2" fmla="*/ 6858000 h 6858000"/>
                <a:gd name="connsiteX3" fmla="*/ 0 w 31461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46142" h="6858000">
                  <a:moveTo>
                    <a:pt x="2770756" y="0"/>
                  </a:moveTo>
                  <a:lnTo>
                    <a:pt x="3146142" y="0"/>
                  </a:lnTo>
                  <a:lnTo>
                    <a:pt x="375386" y="6858000"/>
                  </a:lnTo>
                  <a:lnTo>
                    <a:pt x="0" y="6858000"/>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2" name="任意多边形: 形状 11"/>
            <p:cNvSpPr/>
            <p:nvPr/>
          </p:nvSpPr>
          <p:spPr>
            <a:xfrm>
              <a:off x="1531612" y="0"/>
              <a:ext cx="3030637" cy="6858000"/>
            </a:xfrm>
            <a:custGeom>
              <a:avLst/>
              <a:gdLst>
                <a:gd name="connsiteX0" fmla="*/ 2770756 w 3030637"/>
                <a:gd name="connsiteY0" fmla="*/ 0 h 6858000"/>
                <a:gd name="connsiteX1" fmla="*/ 3030637 w 3030637"/>
                <a:gd name="connsiteY1" fmla="*/ 0 h 6858000"/>
                <a:gd name="connsiteX2" fmla="*/ 259881 w 3030637"/>
                <a:gd name="connsiteY2" fmla="*/ 6858000 h 6858000"/>
                <a:gd name="connsiteX3" fmla="*/ 0 w 30306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0637" h="6858000">
                  <a:moveTo>
                    <a:pt x="2770756" y="0"/>
                  </a:moveTo>
                  <a:lnTo>
                    <a:pt x="3030637" y="0"/>
                  </a:lnTo>
                  <a:lnTo>
                    <a:pt x="259881" y="6858000"/>
                  </a:lnTo>
                  <a:lnTo>
                    <a:pt x="0" y="6858000"/>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grpSp>
        <p:nvGrpSpPr>
          <p:cNvPr id="14" name="组合 13"/>
          <p:cNvGrpSpPr/>
          <p:nvPr userDrawn="1"/>
        </p:nvGrpSpPr>
        <p:grpSpPr>
          <a:xfrm>
            <a:off x="11698028" y="5577840"/>
            <a:ext cx="529752" cy="1331422"/>
            <a:chOff x="11489652" y="4991405"/>
            <a:chExt cx="753203" cy="1866596"/>
          </a:xfrm>
        </p:grpSpPr>
        <p:sp>
          <p:nvSpPr>
            <p:cNvPr id="15" name="任意多边形: 形状 14"/>
            <p:cNvSpPr/>
            <p:nvPr/>
          </p:nvSpPr>
          <p:spPr>
            <a:xfrm>
              <a:off x="11680176" y="5504185"/>
              <a:ext cx="562679" cy="1353816"/>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sp>
          <p:nvSpPr>
            <p:cNvPr id="17" name="任意多边形: 形状 16"/>
            <p:cNvSpPr/>
            <p:nvPr userDrawn="1"/>
          </p:nvSpPr>
          <p:spPr>
            <a:xfrm>
              <a:off x="11489652" y="4991405"/>
              <a:ext cx="753193" cy="1866596"/>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CN Normal"/>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3" name="组合 2"/>
          <p:cNvGrpSpPr/>
          <p:nvPr userDrawn="1"/>
        </p:nvGrpSpPr>
        <p:grpSpPr>
          <a:xfrm>
            <a:off x="-61453" y="-11151"/>
            <a:ext cx="12314904" cy="6909263"/>
            <a:chOff x="-61453" y="-11151"/>
            <a:chExt cx="12314904" cy="6909263"/>
          </a:xfrm>
        </p:grpSpPr>
        <p:pic>
          <p:nvPicPr>
            <p:cNvPr id="4" name="图片 3"/>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radius="2"/>
                      </a14:imgEffect>
                    </a14:imgLayer>
                  </a14:imgProps>
                </a:ext>
                <a:ext uri="{28A0092B-C50C-407E-A947-70E740481C1C}">
                  <a14:useLocalDpi xmlns:a14="http://schemas.microsoft.com/office/drawing/2010/main" val="0"/>
                </a:ext>
              </a:extLst>
            </a:blip>
            <a:srcRect b="25926"/>
            <a:stretch>
              <a:fillRect/>
            </a:stretch>
          </p:blipFill>
          <p:spPr>
            <a:xfrm>
              <a:off x="-61452" y="-11151"/>
              <a:ext cx="12314903" cy="6909263"/>
            </a:xfrm>
            <a:prstGeom prst="rect">
              <a:avLst/>
            </a:prstGeom>
          </p:spPr>
        </p:pic>
        <p:sp>
          <p:nvSpPr>
            <p:cNvPr id="5" name="矩形 4"/>
            <p:cNvSpPr/>
            <p:nvPr userDrawn="1"/>
          </p:nvSpPr>
          <p:spPr>
            <a:xfrm>
              <a:off x="-61453" y="0"/>
              <a:ext cx="12314903" cy="6898112"/>
            </a:xfrm>
            <a:prstGeom prst="rect">
              <a:avLst/>
            </a:prstGeom>
            <a:gradFill flip="none" rotWithShape="1">
              <a:gsLst>
                <a:gs pos="0">
                  <a:srgbClr val="1A5E87"/>
                </a:gs>
                <a:gs pos="100000">
                  <a:srgbClr val="04033F">
                    <a:alpha val="8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394159" y="310888"/>
            <a:ext cx="682341" cy="539179"/>
            <a:chOff x="1801006" y="1526207"/>
            <a:chExt cx="1242672" cy="981947"/>
          </a:xfrm>
        </p:grpSpPr>
        <p:sp>
          <p:nvSpPr>
            <p:cNvPr id="5" name="矩形 4"/>
            <p:cNvSpPr/>
            <p:nvPr userDrawn="1"/>
          </p:nvSpPr>
          <p:spPr>
            <a:xfrm>
              <a:off x="2224301" y="1732937"/>
              <a:ext cx="819377" cy="695740"/>
            </a:xfrm>
            <a:prstGeom prst="rect">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6" name="任意多边形 13"/>
            <p:cNvSpPr/>
            <p:nvPr userDrawn="1"/>
          </p:nvSpPr>
          <p:spPr>
            <a:xfrm>
              <a:off x="1801006" y="1526207"/>
              <a:ext cx="1063935" cy="981947"/>
            </a:xfrm>
            <a:custGeom>
              <a:avLst/>
              <a:gdLst>
                <a:gd name="connsiteX0" fmla="*/ 0 w 2864941"/>
                <a:gd name="connsiteY0" fmla="*/ 0 h 981947"/>
                <a:gd name="connsiteX1" fmla="*/ 2864941 w 2864941"/>
                <a:gd name="connsiteY1" fmla="*/ 0 h 981947"/>
                <a:gd name="connsiteX2" fmla="*/ 2041802 w 2864941"/>
                <a:gd name="connsiteY2" fmla="*/ 981947 h 981947"/>
                <a:gd name="connsiteX3" fmla="*/ 0 w 2864941"/>
                <a:gd name="connsiteY3" fmla="*/ 981947 h 981947"/>
              </a:gdLst>
              <a:ahLst/>
              <a:cxnLst>
                <a:cxn ang="0">
                  <a:pos x="connsiteX0" y="connsiteY0"/>
                </a:cxn>
                <a:cxn ang="0">
                  <a:pos x="connsiteX1" y="connsiteY1"/>
                </a:cxn>
                <a:cxn ang="0">
                  <a:pos x="connsiteX2" y="connsiteY2"/>
                </a:cxn>
                <a:cxn ang="0">
                  <a:pos x="connsiteX3" y="connsiteY3"/>
                </a:cxn>
              </a:cxnLst>
              <a:rect l="l" t="t" r="r" b="b"/>
              <a:pathLst>
                <a:path w="2864941" h="981947">
                  <a:moveTo>
                    <a:pt x="0" y="0"/>
                  </a:moveTo>
                  <a:lnTo>
                    <a:pt x="2864941" y="0"/>
                  </a:lnTo>
                  <a:lnTo>
                    <a:pt x="2041802" y="981947"/>
                  </a:lnTo>
                  <a:lnTo>
                    <a:pt x="0" y="981947"/>
                  </a:lnTo>
                  <a:close/>
                </a:path>
              </a:pathLst>
            </a:custGeom>
            <a:solidFill>
              <a:srgbClr val="005AA6"/>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0" b="1"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grpSp>
        <p:nvGrpSpPr>
          <p:cNvPr id="10" name="组合 9"/>
          <p:cNvGrpSpPr/>
          <p:nvPr userDrawn="1"/>
        </p:nvGrpSpPr>
        <p:grpSpPr>
          <a:xfrm flipH="1" flipV="1">
            <a:off x="0" y="0"/>
            <a:ext cx="1280160" cy="685800"/>
            <a:chOff x="11489653" y="5119600"/>
            <a:chExt cx="702346" cy="1738401"/>
          </a:xfrm>
        </p:grpSpPr>
        <p:sp>
          <p:nvSpPr>
            <p:cNvPr id="11" name="任意多边形: 形状 10"/>
            <p:cNvSpPr/>
            <p:nvPr/>
          </p:nvSpPr>
          <p:spPr>
            <a:xfrm>
              <a:off x="11852771" y="6018366"/>
              <a:ext cx="339228" cy="839635"/>
            </a:xfrm>
            <a:custGeom>
              <a:avLst/>
              <a:gdLst>
                <a:gd name="connsiteX0" fmla="*/ 339228 w 339228"/>
                <a:gd name="connsiteY0" fmla="*/ 0 h 839635"/>
                <a:gd name="connsiteX1" fmla="*/ 339228 w 339228"/>
                <a:gd name="connsiteY1" fmla="*/ 839635 h 839635"/>
                <a:gd name="connsiteX2" fmla="*/ 0 w 339228"/>
                <a:gd name="connsiteY2" fmla="*/ 839635 h 839635"/>
              </a:gdLst>
              <a:ahLst/>
              <a:cxnLst>
                <a:cxn ang="0">
                  <a:pos x="connsiteX0" y="connsiteY0"/>
                </a:cxn>
                <a:cxn ang="0">
                  <a:pos x="connsiteX1" y="connsiteY1"/>
                </a:cxn>
                <a:cxn ang="0">
                  <a:pos x="connsiteX2" y="connsiteY2"/>
                </a:cxn>
              </a:cxnLst>
              <a:rect l="l" t="t" r="r" b="b"/>
              <a:pathLst>
                <a:path w="339228" h="839635">
                  <a:moveTo>
                    <a:pt x="339228" y="0"/>
                  </a:moveTo>
                  <a:lnTo>
                    <a:pt x="339228" y="839635"/>
                  </a:lnTo>
                  <a:lnTo>
                    <a:pt x="0" y="839635"/>
                  </a:lnTo>
                  <a:close/>
                </a:path>
              </a:pathLst>
            </a:custGeom>
            <a:solidFill>
              <a:srgbClr val="005EA4"/>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2" name="任意多边形: 形状 11"/>
            <p:cNvSpPr/>
            <p:nvPr/>
          </p:nvSpPr>
          <p:spPr>
            <a:xfrm>
              <a:off x="11623086" y="5449864"/>
              <a:ext cx="568913" cy="1408137"/>
            </a:xfrm>
            <a:custGeom>
              <a:avLst/>
              <a:gdLst>
                <a:gd name="connsiteX0" fmla="*/ 568913 w 568913"/>
                <a:gd name="connsiteY0" fmla="*/ 0 h 1408137"/>
                <a:gd name="connsiteX1" fmla="*/ 568913 w 568913"/>
                <a:gd name="connsiteY1" fmla="*/ 643241 h 1408137"/>
                <a:gd name="connsiteX2" fmla="*/ 259881 w 568913"/>
                <a:gd name="connsiteY2" fmla="*/ 1408137 h 1408137"/>
                <a:gd name="connsiteX3" fmla="*/ 0 w 568913"/>
                <a:gd name="connsiteY3" fmla="*/ 1408137 h 1408137"/>
              </a:gdLst>
              <a:ahLst/>
              <a:cxnLst>
                <a:cxn ang="0">
                  <a:pos x="connsiteX0" y="connsiteY0"/>
                </a:cxn>
                <a:cxn ang="0">
                  <a:pos x="connsiteX1" y="connsiteY1"/>
                </a:cxn>
                <a:cxn ang="0">
                  <a:pos x="connsiteX2" y="connsiteY2"/>
                </a:cxn>
                <a:cxn ang="0">
                  <a:pos x="connsiteX3" y="connsiteY3"/>
                </a:cxn>
              </a:cxnLst>
              <a:rect l="l" t="t" r="r" b="b"/>
              <a:pathLst>
                <a:path w="568913" h="1408137">
                  <a:moveTo>
                    <a:pt x="568913" y="0"/>
                  </a:moveTo>
                  <a:lnTo>
                    <a:pt x="568913" y="643241"/>
                  </a:lnTo>
                  <a:lnTo>
                    <a:pt x="259881" y="1408137"/>
                  </a:lnTo>
                  <a:lnTo>
                    <a:pt x="0" y="1408137"/>
                  </a:lnTo>
                  <a:close/>
                </a:path>
              </a:pathLst>
            </a:custGeom>
            <a:solidFill>
              <a:srgbClr val="039AC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sp>
          <p:nvSpPr>
            <p:cNvPr id="13" name="任意多边形: 形状 12"/>
            <p:cNvSpPr/>
            <p:nvPr/>
          </p:nvSpPr>
          <p:spPr>
            <a:xfrm>
              <a:off x="11489653" y="5119600"/>
              <a:ext cx="702346" cy="1738401"/>
            </a:xfrm>
            <a:custGeom>
              <a:avLst/>
              <a:gdLst>
                <a:gd name="connsiteX0" fmla="*/ 702346 w 702346"/>
                <a:gd name="connsiteY0" fmla="*/ 0 h 1738401"/>
                <a:gd name="connsiteX1" fmla="*/ 702346 w 702346"/>
                <a:gd name="connsiteY1" fmla="*/ 428827 h 1738401"/>
                <a:gd name="connsiteX2" fmla="*/ 173254 w 702346"/>
                <a:gd name="connsiteY2" fmla="*/ 1738401 h 1738401"/>
                <a:gd name="connsiteX3" fmla="*/ 0 w 702346"/>
                <a:gd name="connsiteY3" fmla="*/ 1738401 h 1738401"/>
              </a:gdLst>
              <a:ahLst/>
              <a:cxnLst>
                <a:cxn ang="0">
                  <a:pos x="connsiteX0" y="connsiteY0"/>
                </a:cxn>
                <a:cxn ang="0">
                  <a:pos x="connsiteX1" y="connsiteY1"/>
                </a:cxn>
                <a:cxn ang="0">
                  <a:pos x="connsiteX2" y="connsiteY2"/>
                </a:cxn>
                <a:cxn ang="0">
                  <a:pos x="connsiteX3" y="connsiteY3"/>
                </a:cxn>
              </a:cxnLst>
              <a:rect l="l" t="t" r="r" b="b"/>
              <a:pathLst>
                <a:path w="702346" h="1738401">
                  <a:moveTo>
                    <a:pt x="702346" y="0"/>
                  </a:moveTo>
                  <a:lnTo>
                    <a:pt x="702346" y="428827"/>
                  </a:lnTo>
                  <a:lnTo>
                    <a:pt x="173254" y="1738401"/>
                  </a:lnTo>
                  <a:lnTo>
                    <a:pt x="0" y="1738401"/>
                  </a:lnTo>
                  <a:close/>
                </a:path>
              </a:pathLst>
            </a:custGeom>
            <a:solidFill>
              <a:srgbClr val="039ACF">
                <a:lumMod val="40000"/>
                <a:lumOff val="60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mn-ea"/>
                <a:ea typeface="思源黑体 CN Normal"/>
                <a:cs typeface="+mn-c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2.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6.emf"/><Relationship Id="rId1" Type="http://schemas.openxmlformats.org/officeDocument/2006/relationships/image" Target="../media/image25.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7.emf"/><Relationship Id="rId1" Type="http://schemas.openxmlformats.org/officeDocument/2006/relationships/image" Target="../media/image26.emf"/></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xml"/><Relationship Id="rId2" Type="http://schemas.openxmlformats.org/officeDocument/2006/relationships/image" Target="../media/image29.emf"/><Relationship Id="rId1" Type="http://schemas.openxmlformats.org/officeDocument/2006/relationships/image" Target="../media/image28.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1831049" y="1855366"/>
            <a:ext cx="8175445" cy="3529890"/>
          </a:xfrm>
          <a:prstGeom prst="rect">
            <a:avLst/>
          </a:prstGeom>
        </p:spPr>
      </p:pic>
      <p:sp>
        <p:nvSpPr>
          <p:cNvPr id="34" name="平行四边形 33"/>
          <p:cNvSpPr/>
          <p:nvPr/>
        </p:nvSpPr>
        <p:spPr>
          <a:xfrm>
            <a:off x="9765536" y="108585"/>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p:cNvCxnSpPr/>
          <p:nvPr/>
        </p:nvCxnSpPr>
        <p:spPr>
          <a:xfrm flipH="1">
            <a:off x="11098400" y="5047329"/>
            <a:ext cx="1093600" cy="1810671"/>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flipH="1">
            <a:off x="5680255" y="1466983"/>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22" name="矩形 21"/>
          <p:cNvSpPr/>
          <p:nvPr/>
        </p:nvSpPr>
        <p:spPr>
          <a:xfrm>
            <a:off x="5389880" y="2694940"/>
            <a:ext cx="5888990" cy="1850390"/>
          </a:xfrm>
          <a:prstGeom prst="rect">
            <a:avLst/>
          </a:prstGeom>
          <a:noFill/>
        </p:spPr>
        <p:txBody>
          <a:bodyPr wrap="square">
            <a:spAutoFit/>
          </a:bodyPr>
          <a:lstStyle/>
          <a:p>
            <a:pPr lvl="0" algn="r">
              <a:lnSpc>
                <a:spcPct val="130000"/>
              </a:lnSpc>
              <a:defRPr/>
            </a:pPr>
            <a:r>
              <a:rPr kumimoji="1" lang="zh-CN" altLang="en-US" sz="44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rPr>
              <a:t>大语言模型对金融新闻文本情感的分类系统</a:t>
            </a:r>
            <a:endParaRPr kumimoji="1" lang="zh-CN" altLang="en-US" sz="44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73692" y="2095342"/>
            <a:ext cx="2514152" cy="673296"/>
          </a:xfrm>
          <a:prstGeom prst="rect">
            <a:avLst/>
          </a:prstGeom>
        </p:spPr>
      </p:pic>
      <p:grpSp>
        <p:nvGrpSpPr>
          <p:cNvPr id="2" name="组合 1"/>
          <p:cNvGrpSpPr/>
          <p:nvPr/>
        </p:nvGrpSpPr>
        <p:grpSpPr>
          <a:xfrm>
            <a:off x="5277363" y="4828935"/>
            <a:ext cx="5821038" cy="368300"/>
            <a:chOff x="5453628" y="5047329"/>
            <a:chExt cx="5821038" cy="368300"/>
          </a:xfrm>
        </p:grpSpPr>
        <p:sp>
          <p:nvSpPr>
            <p:cNvPr id="17" name="文本框 16"/>
            <p:cNvSpPr txBox="1"/>
            <p:nvPr/>
          </p:nvSpPr>
          <p:spPr>
            <a:xfrm>
              <a:off x="5453628" y="5047329"/>
              <a:ext cx="35000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2025</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年</a:t>
              </a: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5</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月</a:t>
              </a: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 May</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 2025</a:t>
              </a:r>
              <a:endPar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7774576" y="5047329"/>
              <a:ext cx="35000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9ACF"/>
        </a:solidFill>
        <a:effectLst/>
      </p:bgPr>
    </p:bg>
    <p:spTree>
      <p:nvGrpSpPr>
        <p:cNvPr id="1" name=""/>
        <p:cNvGrpSpPr/>
        <p:nvPr/>
      </p:nvGrpSpPr>
      <p:grpSpPr>
        <a:xfrm>
          <a:off x="0" y="0"/>
          <a:ext cx="0" cy="0"/>
          <a:chOff x="0" y="0"/>
          <a:chExt cx="0" cy="0"/>
        </a:xfrm>
      </p:grpSpPr>
      <p:sp>
        <p:nvSpPr>
          <p:cNvPr id="17" name="任意多边形: 形状 76"/>
          <p:cNvSpPr/>
          <p:nvPr/>
        </p:nvSpPr>
        <p:spPr>
          <a:xfrm flipH="1">
            <a:off x="472439" y="319249"/>
            <a:ext cx="1589824" cy="1441259"/>
          </a:xfrm>
          <a:custGeom>
            <a:avLst/>
            <a:gdLst>
              <a:gd name="connsiteX0" fmla="*/ 5148624 w 5999018"/>
              <a:gd name="connsiteY0" fmla="*/ 0 h 1700788"/>
              <a:gd name="connsiteX1" fmla="*/ 3953495 w 5999018"/>
              <a:gd name="connsiteY1" fmla="*/ 0 h 1700788"/>
              <a:gd name="connsiteX2" fmla="*/ 1195129 w 5999018"/>
              <a:gd name="connsiteY2" fmla="*/ 0 h 1700788"/>
              <a:gd name="connsiteX3" fmla="*/ 0 w 5999018"/>
              <a:gd name="connsiteY3" fmla="*/ 0 h 1700788"/>
              <a:gd name="connsiteX4" fmla="*/ 0 w 5999018"/>
              <a:gd name="connsiteY4" fmla="*/ 1700788 h 1700788"/>
              <a:gd name="connsiteX5" fmla="*/ 1195129 w 5999018"/>
              <a:gd name="connsiteY5" fmla="*/ 1700788 h 1700788"/>
              <a:gd name="connsiteX6" fmla="*/ 3953495 w 5999018"/>
              <a:gd name="connsiteY6" fmla="*/ 1700788 h 1700788"/>
              <a:gd name="connsiteX7" fmla="*/ 5148624 w 5999018"/>
              <a:gd name="connsiteY7" fmla="*/ 1700788 h 1700788"/>
              <a:gd name="connsiteX8" fmla="*/ 5999018 w 5999018"/>
              <a:gd name="connsiteY8" fmla="*/ 850394 h 170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99018" h="1700788">
                <a:moveTo>
                  <a:pt x="5148624" y="0"/>
                </a:moveTo>
                <a:lnTo>
                  <a:pt x="3953495" y="0"/>
                </a:lnTo>
                <a:lnTo>
                  <a:pt x="1195129" y="0"/>
                </a:lnTo>
                <a:lnTo>
                  <a:pt x="0" y="0"/>
                </a:lnTo>
                <a:lnTo>
                  <a:pt x="0" y="1700788"/>
                </a:lnTo>
                <a:lnTo>
                  <a:pt x="1195129" y="1700788"/>
                </a:lnTo>
                <a:lnTo>
                  <a:pt x="3953495" y="1700788"/>
                </a:lnTo>
                <a:lnTo>
                  <a:pt x="5148624" y="1700788"/>
                </a:lnTo>
                <a:lnTo>
                  <a:pt x="5999018" y="850394"/>
                </a:lnTo>
                <a:close/>
              </a:path>
            </a:pathLst>
          </a:custGeom>
          <a:gradFill>
            <a:gsLst>
              <a:gs pos="0">
                <a:schemeClr val="accent5">
                  <a:lumMod val="50000"/>
                </a:schemeClr>
              </a:gs>
              <a:gs pos="100000">
                <a:srgbClr val="0070C0"/>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占位符 1"/>
          <p:cNvSpPr txBox="1"/>
          <p:nvPr/>
        </p:nvSpPr>
        <p:spPr>
          <a:xfrm>
            <a:off x="2003123" y="920780"/>
            <a:ext cx="3754877" cy="663589"/>
          </a:xfrm>
          <a:prstGeom prst="rect">
            <a:avLst/>
          </a:prstGeom>
          <a:effectLst>
            <a:outerShdw blurRad="50800" dist="38100" dir="5400000" algn="t" rotWithShape="0">
              <a:prstClr val="black">
                <a:alpha val="40000"/>
              </a:prstClr>
            </a:outerShdw>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dist"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44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ONTENTS</a:t>
            </a:r>
            <a:endParaRPr kumimoji="0" lang="en-US" altLang="zh-CN" sz="44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19" name="矩形 18"/>
          <p:cNvSpPr/>
          <p:nvPr/>
        </p:nvSpPr>
        <p:spPr>
          <a:xfrm>
            <a:off x="891041" y="381259"/>
            <a:ext cx="1063112" cy="144655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800" b="1" i="1"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charset="-122"/>
                <a:cs typeface="+mn-cs"/>
              </a:rPr>
              <a:t>C</a:t>
            </a:r>
            <a:endParaRPr kumimoji="0" lang="zh-CN" altLang="en-US" sz="44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grpSp>
        <p:nvGrpSpPr>
          <p:cNvPr id="24" name="组合 23"/>
          <p:cNvGrpSpPr/>
          <p:nvPr>
            <p:custDataLst>
              <p:tags r:id="rId1"/>
            </p:custDataLst>
          </p:nvPr>
        </p:nvGrpSpPr>
        <p:grpSpPr>
          <a:xfrm>
            <a:off x="2003123" y="5014648"/>
            <a:ext cx="2621035" cy="589473"/>
            <a:chOff x="6676062" y="4354667"/>
            <a:chExt cx="2621035" cy="589473"/>
          </a:xfrm>
        </p:grpSpPr>
        <p:grpSp>
          <p:nvGrpSpPr>
            <p:cNvPr id="40" name="组合 39"/>
            <p:cNvGrpSpPr/>
            <p:nvPr/>
          </p:nvGrpSpPr>
          <p:grpSpPr>
            <a:xfrm>
              <a:off x="6676062" y="4354667"/>
              <a:ext cx="677509" cy="589473"/>
              <a:chOff x="725726" y="1781746"/>
              <a:chExt cx="515267" cy="515267"/>
            </a:xfrm>
          </p:grpSpPr>
          <p:sp>
            <p:nvSpPr>
              <p:cNvPr id="42" name="椭圆 41"/>
              <p:cNvSpPr/>
              <p:nvPr>
                <p:custDataLst>
                  <p:tags r:id="rId2"/>
                </p:custDataLst>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43" name="矩形 42"/>
              <p:cNvSpPr/>
              <p:nvPr>
                <p:custDataLst>
                  <p:tags r:id="rId3"/>
                </p:custDataLst>
              </p:nvPr>
            </p:nvSpPr>
            <p:spPr>
              <a:xfrm>
                <a:off x="775116" y="1823935"/>
                <a:ext cx="423284"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rPr>
                  <a:t>04</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endParaRPr>
              </a:p>
            </p:txBody>
          </p:sp>
        </p:grpSp>
        <p:sp>
          <p:nvSpPr>
            <p:cNvPr id="41" name="矩形 40"/>
            <p:cNvSpPr/>
            <p:nvPr>
              <p:custDataLst>
                <p:tags r:id="rId4"/>
              </p:custDataLst>
            </p:nvPr>
          </p:nvSpPr>
          <p:spPr>
            <a:xfrm>
              <a:off x="7470956" y="4357016"/>
              <a:ext cx="1826141" cy="584775"/>
            </a:xfrm>
            <a:prstGeom prst="rect">
              <a:avLst/>
            </a:prstGeom>
          </p:spPr>
          <p:txBody>
            <a:bodyPr wrap="none">
              <a:spAutoFit/>
            </a:bodyPr>
            <a:lstStyle/>
            <a:p>
              <a:pPr lvl="0">
                <a:defRPr/>
              </a:pP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创新特色</a:t>
              </a:r>
              <a:endPar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grpSp>
        <p:nvGrpSpPr>
          <p:cNvPr id="23" name="组合 22"/>
          <p:cNvGrpSpPr/>
          <p:nvPr>
            <p:custDataLst>
              <p:tags r:id="rId5"/>
            </p:custDataLst>
          </p:nvPr>
        </p:nvGrpSpPr>
        <p:grpSpPr>
          <a:xfrm>
            <a:off x="2003123" y="2047918"/>
            <a:ext cx="2621035" cy="589473"/>
            <a:chOff x="6676062" y="1485494"/>
            <a:chExt cx="2621035" cy="589473"/>
          </a:xfrm>
        </p:grpSpPr>
        <p:grpSp>
          <p:nvGrpSpPr>
            <p:cNvPr id="44" name="组合 43"/>
            <p:cNvGrpSpPr/>
            <p:nvPr/>
          </p:nvGrpSpPr>
          <p:grpSpPr>
            <a:xfrm>
              <a:off x="6676062" y="1485494"/>
              <a:ext cx="679374" cy="589473"/>
              <a:chOff x="725726" y="1781746"/>
              <a:chExt cx="515267" cy="515267"/>
            </a:xfrm>
          </p:grpSpPr>
          <p:sp>
            <p:nvSpPr>
              <p:cNvPr id="46" name="椭圆 45"/>
              <p:cNvSpPr/>
              <p:nvPr>
                <p:custDataLst>
                  <p:tags r:id="rId6"/>
                </p:custDataLst>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just"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47" name="矩形 46"/>
              <p:cNvSpPr/>
              <p:nvPr>
                <p:custDataLst>
                  <p:tags r:id="rId7"/>
                </p:custDataLst>
              </p:nvPr>
            </p:nvSpPr>
            <p:spPr>
              <a:xfrm>
                <a:off x="792109" y="1823935"/>
                <a:ext cx="389296"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rPr>
                  <a:t>01</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endParaRPr>
              </a:p>
            </p:txBody>
          </p:sp>
        </p:grpSp>
        <p:sp>
          <p:nvSpPr>
            <p:cNvPr id="45" name="矩形 44"/>
            <p:cNvSpPr/>
            <p:nvPr>
              <p:custDataLst>
                <p:tags r:id="rId8"/>
              </p:custDataLst>
            </p:nvPr>
          </p:nvSpPr>
          <p:spPr>
            <a:xfrm>
              <a:off x="7470956" y="1487843"/>
              <a:ext cx="1826141" cy="584775"/>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项目介绍</a:t>
              </a:r>
              <a:endParaRPr kumimoji="0" lang="zh-CN" altLang="en-US" sz="32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grpSp>
        <p:nvGrpSpPr>
          <p:cNvPr id="25" name="组合 24"/>
          <p:cNvGrpSpPr/>
          <p:nvPr>
            <p:custDataLst>
              <p:tags r:id="rId9"/>
            </p:custDataLst>
          </p:nvPr>
        </p:nvGrpSpPr>
        <p:grpSpPr>
          <a:xfrm>
            <a:off x="2003123" y="3067291"/>
            <a:ext cx="3422540" cy="589473"/>
            <a:chOff x="6676062" y="2441885"/>
            <a:chExt cx="3422540" cy="589473"/>
          </a:xfrm>
        </p:grpSpPr>
        <p:sp>
          <p:nvSpPr>
            <p:cNvPr id="36" name="矩形 35"/>
            <p:cNvSpPr/>
            <p:nvPr>
              <p:custDataLst>
                <p:tags r:id="rId10"/>
              </p:custDataLst>
            </p:nvPr>
          </p:nvSpPr>
          <p:spPr>
            <a:xfrm>
              <a:off x="7470956" y="2444234"/>
              <a:ext cx="2627646" cy="584775"/>
            </a:xfrm>
            <a:prstGeom prst="rect">
              <a:avLst/>
            </a:prstGeom>
          </p:spPr>
          <p:txBody>
            <a:bodyPr wrap="square">
              <a:spAutoFit/>
            </a:bodyPr>
            <a:lstStyle/>
            <a:p>
              <a:pPr lvl="0">
                <a:defRPr/>
              </a:pPr>
              <a:r>
                <a:rPr lang="zh-CN" altLang="en-US" sz="3200" b="1" kern="0" dirty="0">
                  <a:solidFill>
                    <a:prstClr val="black">
                      <a:lumMod val="95000"/>
                      <a:lumOff val="5000"/>
                    </a:prstClr>
                  </a:solidFill>
                  <a:latin typeface="微软雅黑" panose="020B0503020204020204" pitchFamily="34" charset="-122"/>
                  <a:ea typeface="微软雅黑" panose="020B0503020204020204" pitchFamily="34" charset="-122"/>
                </a:rPr>
                <a:t>技术原理</a:t>
              </a:r>
              <a:endParaRPr lang="zh-CN" altLang="en-US" sz="3200" b="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6676062" y="2441885"/>
              <a:ext cx="676565" cy="589473"/>
              <a:chOff x="725726" y="1781746"/>
              <a:chExt cx="515267" cy="515267"/>
            </a:xfrm>
          </p:grpSpPr>
          <p:sp>
            <p:nvSpPr>
              <p:cNvPr id="38" name="椭圆 37"/>
              <p:cNvSpPr/>
              <p:nvPr>
                <p:custDataLst>
                  <p:tags r:id="rId11"/>
                </p:custDataLst>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39" name="矩形 38"/>
              <p:cNvSpPr/>
              <p:nvPr>
                <p:custDataLst>
                  <p:tags r:id="rId12"/>
                </p:custDataLst>
              </p:nvPr>
            </p:nvSpPr>
            <p:spPr>
              <a:xfrm>
                <a:off x="774821" y="1823935"/>
                <a:ext cx="423874"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rPr>
                  <a:t>02</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endParaRPr>
              </a:p>
            </p:txBody>
          </p:sp>
        </p:grpSp>
      </p:grpSp>
      <p:grpSp>
        <p:nvGrpSpPr>
          <p:cNvPr id="27" name="组合 26"/>
          <p:cNvGrpSpPr/>
          <p:nvPr>
            <p:custDataLst>
              <p:tags r:id="rId13"/>
            </p:custDataLst>
          </p:nvPr>
        </p:nvGrpSpPr>
        <p:grpSpPr>
          <a:xfrm>
            <a:off x="2003123" y="4086664"/>
            <a:ext cx="2621035" cy="589473"/>
            <a:chOff x="6676062" y="3398276"/>
            <a:chExt cx="2621035" cy="589473"/>
          </a:xfrm>
        </p:grpSpPr>
        <p:grpSp>
          <p:nvGrpSpPr>
            <p:cNvPr id="28" name="组合 27"/>
            <p:cNvGrpSpPr/>
            <p:nvPr/>
          </p:nvGrpSpPr>
          <p:grpSpPr>
            <a:xfrm>
              <a:off x="6676062" y="3398276"/>
              <a:ext cx="677509" cy="589473"/>
              <a:chOff x="725726" y="1781746"/>
              <a:chExt cx="515267" cy="515267"/>
            </a:xfrm>
          </p:grpSpPr>
          <p:sp>
            <p:nvSpPr>
              <p:cNvPr id="30" name="椭圆 29"/>
              <p:cNvSpPr/>
              <p:nvPr>
                <p:custDataLst>
                  <p:tags r:id="rId14"/>
                </p:custDataLst>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31" name="矩形 30"/>
              <p:cNvSpPr/>
              <p:nvPr>
                <p:custDataLst>
                  <p:tags r:id="rId15"/>
                </p:custDataLst>
              </p:nvPr>
            </p:nvSpPr>
            <p:spPr>
              <a:xfrm>
                <a:off x="770850" y="1823935"/>
                <a:ext cx="431817"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rPr>
                  <a:t>03</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endParaRPr>
              </a:p>
            </p:txBody>
          </p:sp>
        </p:grpSp>
        <p:sp>
          <p:nvSpPr>
            <p:cNvPr id="29" name="矩形 28"/>
            <p:cNvSpPr/>
            <p:nvPr>
              <p:custDataLst>
                <p:tags r:id="rId16"/>
              </p:custDataLst>
            </p:nvPr>
          </p:nvSpPr>
          <p:spPr>
            <a:xfrm>
              <a:off x="7470956" y="3400625"/>
              <a:ext cx="1826141" cy="584775"/>
            </a:xfrm>
            <a:prstGeom prst="rect">
              <a:avLst/>
            </a:prstGeom>
          </p:spPr>
          <p:txBody>
            <a:bodyPr wrap="none">
              <a:spAutoFit/>
            </a:bodyPr>
            <a:lstStyle/>
            <a:p>
              <a:pPr lvl="0">
                <a:defRPr/>
              </a:pP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项目成果</a:t>
              </a:r>
              <a:endPar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grpSp>
        <p:nvGrpSpPr>
          <p:cNvPr id="26" name="组合 25"/>
          <p:cNvGrpSpPr/>
          <p:nvPr>
            <p:custDataLst>
              <p:tags r:id="rId17"/>
            </p:custDataLst>
          </p:nvPr>
        </p:nvGrpSpPr>
        <p:grpSpPr>
          <a:xfrm>
            <a:off x="2003123" y="5949278"/>
            <a:ext cx="3009774" cy="589473"/>
            <a:chOff x="6676062" y="4354667"/>
            <a:chExt cx="3009774" cy="589473"/>
          </a:xfrm>
        </p:grpSpPr>
        <p:grpSp>
          <p:nvGrpSpPr>
            <p:cNvPr id="32" name="组合 31"/>
            <p:cNvGrpSpPr/>
            <p:nvPr/>
          </p:nvGrpSpPr>
          <p:grpSpPr>
            <a:xfrm>
              <a:off x="6676062" y="4354667"/>
              <a:ext cx="677509" cy="589473"/>
              <a:chOff x="725726" y="1781746"/>
              <a:chExt cx="515267" cy="515267"/>
            </a:xfrm>
          </p:grpSpPr>
          <p:sp>
            <p:nvSpPr>
              <p:cNvPr id="34" name="椭圆 33"/>
              <p:cNvSpPr/>
              <p:nvPr>
                <p:custDataLst>
                  <p:tags r:id="rId18"/>
                </p:custDataLst>
              </p:nvPr>
            </p:nvSpPr>
            <p:spPr bwMode="auto">
              <a:xfrm>
                <a:off x="725726" y="1781746"/>
                <a:ext cx="515267" cy="515267"/>
              </a:xfrm>
              <a:prstGeom prst="ellipse">
                <a:avLst/>
              </a:prstGeom>
              <a:gradFill>
                <a:gsLst>
                  <a:gs pos="0">
                    <a:srgbClr val="FBFBFB"/>
                  </a:gs>
                  <a:gs pos="100000">
                    <a:srgbClr val="CBCFD0"/>
                  </a:gs>
                </a:gsLst>
                <a:lin ang="19800000" scaled="0"/>
              </a:gradFill>
              <a:ln w="22225" cap="flat" cmpd="sng" algn="ctr">
                <a:noFill/>
                <a:prstDash val="sysDot"/>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black">
                      <a:lumMod val="85000"/>
                      <a:lumOff val="15000"/>
                    </a:prstClr>
                  </a:solidFill>
                  <a:effectLst/>
                  <a:uLnTx/>
                  <a:uFillTx/>
                  <a:latin typeface="Palatino" charset="0"/>
                  <a:ea typeface="华文宋体" panose="02010600040101010101" charset="-122"/>
                  <a:cs typeface="+mn-cs"/>
                  <a:sym typeface="Palatino" charset="0"/>
                </a:endParaRPr>
              </a:p>
            </p:txBody>
          </p:sp>
          <p:sp>
            <p:nvSpPr>
              <p:cNvPr id="35" name="矩形 34"/>
              <p:cNvSpPr/>
              <p:nvPr>
                <p:custDataLst>
                  <p:tags r:id="rId19"/>
                </p:custDataLst>
              </p:nvPr>
            </p:nvSpPr>
            <p:spPr>
              <a:xfrm>
                <a:off x="759267" y="1823935"/>
                <a:ext cx="454982" cy="4573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rPr>
                  <a:t>05</a:t>
                </a:r>
                <a:endParaRPr kumimoji="0" lang="zh-CN" altLang="en-US" sz="2800" b="0" i="0" u="none" strike="noStrike" kern="1200" cap="none" spc="0" normalizeH="0" baseline="0" noProof="0" dirty="0">
                  <a:ln>
                    <a:noFill/>
                  </a:ln>
                  <a:solidFill>
                    <a:prstClr val="black">
                      <a:lumMod val="85000"/>
                      <a:lumOff val="15000"/>
                    </a:prstClr>
                  </a:solidFill>
                  <a:effectLst/>
                  <a:uLnTx/>
                  <a:uFillTx/>
                  <a:latin typeface="Stencil" panose="040409050D0802020404" pitchFamily="82" charset="0"/>
                  <a:ea typeface="等线" panose="02010600030101010101" charset="-122"/>
                  <a:cs typeface="+mn-cs"/>
                </a:endParaRPr>
              </a:p>
            </p:txBody>
          </p:sp>
        </p:grpSp>
        <p:sp>
          <p:nvSpPr>
            <p:cNvPr id="33" name="矩形 32"/>
            <p:cNvSpPr/>
            <p:nvPr>
              <p:custDataLst>
                <p:tags r:id="rId20"/>
              </p:custDataLst>
            </p:nvPr>
          </p:nvSpPr>
          <p:spPr>
            <a:xfrm>
              <a:off x="7470956" y="4357016"/>
              <a:ext cx="2214880" cy="583565"/>
            </a:xfrm>
            <a:prstGeom prst="rect">
              <a:avLst/>
            </a:prstGeom>
          </p:spPr>
          <p:txBody>
            <a:bodyPr wrap="none">
              <a:spAutoFit/>
            </a:bodyPr>
            <a:lstStyle/>
            <a:p>
              <a:pPr lvl="0">
                <a:defRPr/>
              </a:pP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总结与</a:t>
              </a:r>
              <a:r>
                <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rPr>
                <a:t>展望</a:t>
              </a:r>
              <a:endParaRPr lang="zh-CN" altLang="en-US" sz="3200" b="1" dirty="0">
                <a:solidFill>
                  <a:prstClr val="black">
                    <a:lumMod val="85000"/>
                    <a:lumOff val="15000"/>
                  </a:prst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01</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54" name="矩形 53"/>
          <p:cNvSpPr/>
          <p:nvPr/>
        </p:nvSpPr>
        <p:spPr>
          <a:xfrm>
            <a:off x="4080667" y="3755930"/>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rPr>
              <a:t>              项目介绍</a:t>
            </a:r>
            <a:endPar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endParaRPr>
          </a:p>
        </p:txBody>
      </p:sp>
      <p:cxnSp>
        <p:nvCxnSpPr>
          <p:cNvPr id="56" name="直接箭头连接符 55"/>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52000" y="288000"/>
            <a:ext cx="20116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项目</a:t>
            </a: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概述</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379095" y="1149350"/>
            <a:ext cx="3378200" cy="230695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Font typeface="Wingdings" panose="05000000000000000000" charset="0"/>
              <a:buChar char="Ø"/>
            </a:pPr>
            <a:r>
              <a:rPr lang="zh-CN" altLang="en-US" sz="1800">
                <a:latin typeface="Arial" panose="020B0604020202020204" pitchFamily="34" charset="0"/>
                <a:ea typeface="微软雅黑" panose="020B0503020204020204" pitchFamily="34" charset="-122"/>
              </a:rPr>
              <a:t>本项目采用大语言模型</a:t>
            </a:r>
            <a:r>
              <a:rPr lang="en-US" altLang="zh-CN" sz="1800" b="1">
                <a:solidFill>
                  <a:schemeClr val="accent5">
                    <a:lumMod val="75000"/>
                  </a:schemeClr>
                </a:solidFill>
                <a:latin typeface="Arial" panose="020B0604020202020204" pitchFamily="34" charset="0"/>
                <a:ea typeface="微软雅黑" panose="020B0503020204020204" pitchFamily="34" charset="-122"/>
              </a:rPr>
              <a:t>ChatGLM2-6B</a:t>
            </a:r>
            <a:r>
              <a:rPr lang="zh-CN" altLang="en-US" sz="1800">
                <a:latin typeface="Arial" panose="020B0604020202020204" pitchFamily="34" charset="0"/>
                <a:ea typeface="微软雅黑" panose="020B0503020204020204" pitchFamily="34" charset="-122"/>
              </a:rPr>
              <a:t>和</a:t>
            </a:r>
            <a:r>
              <a:rPr lang="en-US" altLang="zh-CN" sz="1800" b="1">
                <a:solidFill>
                  <a:schemeClr val="accent5">
                    <a:lumMod val="75000"/>
                  </a:schemeClr>
                </a:solidFill>
                <a:latin typeface="Arial" panose="020B0604020202020204" pitchFamily="34" charset="0"/>
                <a:ea typeface="微软雅黑" panose="020B0503020204020204" pitchFamily="34" charset="-122"/>
              </a:rPr>
              <a:t>Deepseek-R1-Distilled-Qwen-7B</a:t>
            </a:r>
            <a:r>
              <a:rPr lang="zh-CN" altLang="en-US" sz="1800">
                <a:latin typeface="Arial" panose="020B0604020202020204" pitchFamily="34" charset="0"/>
                <a:ea typeface="微软雅黑" panose="020B0503020204020204" pitchFamily="34" charset="-122"/>
              </a:rPr>
              <a:t>，利用</a:t>
            </a:r>
            <a:r>
              <a:rPr lang="en-US" altLang="zh-CN" sz="1800">
                <a:latin typeface="Arial" panose="020B0604020202020204" pitchFamily="34" charset="0"/>
                <a:ea typeface="微软雅黑" panose="020B0503020204020204" pitchFamily="34" charset="-122"/>
              </a:rPr>
              <a:t>Twitter</a:t>
            </a:r>
            <a:r>
              <a:rPr lang="zh-CN" altLang="en-US" sz="1800">
                <a:latin typeface="Arial" panose="020B0604020202020204" pitchFamily="34" charset="0"/>
                <a:ea typeface="微软雅黑" panose="020B0503020204020204" pitchFamily="34" charset="-122"/>
              </a:rPr>
              <a:t>金融新闻情感分析数据集</a:t>
            </a:r>
            <a:r>
              <a:rPr lang="en-US" altLang="zh-CN" sz="1800" b="1">
                <a:solidFill>
                  <a:schemeClr val="accent5">
                    <a:lumMod val="75000"/>
                  </a:schemeClr>
                </a:solidFill>
                <a:latin typeface="Arial" panose="020B0604020202020204" pitchFamily="34" charset="0"/>
                <a:ea typeface="微软雅黑" panose="020B0503020204020204" pitchFamily="34" charset="-122"/>
              </a:rPr>
              <a:t>TFNS</a:t>
            </a:r>
            <a:r>
              <a:rPr lang="zh-CN" altLang="en-US" sz="1800">
                <a:latin typeface="Arial" panose="020B0604020202020204" pitchFamily="34" charset="0"/>
                <a:ea typeface="微软雅黑" panose="020B0503020204020204" pitchFamily="34" charset="-122"/>
              </a:rPr>
              <a:t>进行训练，</a:t>
            </a:r>
            <a:r>
              <a:rPr lang="en-US" altLang="zh-CN" sz="1800" b="1">
                <a:solidFill>
                  <a:schemeClr val="accent5">
                    <a:lumMod val="75000"/>
                  </a:schemeClr>
                </a:solidFill>
                <a:latin typeface="Arial" panose="020B0604020202020204" pitchFamily="34" charset="0"/>
                <a:ea typeface="微软雅黑" panose="020B0503020204020204" pitchFamily="34" charset="-122"/>
              </a:rPr>
              <a:t>FQA</a:t>
            </a:r>
            <a:r>
              <a:rPr lang="zh-CN" altLang="en-US" sz="1800" b="1">
                <a:solidFill>
                  <a:schemeClr val="accent5">
                    <a:lumMod val="75000"/>
                  </a:schemeClr>
                </a:solidFill>
                <a:latin typeface="Arial" panose="020B0604020202020204" pitchFamily="34" charset="0"/>
                <a:ea typeface="微软雅黑" panose="020B0503020204020204" pitchFamily="34" charset="-122"/>
              </a:rPr>
              <a:t>、</a:t>
            </a:r>
            <a:r>
              <a:rPr lang="en-US" altLang="zh-CN" sz="1800" b="1">
                <a:solidFill>
                  <a:schemeClr val="accent5">
                    <a:lumMod val="75000"/>
                  </a:schemeClr>
                </a:solidFill>
                <a:latin typeface="Arial" panose="020B0604020202020204" pitchFamily="34" charset="0"/>
                <a:ea typeface="微软雅黑" panose="020B0503020204020204" pitchFamily="34" charset="-122"/>
              </a:rPr>
              <a:t>FiQA-SA</a:t>
            </a:r>
            <a:r>
              <a:rPr lang="zh-CN" altLang="en-US" sz="1800">
                <a:latin typeface="Arial" panose="020B0604020202020204" pitchFamily="34" charset="0"/>
                <a:ea typeface="微软雅黑" panose="020B0503020204020204" pitchFamily="34" charset="-122"/>
              </a:rPr>
              <a:t>等金融新闻数据</a:t>
            </a:r>
            <a:r>
              <a:rPr lang="zh-CN" altLang="en-US" sz="1800">
                <a:latin typeface="Arial" panose="020B0604020202020204" pitchFamily="34" charset="0"/>
                <a:ea typeface="微软雅黑" panose="020B0503020204020204" pitchFamily="34" charset="-122"/>
              </a:rPr>
              <a:t>集进行测试</a:t>
            </a:r>
            <a:endParaRPr lang="zh-CN" altLang="en-US" sz="1800">
              <a:latin typeface="Arial" panose="020B0604020202020204" pitchFamily="34" charset="0"/>
              <a:ea typeface="微软雅黑" panose="020B0503020204020204" pitchFamily="34" charset="-122"/>
            </a:endParaRPr>
          </a:p>
          <a:p>
            <a:pPr marL="285750" indent="-285750" algn="l">
              <a:buFont typeface="Wingdings" panose="05000000000000000000" charset="0"/>
              <a:buChar char="Ø"/>
            </a:pPr>
            <a:endParaRPr lang="zh-CN" altLang="en-US" sz="1800" b="1">
              <a:solidFill>
                <a:schemeClr val="accent5">
                  <a:lumMod val="75000"/>
                </a:schemeClr>
              </a:solidFill>
              <a:latin typeface="Arial" panose="020B0604020202020204" pitchFamily="34" charset="0"/>
              <a:ea typeface="微软雅黑" panose="020B0503020204020204" pitchFamily="34" charset="-122"/>
            </a:endParaRPr>
          </a:p>
        </p:txBody>
      </p:sp>
      <p:sp>
        <p:nvSpPr>
          <p:cNvPr id="4" name="文本框 3"/>
          <p:cNvSpPr txBox="1"/>
          <p:nvPr/>
        </p:nvSpPr>
        <p:spPr>
          <a:xfrm>
            <a:off x="468630" y="4790440"/>
            <a:ext cx="3378200" cy="147637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Font typeface="Wingdings" panose="05000000000000000000" charset="0"/>
              <a:buChar char="Ø"/>
            </a:pPr>
            <a:r>
              <a:rPr lang="zh-CN" altLang="en-US" sz="1800">
                <a:latin typeface="Arial" panose="020B0604020202020204" pitchFamily="34" charset="0"/>
                <a:ea typeface="微软雅黑" panose="020B0503020204020204" pitchFamily="34" charset="-122"/>
              </a:rPr>
              <a:t>本项目还采用</a:t>
            </a:r>
            <a:r>
              <a:rPr lang="en-US" altLang="zh-CN" sz="1800" b="1">
                <a:solidFill>
                  <a:schemeClr val="accent5">
                    <a:lumMod val="75000"/>
                  </a:schemeClr>
                </a:solidFill>
                <a:latin typeface="Arial" panose="020B0604020202020204" pitchFamily="34" charset="0"/>
                <a:ea typeface="微软雅黑" panose="020B0503020204020204" pitchFamily="34" charset="-122"/>
              </a:rPr>
              <a:t>LoRA</a:t>
            </a:r>
            <a:r>
              <a:rPr lang="zh-CN" altLang="en-US" sz="1800">
                <a:latin typeface="Arial" panose="020B0604020202020204" pitchFamily="34" charset="0"/>
                <a:ea typeface="微软雅黑" panose="020B0503020204020204" pitchFamily="34" charset="-122"/>
              </a:rPr>
              <a:t>技术加速训练并节省训练资源，同时采用</a:t>
            </a:r>
            <a:r>
              <a:rPr lang="zh-CN" altLang="en-US" sz="1800" b="1">
                <a:solidFill>
                  <a:schemeClr val="accent5">
                    <a:lumMod val="75000"/>
                  </a:schemeClr>
                </a:solidFill>
                <a:latin typeface="Arial" panose="020B0604020202020204" pitchFamily="34" charset="0"/>
                <a:ea typeface="微软雅黑" panose="020B0503020204020204" pitchFamily="34" charset="-122"/>
              </a:rPr>
              <a:t>秩适应技术、</a:t>
            </a:r>
            <a:r>
              <a:rPr lang="en-US" altLang="zh-CN" sz="1800" b="1">
                <a:solidFill>
                  <a:schemeClr val="accent5">
                    <a:lumMod val="75000"/>
                  </a:schemeClr>
                </a:solidFill>
                <a:latin typeface="Arial" panose="020B0604020202020204" pitchFamily="34" charset="0"/>
                <a:ea typeface="微软雅黑" panose="020B0503020204020204" pitchFamily="34" charset="-122"/>
              </a:rPr>
              <a:t>RAG</a:t>
            </a:r>
            <a:r>
              <a:rPr lang="zh-CN" altLang="en-US" sz="1800" b="1">
                <a:solidFill>
                  <a:schemeClr val="accent5">
                    <a:lumMod val="75000"/>
                  </a:schemeClr>
                </a:solidFill>
                <a:latin typeface="Arial" panose="020B0604020202020204" pitchFamily="34" charset="0"/>
                <a:ea typeface="微软雅黑" panose="020B0503020204020204" pitchFamily="34" charset="-122"/>
              </a:rPr>
              <a:t>技术</a:t>
            </a:r>
            <a:r>
              <a:rPr lang="zh-CN" altLang="en-US" sz="1800">
                <a:latin typeface="Arial" panose="020B0604020202020204" pitchFamily="34" charset="0"/>
                <a:ea typeface="微软雅黑" panose="020B0503020204020204" pitchFamily="34" charset="-122"/>
              </a:rPr>
              <a:t>等提升金融新闻文本情绪的分类</a:t>
            </a:r>
            <a:r>
              <a:rPr lang="zh-CN" altLang="en-US" sz="1800">
                <a:latin typeface="Arial" panose="020B0604020202020204" pitchFamily="34" charset="0"/>
                <a:ea typeface="微软雅黑" panose="020B0503020204020204" pitchFamily="34" charset="-122"/>
              </a:rPr>
              <a:t>性能</a:t>
            </a:r>
            <a:endParaRPr lang="zh-CN" altLang="en-US" sz="1800">
              <a:latin typeface="Arial" panose="020B0604020202020204" pitchFamily="34" charset="0"/>
              <a:ea typeface="微软雅黑" panose="020B0503020204020204" pitchFamily="34" charset="-122"/>
            </a:endParaRPr>
          </a:p>
        </p:txBody>
      </p:sp>
      <p:sp>
        <p:nvSpPr>
          <p:cNvPr id="5" name="文本框 4"/>
          <p:cNvSpPr txBox="1"/>
          <p:nvPr/>
        </p:nvSpPr>
        <p:spPr>
          <a:xfrm>
            <a:off x="469265" y="3314065"/>
            <a:ext cx="3377565" cy="147637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Font typeface="Wingdings" panose="05000000000000000000" charset="0"/>
              <a:buChar char="Ø"/>
            </a:pPr>
            <a:r>
              <a:rPr lang="zh-CN" altLang="en-US">
                <a:latin typeface="Arial" panose="020B0604020202020204" pitchFamily="34" charset="0"/>
                <a:ea typeface="微软雅黑" panose="020B0503020204020204" pitchFamily="34" charset="-122"/>
                <a:sym typeface="+mn-ea"/>
              </a:rPr>
              <a:t>本项目意在通过</a:t>
            </a:r>
            <a:r>
              <a:rPr lang="zh-CN" altLang="en-US" b="1">
                <a:solidFill>
                  <a:srgbClr val="00539E"/>
                </a:solidFill>
                <a:latin typeface="Arial" panose="020B0604020202020204" pitchFamily="34" charset="0"/>
                <a:ea typeface="微软雅黑" panose="020B0503020204020204" pitchFamily="34" charset="-122"/>
                <a:sym typeface="+mn-ea"/>
              </a:rPr>
              <a:t>大语言模型</a:t>
            </a:r>
            <a:r>
              <a:rPr lang="zh-CN" altLang="en-US">
                <a:latin typeface="Arial" panose="020B0604020202020204" pitchFamily="34" charset="0"/>
                <a:ea typeface="微软雅黑" panose="020B0503020204020204" pitchFamily="34" charset="-122"/>
                <a:sym typeface="+mn-ea"/>
              </a:rPr>
              <a:t>对语言</a:t>
            </a:r>
            <a:r>
              <a:rPr lang="zh-CN" altLang="en-US">
                <a:latin typeface="Arial" panose="020B0604020202020204" pitchFamily="34" charset="0"/>
                <a:ea typeface="微软雅黑" panose="020B0503020204020204" pitchFamily="34" charset="-122"/>
                <a:sym typeface="+mn-ea"/>
              </a:rPr>
              <a:t>材料分析的</a:t>
            </a:r>
            <a:r>
              <a:rPr lang="zh-CN" altLang="en-US" b="1">
                <a:solidFill>
                  <a:schemeClr val="accent5">
                    <a:lumMod val="75000"/>
                  </a:schemeClr>
                </a:solidFill>
                <a:latin typeface="Arial" panose="020B0604020202020204" pitchFamily="34" charset="0"/>
                <a:ea typeface="微软雅黑" panose="020B0503020204020204" pitchFamily="34" charset="-122"/>
                <a:sym typeface="+mn-ea"/>
              </a:rPr>
              <a:t>强大能力</a:t>
            </a:r>
            <a:r>
              <a:rPr lang="zh-CN" altLang="en-US">
                <a:latin typeface="Arial" panose="020B0604020202020204" pitchFamily="34" charset="0"/>
                <a:ea typeface="微软雅黑" panose="020B0503020204020204" pitchFamily="34" charset="-122"/>
                <a:sym typeface="+mn-ea"/>
              </a:rPr>
              <a:t>对</a:t>
            </a:r>
            <a:r>
              <a:rPr lang="zh-CN" altLang="en-US" b="1">
                <a:solidFill>
                  <a:schemeClr val="accent5">
                    <a:lumMod val="75000"/>
                  </a:schemeClr>
                </a:solidFill>
                <a:latin typeface="Arial" panose="020B0604020202020204" pitchFamily="34" charset="0"/>
                <a:ea typeface="微软雅黑" panose="020B0503020204020204" pitchFamily="34" charset="-122"/>
                <a:sym typeface="+mn-ea"/>
              </a:rPr>
              <a:t>金融新闻文本</a:t>
            </a:r>
            <a:r>
              <a:rPr lang="zh-CN" altLang="en-US">
                <a:latin typeface="Arial" panose="020B0604020202020204" pitchFamily="34" charset="0"/>
                <a:ea typeface="微软雅黑" panose="020B0503020204020204" pitchFamily="34" charset="-122"/>
                <a:sym typeface="+mn-ea"/>
              </a:rPr>
              <a:t>蕴含的</a:t>
            </a:r>
            <a:r>
              <a:rPr lang="zh-CN" altLang="en-US" b="1">
                <a:solidFill>
                  <a:schemeClr val="accent5">
                    <a:lumMod val="75000"/>
                  </a:schemeClr>
                </a:solidFill>
                <a:latin typeface="Arial" panose="020B0604020202020204" pitchFamily="34" charset="0"/>
                <a:ea typeface="微软雅黑" panose="020B0503020204020204" pitchFamily="34" charset="-122"/>
                <a:sym typeface="+mn-ea"/>
              </a:rPr>
              <a:t>市场投资情绪</a:t>
            </a:r>
            <a:r>
              <a:rPr lang="zh-CN" altLang="en-US">
                <a:latin typeface="Arial" panose="020B0604020202020204" pitchFamily="34" charset="0"/>
                <a:ea typeface="微软雅黑" panose="020B0503020204020204" pitchFamily="34" charset="-122"/>
                <a:sym typeface="+mn-ea"/>
              </a:rPr>
              <a:t>进行</a:t>
            </a:r>
            <a:r>
              <a:rPr lang="zh-CN" altLang="en-US" b="1">
                <a:solidFill>
                  <a:schemeClr val="accent5">
                    <a:lumMod val="75000"/>
                  </a:schemeClr>
                </a:solidFill>
                <a:latin typeface="Arial" panose="020B0604020202020204" pitchFamily="34" charset="0"/>
                <a:ea typeface="微软雅黑" panose="020B0503020204020204" pitchFamily="34" charset="-122"/>
                <a:sym typeface="+mn-ea"/>
              </a:rPr>
              <a:t>分析</a:t>
            </a:r>
            <a:endParaRPr lang="zh-CN" altLang="en-US" b="1">
              <a:solidFill>
                <a:schemeClr val="accent5">
                  <a:lumMod val="75000"/>
                </a:schemeClr>
              </a:solidFill>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4559300" y="5451475"/>
            <a:ext cx="6534150" cy="922020"/>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Font typeface="Wingdings" panose="05000000000000000000" charset="0"/>
              <a:buChar char="Ø"/>
            </a:pPr>
            <a:r>
              <a:rPr lang="zh-CN" altLang="en-US" sz="1800">
                <a:latin typeface="Arial" panose="020B0604020202020204" pitchFamily="34" charset="0"/>
                <a:ea typeface="微软雅黑" panose="020B0503020204020204" pitchFamily="34" charset="-122"/>
              </a:rPr>
              <a:t>这是一个</a:t>
            </a:r>
            <a:r>
              <a:rPr lang="zh-CN" altLang="en-US" sz="1800" b="1">
                <a:solidFill>
                  <a:srgbClr val="0070C0"/>
                </a:solidFill>
                <a:latin typeface="Arial" panose="020B0604020202020204" pitchFamily="34" charset="0"/>
                <a:ea typeface="微软雅黑" panose="020B0503020204020204" pitchFamily="34" charset="-122"/>
              </a:rPr>
              <a:t>大语言模型</a:t>
            </a:r>
            <a:r>
              <a:rPr lang="zh-CN" altLang="en-US" sz="1800">
                <a:latin typeface="Arial" panose="020B0604020202020204" pitchFamily="34" charset="0"/>
                <a:ea typeface="微软雅黑" panose="020B0503020204020204" pitchFamily="34" charset="-122"/>
              </a:rPr>
              <a:t>驱动的</a:t>
            </a:r>
            <a:r>
              <a:rPr lang="zh-CN" altLang="en-US" sz="1800" b="1">
                <a:solidFill>
                  <a:srgbClr val="0070C0"/>
                </a:solidFill>
                <a:latin typeface="Arial" panose="020B0604020202020204" pitchFamily="34" charset="0"/>
                <a:ea typeface="微软雅黑" panose="020B0503020204020204" pitchFamily="34" charset="-122"/>
              </a:rPr>
              <a:t>金融新闻情感分析系统的</a:t>
            </a:r>
            <a:r>
              <a:rPr lang="en-US" altLang="zh-CN" sz="1800" b="1">
                <a:solidFill>
                  <a:srgbClr val="0070C0"/>
                </a:solidFill>
                <a:latin typeface="Arial" panose="020B0604020202020204" pitchFamily="34" charset="0"/>
                <a:ea typeface="微软雅黑" panose="020B0503020204020204" pitchFamily="34" charset="-122"/>
              </a:rPr>
              <a:t>UI</a:t>
            </a:r>
            <a:r>
              <a:rPr lang="zh-CN" altLang="en-US" sz="1800" b="1">
                <a:solidFill>
                  <a:srgbClr val="0070C0"/>
                </a:solidFill>
                <a:latin typeface="Arial" panose="020B0604020202020204" pitchFamily="34" charset="0"/>
                <a:ea typeface="微软雅黑" panose="020B0503020204020204" pitchFamily="34" charset="-122"/>
              </a:rPr>
              <a:t>界面</a:t>
            </a:r>
            <a:r>
              <a:rPr lang="zh-CN" altLang="en-US" sz="1800">
                <a:latin typeface="Arial" panose="020B0604020202020204" pitchFamily="34" charset="0"/>
                <a:ea typeface="微软雅黑" panose="020B0503020204020204" pitchFamily="34" charset="-122"/>
              </a:rPr>
              <a:t>。该界面采用了直观的左右分栏布局，专为金融领域的文本分析和模型调试而设计</a:t>
            </a:r>
            <a:endParaRPr lang="zh-CN" altLang="en-US" sz="1800">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1"/>
          <a:srcRect r="33710" b="25277"/>
          <a:stretch>
            <a:fillRect/>
          </a:stretch>
        </p:blipFill>
        <p:spPr>
          <a:xfrm>
            <a:off x="4207510" y="933450"/>
            <a:ext cx="7449820" cy="4053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9808304" y="5048194"/>
            <a:ext cx="659180" cy="659180"/>
          </a:xfrm>
          <a:prstGeom prst="ellipse">
            <a:avLst/>
          </a:pr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p:cNvSpPr/>
          <p:nvPr/>
        </p:nvSpPr>
        <p:spPr>
          <a:xfrm>
            <a:off x="10990234" y="549683"/>
            <a:ext cx="1133522" cy="1133522"/>
          </a:xfrm>
          <a:prstGeom prst="ellipse">
            <a:avLst/>
          </a:prstGeom>
          <a:solidFill>
            <a:srgbClr val="89DF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p:cNvSpPr/>
          <p:nvPr/>
        </p:nvSpPr>
        <p:spPr>
          <a:xfrm>
            <a:off x="11436490" y="4001745"/>
            <a:ext cx="955315" cy="955315"/>
          </a:xfrm>
          <a:prstGeom prst="ellipse">
            <a:avLst/>
          </a:pr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1152000" y="288000"/>
            <a:ext cx="272034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en-US" altLang="zh-CN" sz="3600" b="1" i="0" u="none" strike="noStrike" kern="0" cap="none" spc="0" normalizeH="0" baseline="0" noProof="0" dirty="0" err="1">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FinGPT</a:t>
            </a: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结构</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p:cNvPicPr/>
          <p:nvPr/>
        </p:nvPicPr>
        <p:blipFill>
          <a:blip r:embed="rId1"/>
          <a:srcRect l="7505" t="118" r="6730"/>
          <a:stretch>
            <a:fillRect/>
          </a:stretch>
        </p:blipFill>
        <p:spPr>
          <a:xfrm>
            <a:off x="4504494" y="549683"/>
            <a:ext cx="7619262" cy="6305495"/>
          </a:xfrm>
          <a:prstGeom prst="rect">
            <a:avLst/>
          </a:prstGeom>
        </p:spPr>
      </p:pic>
      <p:sp>
        <p:nvSpPr>
          <p:cNvPr id="6" name="矩形: 圆角 5"/>
          <p:cNvSpPr/>
          <p:nvPr/>
        </p:nvSpPr>
        <p:spPr>
          <a:xfrm>
            <a:off x="4236441" y="1578270"/>
            <a:ext cx="1206459" cy="451299"/>
          </a:xfrm>
          <a:prstGeom prst="roundRect">
            <a:avLst/>
          </a:prstGeom>
          <a:solidFill>
            <a:srgbClr val="00539E"/>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任务层</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7"/>
          <p:cNvSpPr/>
          <p:nvPr/>
        </p:nvSpPr>
        <p:spPr>
          <a:xfrm>
            <a:off x="4279216" y="2791611"/>
            <a:ext cx="1158106" cy="45136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LLM</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层</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矩形: 圆角 14"/>
          <p:cNvSpPr/>
          <p:nvPr/>
        </p:nvSpPr>
        <p:spPr>
          <a:xfrm>
            <a:off x="4146143" y="3960754"/>
            <a:ext cx="1387057" cy="394935"/>
          </a:xfrm>
          <a:prstGeom prst="roundRect">
            <a:avLst/>
          </a:prstGeom>
          <a:solidFill>
            <a:srgbClr val="039A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white"/>
                </a:solidFill>
                <a:latin typeface="微软雅黑" panose="020B0503020204020204" pitchFamily="34" charset="-122"/>
                <a:ea typeface="微软雅黑" panose="020B0503020204020204" pitchFamily="34" charset="-122"/>
              </a:rPr>
              <a:t>数据工程层</a:t>
            </a:r>
            <a:endParaRPr kumimoji="0" lang="zh-CN" altLang="en-US"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6" name="矩形: 圆角 15"/>
          <p:cNvSpPr/>
          <p:nvPr/>
        </p:nvSpPr>
        <p:spPr>
          <a:xfrm>
            <a:off x="4146145" y="5484899"/>
            <a:ext cx="1387057" cy="444949"/>
          </a:xfrm>
          <a:prstGeom prst="roundRect">
            <a:avLst/>
          </a:prstGeom>
          <a:solidFill>
            <a:srgbClr val="005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数据源层</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nvSpPr>
        <p:spPr>
          <a:xfrm>
            <a:off x="280768" y="1198387"/>
            <a:ext cx="3828277" cy="922020"/>
          </a:xfrm>
          <a:prstGeom prst="rect">
            <a:avLst/>
          </a:prstGeom>
          <a:ln w="19050">
            <a:solidFill>
              <a:srgbClr val="00539E"/>
            </a:solidFill>
          </a:ln>
        </p:spPr>
        <p:txBody>
          <a:bodyPr wrap="square">
            <a:spAutoFit/>
          </a:bodyPr>
          <a:lstStyle/>
          <a:p>
            <a:pPr marL="179705" indent="-179705">
              <a:lnSpc>
                <a:spcPct val="150000"/>
              </a:lnSpc>
              <a:spcBef>
                <a:spcPct val="20000"/>
              </a:spcBef>
              <a:buFont typeface="Arial" panose="020B0604020202020204" pitchFamily="34" charset="0"/>
              <a:buChar char="•"/>
            </a:pPr>
            <a:r>
              <a:rPr lang="zh-CN" altLang="en-US" b="1" kern="0" dirty="0">
                <a:solidFill>
                  <a:srgbClr val="00539E"/>
                </a:solidFill>
                <a:latin typeface="微软雅黑" panose="020B0503020204020204" pitchFamily="34" charset="-122"/>
                <a:ea typeface="微软雅黑" panose="020B0503020204020204" pitchFamily="34" charset="-122"/>
              </a:rPr>
              <a:t>进行各种下游任务</a:t>
            </a:r>
            <a:r>
              <a:rPr lang="zh-CN" altLang="en-US" b="1" kern="0" dirty="0">
                <a:solidFill>
                  <a:srgbClr val="00539E"/>
                </a:solidFill>
                <a:latin typeface="微软雅黑" panose="020B0503020204020204" pitchFamily="34" charset="-122"/>
                <a:ea typeface="微软雅黑" panose="020B0503020204020204" pitchFamily="34" charset="-122"/>
              </a:rPr>
              <a:t>，本项目聚焦于金融新闻情绪分析任务的</a:t>
            </a:r>
            <a:r>
              <a:rPr lang="zh-CN" altLang="en-US" b="1" kern="0" dirty="0">
                <a:solidFill>
                  <a:srgbClr val="00539E"/>
                </a:solidFill>
                <a:latin typeface="微软雅黑" panose="020B0503020204020204" pitchFamily="34" charset="-122"/>
                <a:ea typeface="微软雅黑" panose="020B0503020204020204" pitchFamily="34" charset="-122"/>
              </a:rPr>
              <a:t>实现</a:t>
            </a:r>
            <a:endParaRPr lang="zh-CN" altLang="en-US" b="1" kern="0" dirty="0">
              <a:solidFill>
                <a:srgbClr val="00539E"/>
              </a:solidFill>
              <a:latin typeface="微软雅黑" panose="020B0503020204020204" pitchFamily="34" charset="-122"/>
              <a:ea typeface="微软雅黑" panose="020B0503020204020204" pitchFamily="34" charset="-122"/>
            </a:endParaRPr>
          </a:p>
        </p:txBody>
      </p:sp>
      <p:sp>
        <p:nvSpPr>
          <p:cNvPr id="18" name="矩形 17"/>
          <p:cNvSpPr/>
          <p:nvPr/>
        </p:nvSpPr>
        <p:spPr>
          <a:xfrm>
            <a:off x="284302" y="2531052"/>
            <a:ext cx="3828277" cy="922020"/>
          </a:xfrm>
          <a:prstGeom prst="rect">
            <a:avLst/>
          </a:prstGeom>
          <a:ln w="19050">
            <a:solidFill>
              <a:schemeClr val="bg1">
                <a:lumMod val="50000"/>
              </a:schemeClr>
            </a:solidFill>
          </a:ln>
        </p:spPr>
        <p:txBody>
          <a:bodyPr wrap="square">
            <a:spAutoFit/>
          </a:bodyPr>
          <a:lstStyle/>
          <a:p>
            <a:pPr marL="179705" indent="-179705">
              <a:lnSpc>
                <a:spcPct val="150000"/>
              </a:lnSpc>
              <a:spcBef>
                <a:spcPct val="20000"/>
              </a:spcBef>
              <a:buFont typeface="Arial" panose="020B0604020202020204" pitchFamily="34" charset="0"/>
              <a:buChar char="•"/>
            </a:pPr>
            <a:r>
              <a:rPr lang="zh-CN" altLang="en-US" b="1" kern="0" dirty="0">
                <a:solidFill>
                  <a:srgbClr val="00539E"/>
                </a:solidFill>
                <a:latin typeface="微软雅黑" panose="020B0503020204020204" pitchFamily="34" charset="-122"/>
                <a:ea typeface="微软雅黑" panose="020B0503020204020204" pitchFamily="34" charset="-122"/>
              </a:rPr>
              <a:t>本项目选用合适的大模型对处理好的金融新闻数据进行训练</a:t>
            </a:r>
            <a:endParaRPr lang="zh-CN" altLang="en-US" b="1" kern="0" dirty="0">
              <a:solidFill>
                <a:srgbClr val="00539E"/>
              </a:solidFill>
              <a:latin typeface="微软雅黑" panose="020B0503020204020204" pitchFamily="34" charset="-122"/>
              <a:ea typeface="微软雅黑" panose="020B0503020204020204" pitchFamily="34" charset="-122"/>
            </a:endParaRPr>
          </a:p>
        </p:txBody>
      </p:sp>
      <p:sp>
        <p:nvSpPr>
          <p:cNvPr id="19" name="矩形 18"/>
          <p:cNvSpPr/>
          <p:nvPr/>
        </p:nvSpPr>
        <p:spPr>
          <a:xfrm>
            <a:off x="280768" y="3906476"/>
            <a:ext cx="3828277" cy="1337945"/>
          </a:xfrm>
          <a:prstGeom prst="rect">
            <a:avLst/>
          </a:prstGeom>
          <a:ln w="19050">
            <a:solidFill>
              <a:srgbClr val="039ACF"/>
            </a:solidFill>
          </a:ln>
        </p:spPr>
        <p:txBody>
          <a:bodyPr wrap="square">
            <a:spAutoFit/>
          </a:bodyPr>
          <a:lstStyle/>
          <a:p>
            <a:pPr marL="179705" indent="-179705">
              <a:lnSpc>
                <a:spcPct val="150000"/>
              </a:lnSpc>
              <a:spcBef>
                <a:spcPct val="20000"/>
              </a:spcBef>
              <a:buFont typeface="Arial" panose="020B0604020202020204" pitchFamily="34" charset="0"/>
              <a:buChar char="•"/>
            </a:pPr>
            <a:r>
              <a:rPr lang="zh-CN" altLang="en-US" b="1" kern="0" dirty="0">
                <a:solidFill>
                  <a:srgbClr val="00539E"/>
                </a:solidFill>
                <a:latin typeface="微软雅黑" panose="020B0503020204020204" pitchFamily="34" charset="-122"/>
                <a:ea typeface="微软雅黑" panose="020B0503020204020204" pitchFamily="34" charset="-122"/>
              </a:rPr>
              <a:t>对收集的数据进一步处理，解决了金融数据固有的高时间敏感性的挑战。 </a:t>
            </a:r>
            <a:endParaRPr lang="zh-CN" altLang="en-US" b="1" kern="0" dirty="0">
              <a:solidFill>
                <a:srgbClr val="00539E"/>
              </a:solidFill>
              <a:latin typeface="微软雅黑" panose="020B0503020204020204" pitchFamily="34" charset="-122"/>
              <a:ea typeface="微软雅黑" panose="020B0503020204020204" pitchFamily="34" charset="-122"/>
            </a:endParaRPr>
          </a:p>
        </p:txBody>
      </p:sp>
      <p:sp>
        <p:nvSpPr>
          <p:cNvPr id="20" name="矩形 19"/>
          <p:cNvSpPr/>
          <p:nvPr/>
        </p:nvSpPr>
        <p:spPr>
          <a:xfrm>
            <a:off x="302978" y="5415924"/>
            <a:ext cx="3828277" cy="1337945"/>
          </a:xfrm>
          <a:prstGeom prst="rect">
            <a:avLst/>
          </a:prstGeom>
          <a:ln w="19050">
            <a:solidFill>
              <a:srgbClr val="00539E"/>
            </a:solidFill>
          </a:ln>
        </p:spPr>
        <p:txBody>
          <a:bodyPr wrap="square">
            <a:spAutoFit/>
          </a:bodyPr>
          <a:lstStyle/>
          <a:p>
            <a:pPr marL="179705" indent="-179705">
              <a:lnSpc>
                <a:spcPct val="150000"/>
              </a:lnSpc>
              <a:spcBef>
                <a:spcPct val="20000"/>
              </a:spcBef>
              <a:buFont typeface="Arial" panose="020B0604020202020204" pitchFamily="34" charset="0"/>
              <a:buChar char="•"/>
            </a:pPr>
            <a:r>
              <a:rPr lang="zh-CN" altLang="en-US" b="1" kern="0" dirty="0">
                <a:solidFill>
                  <a:srgbClr val="00539E"/>
                </a:solidFill>
                <a:latin typeface="微软雅黑" panose="020B0503020204020204" pitchFamily="34" charset="-122"/>
                <a:ea typeface="微软雅黑" panose="020B0503020204020204" pitchFamily="34" charset="-122"/>
              </a:rPr>
              <a:t>该层确保了全面的市场覆盖，通过实时信息捕捉来应对金融数据的时间敏感性，收集全面的金融数据。</a:t>
            </a:r>
            <a:endParaRPr lang="zh-CN" altLang="en-US" b="1" kern="0" dirty="0">
              <a:solidFill>
                <a:srgbClr val="00539E"/>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02</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54" name="矩形 53"/>
          <p:cNvSpPr/>
          <p:nvPr/>
        </p:nvSpPr>
        <p:spPr>
          <a:xfrm>
            <a:off x="4097211" y="3743742"/>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lang="zh-CN" altLang="en-US" sz="5400" b="1" dirty="0">
                <a:gradFill>
                  <a:gsLst>
                    <a:gs pos="0">
                      <a:srgbClr val="4472C4">
                        <a:lumMod val="50000"/>
                      </a:srgbClr>
                    </a:gs>
                    <a:gs pos="100000">
                      <a:srgbClr val="0070C0"/>
                    </a:gs>
                  </a:gsLst>
                  <a:lin ang="0" scaled="1"/>
                </a:gradFill>
                <a:latin typeface="微软雅黑" panose="020B0503020204020204" pitchFamily="34" charset="-122"/>
                <a:ea typeface="微软雅黑" panose="020B0503020204020204" pitchFamily="34" charset="-122"/>
              </a:rPr>
              <a:t>            技术原理</a:t>
            </a:r>
            <a:endPar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endParaRPr>
          </a:p>
        </p:txBody>
      </p:sp>
      <p:cxnSp>
        <p:nvCxnSpPr>
          <p:cNvPr id="56" name="直接箭头连接符 55"/>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807655" y="4714359"/>
            <a:ext cx="2547813" cy="400110"/>
          </a:xfrm>
          <a:prstGeom prst="rect">
            <a:avLst/>
          </a:prstGeom>
        </p:spPr>
        <p:txBody>
          <a:bodyPr wrap="none">
            <a:spAutoFit/>
          </a:bodyPr>
          <a:lstStyle/>
          <a:p>
            <a:pPr marL="179705" indent="-179705">
              <a:spcBef>
                <a:spcPct val="20000"/>
              </a:spcBef>
              <a:buFont typeface="Arial" panose="020B0604020202020204" pitchFamily="34" charset="0"/>
              <a:buChar char="•"/>
            </a:pPr>
            <a:r>
              <a:rPr lang="en-US" altLang="zh-CN" sz="2000" i="1" kern="0" dirty="0" err="1">
                <a:solidFill>
                  <a:prstClr val="black">
                    <a:lumMod val="95000"/>
                    <a:lumOff val="5000"/>
                  </a:prstClr>
                </a:solidFill>
                <a:latin typeface="微软雅黑" panose="020B0503020204020204" pitchFamily="34" charset="-122"/>
                <a:ea typeface="微软雅黑" panose="020B0503020204020204" pitchFamily="34" charset="-122"/>
              </a:rPr>
              <a:t>LoRA</a:t>
            </a: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及其改进方法</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7" name="矩形 6"/>
          <p:cNvSpPr/>
          <p:nvPr/>
        </p:nvSpPr>
        <p:spPr>
          <a:xfrm>
            <a:off x="9264243" y="4714359"/>
            <a:ext cx="904735" cy="400110"/>
          </a:xfrm>
          <a:prstGeom prst="rect">
            <a:avLst/>
          </a:prstGeom>
        </p:spPr>
        <p:txBody>
          <a:bodyPr wrap="none">
            <a:spAutoFit/>
          </a:bodyPr>
          <a:lstStyle/>
          <a:p>
            <a:pPr marL="179705" indent="-179705">
              <a:spcBef>
                <a:spcPct val="20000"/>
              </a:spcBef>
              <a:buFont typeface="Arial" panose="020B0604020202020204" pitchFamily="34" charset="0"/>
              <a:buChar char="•"/>
            </a:pPr>
            <a:r>
              <a:rPr lang="en-US" altLang="zh-CN" sz="2000" i="1" kern="0" dirty="0">
                <a:solidFill>
                  <a:prstClr val="black">
                    <a:lumMod val="95000"/>
                    <a:lumOff val="5000"/>
                  </a:prstClr>
                </a:solidFill>
                <a:latin typeface="微软雅黑" panose="020B0503020204020204" pitchFamily="34" charset="-122"/>
                <a:ea typeface="微软雅黑" panose="020B0503020204020204" pitchFamily="34" charset="-122"/>
              </a:rPr>
              <a:t>RAG</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259996" y="1416666"/>
            <a:ext cx="3384851" cy="5060333"/>
            <a:chOff x="4539205" y="1967696"/>
            <a:chExt cx="3113589" cy="4654798"/>
          </a:xfrm>
        </p:grpSpPr>
        <p:sp>
          <p:nvSpPr>
            <p:cNvPr id="3" name="矩形: 圆角 2"/>
            <p:cNvSpPr/>
            <p:nvPr/>
          </p:nvSpPr>
          <p:spPr>
            <a:xfrm>
              <a:off x="4539205" y="2459620"/>
              <a:ext cx="3113589" cy="4162874"/>
            </a:xfrm>
            <a:prstGeom prst="roundRect">
              <a:avLst>
                <a:gd name="adj" fmla="val 4399"/>
              </a:avLst>
            </a:prstGeom>
            <a:noFill/>
            <a:ln w="25400">
              <a:solidFill>
                <a:srgbClr val="039A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5604076" y="1967696"/>
              <a:ext cx="983848" cy="983848"/>
            </a:xfrm>
            <a:prstGeom prst="ellipse">
              <a:avLst/>
            </a:prstGeom>
            <a:solidFill>
              <a:srgbClr val="039ACF"/>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694482" y="1416666"/>
            <a:ext cx="3384851" cy="5060334"/>
            <a:chOff x="4539205" y="1967696"/>
            <a:chExt cx="3113589" cy="4654799"/>
          </a:xfrm>
        </p:grpSpPr>
        <p:sp>
          <p:nvSpPr>
            <p:cNvPr id="6" name="矩形: 圆角 5"/>
            <p:cNvSpPr/>
            <p:nvPr/>
          </p:nvSpPr>
          <p:spPr>
            <a:xfrm>
              <a:off x="4539205" y="2459620"/>
              <a:ext cx="3113589" cy="4162875"/>
            </a:xfrm>
            <a:prstGeom prst="roundRect">
              <a:avLst>
                <a:gd name="adj" fmla="val 4399"/>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p:cNvSpPr/>
            <p:nvPr/>
          </p:nvSpPr>
          <p:spPr>
            <a:xfrm>
              <a:off x="5604076" y="1967696"/>
              <a:ext cx="983848" cy="983848"/>
            </a:xfrm>
            <a:prstGeom prst="ellipse">
              <a:avLst/>
            </a:prstGeom>
            <a:solidFill>
              <a:srgbClr val="00539E"/>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8" name="组合 7"/>
          <p:cNvGrpSpPr/>
          <p:nvPr/>
        </p:nvGrpSpPr>
        <p:grpSpPr>
          <a:xfrm>
            <a:off x="7825511" y="1416666"/>
            <a:ext cx="3384851" cy="5060331"/>
            <a:chOff x="4539205" y="1967696"/>
            <a:chExt cx="3113589" cy="4654796"/>
          </a:xfrm>
        </p:grpSpPr>
        <p:sp>
          <p:nvSpPr>
            <p:cNvPr id="9" name="矩形: 圆角 8"/>
            <p:cNvSpPr/>
            <p:nvPr/>
          </p:nvSpPr>
          <p:spPr>
            <a:xfrm>
              <a:off x="4539205" y="2459619"/>
              <a:ext cx="3113589" cy="4162873"/>
            </a:xfrm>
            <a:prstGeom prst="roundRect">
              <a:avLst>
                <a:gd name="adj" fmla="val 4399"/>
              </a:avLst>
            </a:prstGeom>
            <a:noFill/>
            <a:ln w="25400">
              <a:solidFill>
                <a:srgbClr val="89DFF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0" name="椭圆 9"/>
            <p:cNvSpPr/>
            <p:nvPr/>
          </p:nvSpPr>
          <p:spPr>
            <a:xfrm>
              <a:off x="5604076" y="1967696"/>
              <a:ext cx="983848" cy="983848"/>
            </a:xfrm>
            <a:prstGeom prst="ellipse">
              <a:avLst/>
            </a:prstGeom>
            <a:solidFill>
              <a:srgbClr val="89DFFD"/>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graphs_386197"/>
            <p:cNvSpPr>
              <a:spLocks noChangeAspect="1"/>
            </p:cNvSpPr>
            <p:nvPr/>
          </p:nvSpPr>
          <p:spPr bwMode="auto">
            <a:xfrm>
              <a:off x="5918335" y="2214359"/>
              <a:ext cx="355326" cy="490519"/>
            </a:xfrm>
            <a:custGeom>
              <a:avLst/>
              <a:gdLst>
                <a:gd name="connsiteX0" fmla="*/ 216981 w 433624"/>
                <a:gd name="connsiteY0" fmla="*/ 357580 h 598607"/>
                <a:gd name="connsiteX1" fmla="*/ 188967 w 433624"/>
                <a:gd name="connsiteY1" fmla="*/ 414341 h 598607"/>
                <a:gd name="connsiteX2" fmla="*/ 126349 w 433624"/>
                <a:gd name="connsiteY2" fmla="*/ 423389 h 598607"/>
                <a:gd name="connsiteX3" fmla="*/ 171665 w 433624"/>
                <a:gd name="connsiteY3" fmla="*/ 467537 h 598607"/>
                <a:gd name="connsiteX4" fmla="*/ 160954 w 433624"/>
                <a:gd name="connsiteY4" fmla="*/ 529781 h 598607"/>
                <a:gd name="connsiteX5" fmla="*/ 216981 w 433624"/>
                <a:gd name="connsiteY5" fmla="*/ 500441 h 598607"/>
                <a:gd name="connsiteX6" fmla="*/ 272733 w 433624"/>
                <a:gd name="connsiteY6" fmla="*/ 529781 h 598607"/>
                <a:gd name="connsiteX7" fmla="*/ 262022 w 433624"/>
                <a:gd name="connsiteY7" fmla="*/ 467537 h 598607"/>
                <a:gd name="connsiteX8" fmla="*/ 307338 w 433624"/>
                <a:gd name="connsiteY8" fmla="*/ 423389 h 598607"/>
                <a:gd name="connsiteX9" fmla="*/ 244720 w 433624"/>
                <a:gd name="connsiteY9" fmla="*/ 414341 h 598607"/>
                <a:gd name="connsiteX10" fmla="*/ 216706 w 433624"/>
                <a:gd name="connsiteY10" fmla="*/ 288754 h 598607"/>
                <a:gd name="connsiteX11" fmla="*/ 371879 w 433624"/>
                <a:gd name="connsiteY11" fmla="*/ 443681 h 598607"/>
                <a:gd name="connsiteX12" fmla="*/ 216706 w 433624"/>
                <a:gd name="connsiteY12" fmla="*/ 598607 h 598607"/>
                <a:gd name="connsiteX13" fmla="*/ 61533 w 433624"/>
                <a:gd name="connsiteY13" fmla="*/ 443681 h 598607"/>
                <a:gd name="connsiteX14" fmla="*/ 216706 w 433624"/>
                <a:gd name="connsiteY14" fmla="*/ 288754 h 598607"/>
                <a:gd name="connsiteX15" fmla="*/ 0 w 433624"/>
                <a:gd name="connsiteY15" fmla="*/ 0 h 598607"/>
                <a:gd name="connsiteX16" fmla="*/ 142527 w 433624"/>
                <a:gd name="connsiteY16" fmla="*/ 0 h 598607"/>
                <a:gd name="connsiteX17" fmla="*/ 216675 w 433624"/>
                <a:gd name="connsiteY17" fmla="*/ 98719 h 598607"/>
                <a:gd name="connsiteX18" fmla="*/ 291097 w 433624"/>
                <a:gd name="connsiteY18" fmla="*/ 0 h 598607"/>
                <a:gd name="connsiteX19" fmla="*/ 433624 w 433624"/>
                <a:gd name="connsiteY19" fmla="*/ 0 h 598607"/>
                <a:gd name="connsiteX20" fmla="*/ 216675 w 433624"/>
                <a:gd name="connsiteY20" fmla="*/ 288754 h 59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3624" h="598607">
                  <a:moveTo>
                    <a:pt x="216981" y="357580"/>
                  </a:moveTo>
                  <a:lnTo>
                    <a:pt x="188967" y="414341"/>
                  </a:lnTo>
                  <a:lnTo>
                    <a:pt x="126349" y="423389"/>
                  </a:lnTo>
                  <a:lnTo>
                    <a:pt x="171665" y="467537"/>
                  </a:lnTo>
                  <a:lnTo>
                    <a:pt x="160954" y="529781"/>
                  </a:lnTo>
                  <a:lnTo>
                    <a:pt x="216981" y="500441"/>
                  </a:lnTo>
                  <a:lnTo>
                    <a:pt x="272733" y="529781"/>
                  </a:lnTo>
                  <a:lnTo>
                    <a:pt x="262022" y="467537"/>
                  </a:lnTo>
                  <a:lnTo>
                    <a:pt x="307338" y="423389"/>
                  </a:lnTo>
                  <a:lnTo>
                    <a:pt x="244720" y="414341"/>
                  </a:lnTo>
                  <a:close/>
                  <a:moveTo>
                    <a:pt x="216706" y="288754"/>
                  </a:moveTo>
                  <a:cubicBezTo>
                    <a:pt x="302669" y="288754"/>
                    <a:pt x="371879" y="358128"/>
                    <a:pt x="371879" y="443681"/>
                  </a:cubicBezTo>
                  <a:cubicBezTo>
                    <a:pt x="371879" y="529233"/>
                    <a:pt x="302394" y="598607"/>
                    <a:pt x="216706" y="598607"/>
                  </a:cubicBezTo>
                  <a:cubicBezTo>
                    <a:pt x="131018" y="598607"/>
                    <a:pt x="61533" y="529233"/>
                    <a:pt x="61533" y="443681"/>
                  </a:cubicBezTo>
                  <a:cubicBezTo>
                    <a:pt x="61533" y="358128"/>
                    <a:pt x="131018" y="288754"/>
                    <a:pt x="216706" y="288754"/>
                  </a:cubicBezTo>
                  <a:close/>
                  <a:moveTo>
                    <a:pt x="0" y="0"/>
                  </a:moveTo>
                  <a:lnTo>
                    <a:pt x="142527" y="0"/>
                  </a:lnTo>
                  <a:lnTo>
                    <a:pt x="216675" y="98719"/>
                  </a:lnTo>
                  <a:lnTo>
                    <a:pt x="291097" y="0"/>
                  </a:lnTo>
                  <a:lnTo>
                    <a:pt x="433624" y="0"/>
                  </a:lnTo>
                  <a:lnTo>
                    <a:pt x="216675" y="288754"/>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2" name="graphs_386197"/>
          <p:cNvSpPr>
            <a:spLocks noChangeAspect="1"/>
          </p:cNvSpPr>
          <p:nvPr/>
        </p:nvSpPr>
        <p:spPr bwMode="auto">
          <a:xfrm>
            <a:off x="2133282" y="1684819"/>
            <a:ext cx="487545" cy="533254"/>
          </a:xfrm>
          <a:custGeom>
            <a:avLst/>
            <a:gdLst>
              <a:gd name="connsiteX0" fmla="*/ 217930 w 554715"/>
              <a:gd name="connsiteY0" fmla="*/ 316557 h 606722"/>
              <a:gd name="connsiteX1" fmla="*/ 336784 w 554715"/>
              <a:gd name="connsiteY1" fmla="*/ 316557 h 606722"/>
              <a:gd name="connsiteX2" fmla="*/ 356638 w 554715"/>
              <a:gd name="connsiteY2" fmla="*/ 336287 h 606722"/>
              <a:gd name="connsiteX3" fmla="*/ 356638 w 554715"/>
              <a:gd name="connsiteY3" fmla="*/ 586904 h 606722"/>
              <a:gd name="connsiteX4" fmla="*/ 336784 w 554715"/>
              <a:gd name="connsiteY4" fmla="*/ 606722 h 606722"/>
              <a:gd name="connsiteX5" fmla="*/ 217930 w 554715"/>
              <a:gd name="connsiteY5" fmla="*/ 606722 h 606722"/>
              <a:gd name="connsiteX6" fmla="*/ 198077 w 554715"/>
              <a:gd name="connsiteY6" fmla="*/ 586904 h 606722"/>
              <a:gd name="connsiteX7" fmla="*/ 198077 w 554715"/>
              <a:gd name="connsiteY7" fmla="*/ 336287 h 606722"/>
              <a:gd name="connsiteX8" fmla="*/ 217930 w 554715"/>
              <a:gd name="connsiteY8" fmla="*/ 316557 h 606722"/>
              <a:gd name="connsiteX9" fmla="*/ 416070 w 554715"/>
              <a:gd name="connsiteY9" fmla="*/ 158278 h 606722"/>
              <a:gd name="connsiteX10" fmla="*/ 534871 w 554715"/>
              <a:gd name="connsiteY10" fmla="*/ 158278 h 606722"/>
              <a:gd name="connsiteX11" fmla="*/ 554715 w 554715"/>
              <a:gd name="connsiteY11" fmla="*/ 178008 h 606722"/>
              <a:gd name="connsiteX12" fmla="*/ 554715 w 554715"/>
              <a:gd name="connsiteY12" fmla="*/ 586904 h 606722"/>
              <a:gd name="connsiteX13" fmla="*/ 534871 w 554715"/>
              <a:gd name="connsiteY13" fmla="*/ 606722 h 606722"/>
              <a:gd name="connsiteX14" fmla="*/ 416070 w 554715"/>
              <a:gd name="connsiteY14" fmla="*/ 606722 h 606722"/>
              <a:gd name="connsiteX15" fmla="*/ 396225 w 554715"/>
              <a:gd name="connsiteY15" fmla="*/ 586904 h 606722"/>
              <a:gd name="connsiteX16" fmla="*/ 396225 w 554715"/>
              <a:gd name="connsiteY16" fmla="*/ 178008 h 606722"/>
              <a:gd name="connsiteX17" fmla="*/ 416070 w 554715"/>
              <a:gd name="connsiteY17" fmla="*/ 158278 h 606722"/>
              <a:gd name="connsiteX18" fmla="*/ 19755 w 554715"/>
              <a:gd name="connsiteY18" fmla="*/ 0 h 606722"/>
              <a:gd name="connsiteX19" fmla="*/ 138645 w 554715"/>
              <a:gd name="connsiteY19" fmla="*/ 0 h 606722"/>
              <a:gd name="connsiteX20" fmla="*/ 158490 w 554715"/>
              <a:gd name="connsiteY20" fmla="*/ 19818 h 606722"/>
              <a:gd name="connsiteX21" fmla="*/ 158490 w 554715"/>
              <a:gd name="connsiteY21" fmla="*/ 586904 h 606722"/>
              <a:gd name="connsiteX22" fmla="*/ 138645 w 554715"/>
              <a:gd name="connsiteY22" fmla="*/ 606722 h 606722"/>
              <a:gd name="connsiteX23" fmla="*/ 19755 w 554715"/>
              <a:gd name="connsiteY23" fmla="*/ 606722 h 606722"/>
              <a:gd name="connsiteX24" fmla="*/ 0 w 554715"/>
              <a:gd name="connsiteY24" fmla="*/ 586904 h 606722"/>
              <a:gd name="connsiteX25" fmla="*/ 0 w 554715"/>
              <a:gd name="connsiteY25" fmla="*/ 19818 h 606722"/>
              <a:gd name="connsiteX26" fmla="*/ 19755 w 554715"/>
              <a:gd name="connsiteY26"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4715" h="606722">
                <a:moveTo>
                  <a:pt x="217930" y="316557"/>
                </a:moveTo>
                <a:lnTo>
                  <a:pt x="336784" y="316557"/>
                </a:lnTo>
                <a:cubicBezTo>
                  <a:pt x="347735" y="316557"/>
                  <a:pt x="356638" y="325356"/>
                  <a:pt x="356638" y="336287"/>
                </a:cubicBezTo>
                <a:lnTo>
                  <a:pt x="356638" y="586904"/>
                </a:lnTo>
                <a:cubicBezTo>
                  <a:pt x="356638" y="597835"/>
                  <a:pt x="347735" y="606722"/>
                  <a:pt x="336784" y="606722"/>
                </a:cubicBezTo>
                <a:lnTo>
                  <a:pt x="217930" y="606722"/>
                </a:lnTo>
                <a:cubicBezTo>
                  <a:pt x="206980" y="606722"/>
                  <a:pt x="198077" y="597835"/>
                  <a:pt x="198077" y="586904"/>
                </a:cubicBezTo>
                <a:lnTo>
                  <a:pt x="198077" y="336287"/>
                </a:lnTo>
                <a:cubicBezTo>
                  <a:pt x="198077" y="325356"/>
                  <a:pt x="206980" y="316557"/>
                  <a:pt x="217930" y="316557"/>
                </a:cubicBezTo>
                <a:close/>
                <a:moveTo>
                  <a:pt x="416070" y="158278"/>
                </a:moveTo>
                <a:lnTo>
                  <a:pt x="534871" y="158278"/>
                </a:lnTo>
                <a:cubicBezTo>
                  <a:pt x="545816" y="158278"/>
                  <a:pt x="554715" y="167165"/>
                  <a:pt x="554715" y="178008"/>
                </a:cubicBezTo>
                <a:lnTo>
                  <a:pt x="554715" y="586904"/>
                </a:lnTo>
                <a:cubicBezTo>
                  <a:pt x="554715" y="597835"/>
                  <a:pt x="545816" y="606722"/>
                  <a:pt x="534871" y="606722"/>
                </a:cubicBezTo>
                <a:lnTo>
                  <a:pt x="416070" y="606722"/>
                </a:lnTo>
                <a:cubicBezTo>
                  <a:pt x="405124" y="606722"/>
                  <a:pt x="396225" y="597835"/>
                  <a:pt x="396225" y="586904"/>
                </a:cubicBezTo>
                <a:lnTo>
                  <a:pt x="396225" y="178008"/>
                </a:lnTo>
                <a:cubicBezTo>
                  <a:pt x="396225" y="167165"/>
                  <a:pt x="405124" y="158278"/>
                  <a:pt x="416070" y="158278"/>
                </a:cubicBezTo>
                <a:close/>
                <a:moveTo>
                  <a:pt x="19755" y="0"/>
                </a:moveTo>
                <a:lnTo>
                  <a:pt x="138645" y="0"/>
                </a:lnTo>
                <a:cubicBezTo>
                  <a:pt x="149591" y="0"/>
                  <a:pt x="158490" y="8887"/>
                  <a:pt x="158490" y="19818"/>
                </a:cubicBezTo>
                <a:lnTo>
                  <a:pt x="158490" y="586904"/>
                </a:lnTo>
                <a:cubicBezTo>
                  <a:pt x="158490" y="597835"/>
                  <a:pt x="149591" y="606722"/>
                  <a:pt x="138645" y="606722"/>
                </a:cubicBezTo>
                <a:lnTo>
                  <a:pt x="19755" y="606722"/>
                </a:lnTo>
                <a:cubicBezTo>
                  <a:pt x="8899" y="606722"/>
                  <a:pt x="0" y="597835"/>
                  <a:pt x="0" y="586904"/>
                </a:cubicBezTo>
                <a:lnTo>
                  <a:pt x="0" y="19818"/>
                </a:lnTo>
                <a:cubicBezTo>
                  <a:pt x="0" y="8887"/>
                  <a:pt x="8899" y="0"/>
                  <a:pt x="19755" y="0"/>
                </a:cubicBezTo>
                <a:close/>
              </a:path>
            </a:pathLst>
          </a:custGeom>
          <a:solidFill>
            <a:schemeClr val="bg1"/>
          </a:solidFill>
          <a:ln>
            <a:noFill/>
          </a:ln>
        </p:spPr>
      </p:sp>
      <p:grpSp>
        <p:nvGrpSpPr>
          <p:cNvPr id="13" name="组合 12"/>
          <p:cNvGrpSpPr/>
          <p:nvPr/>
        </p:nvGrpSpPr>
        <p:grpSpPr>
          <a:xfrm>
            <a:off x="5678942" y="1675530"/>
            <a:ext cx="528037" cy="542543"/>
            <a:chOff x="8910476" y="1067822"/>
            <a:chExt cx="528037" cy="542543"/>
          </a:xfrm>
        </p:grpSpPr>
        <p:sp>
          <p:nvSpPr>
            <p:cNvPr id="14" name="Freeform 5"/>
            <p:cNvSpPr/>
            <p:nvPr/>
          </p:nvSpPr>
          <p:spPr>
            <a:xfrm>
              <a:off x="9170503" y="1316298"/>
              <a:ext cx="268010" cy="294067"/>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40" h="1140">
                  <a:moveTo>
                    <a:pt x="914" y="483"/>
                  </a:moveTo>
                  <a:lnTo>
                    <a:pt x="914" y="483"/>
                  </a:lnTo>
                  <a:cubicBezTo>
                    <a:pt x="583" y="139"/>
                    <a:pt x="583" y="139"/>
                    <a:pt x="583" y="139"/>
                  </a:cubicBezTo>
                  <a:cubicBezTo>
                    <a:pt x="450" y="6"/>
                    <a:pt x="238" y="0"/>
                    <a:pt x="106" y="126"/>
                  </a:cubicBezTo>
                  <a:cubicBezTo>
                    <a:pt x="6" y="225"/>
                    <a:pt x="6" y="225"/>
                    <a:pt x="6" y="225"/>
                  </a:cubicBezTo>
                  <a:cubicBezTo>
                    <a:pt x="6" y="225"/>
                    <a:pt x="6" y="225"/>
                    <a:pt x="0" y="225"/>
                  </a:cubicBezTo>
                  <a:cubicBezTo>
                    <a:pt x="146" y="377"/>
                    <a:pt x="146" y="377"/>
                    <a:pt x="146" y="377"/>
                  </a:cubicBezTo>
                  <a:cubicBezTo>
                    <a:pt x="146" y="377"/>
                    <a:pt x="146" y="377"/>
                    <a:pt x="152" y="377"/>
                  </a:cubicBezTo>
                  <a:cubicBezTo>
                    <a:pt x="252" y="278"/>
                    <a:pt x="252" y="278"/>
                    <a:pt x="252" y="278"/>
                  </a:cubicBezTo>
                  <a:cubicBezTo>
                    <a:pt x="305" y="232"/>
                    <a:pt x="384" y="232"/>
                    <a:pt x="430" y="285"/>
                  </a:cubicBezTo>
                  <a:cubicBezTo>
                    <a:pt x="761" y="629"/>
                    <a:pt x="761" y="629"/>
                    <a:pt x="761" y="629"/>
                  </a:cubicBezTo>
                  <a:cubicBezTo>
                    <a:pt x="808" y="675"/>
                    <a:pt x="808" y="755"/>
                    <a:pt x="761" y="808"/>
                  </a:cubicBezTo>
                  <a:cubicBezTo>
                    <a:pt x="702" y="861"/>
                    <a:pt x="702" y="861"/>
                    <a:pt x="702" y="861"/>
                  </a:cubicBezTo>
                  <a:cubicBezTo>
                    <a:pt x="655" y="907"/>
                    <a:pt x="569" y="907"/>
                    <a:pt x="523" y="854"/>
                  </a:cubicBezTo>
                  <a:cubicBezTo>
                    <a:pt x="377" y="702"/>
                    <a:pt x="377" y="702"/>
                    <a:pt x="377" y="702"/>
                  </a:cubicBezTo>
                  <a:cubicBezTo>
                    <a:pt x="305" y="741"/>
                    <a:pt x="225" y="761"/>
                    <a:pt x="146" y="761"/>
                  </a:cubicBezTo>
                  <a:cubicBezTo>
                    <a:pt x="371" y="1000"/>
                    <a:pt x="371" y="1000"/>
                    <a:pt x="371" y="1000"/>
                  </a:cubicBezTo>
                  <a:cubicBezTo>
                    <a:pt x="503" y="1132"/>
                    <a:pt x="715" y="1139"/>
                    <a:pt x="847" y="1006"/>
                  </a:cubicBezTo>
                  <a:cubicBezTo>
                    <a:pt x="900" y="953"/>
                    <a:pt x="900" y="953"/>
                    <a:pt x="900" y="953"/>
                  </a:cubicBezTo>
                  <a:cubicBezTo>
                    <a:pt x="1033" y="827"/>
                    <a:pt x="1039" y="616"/>
                    <a:pt x="914" y="483"/>
                  </a:cubicBezTo>
                  <a:close/>
                  <a:moveTo>
                    <a:pt x="914" y="483"/>
                  </a:moveTo>
                  <a:lnTo>
                    <a:pt x="914" y="483"/>
                  </a:lnTo>
                  <a:close/>
                </a:path>
              </a:pathLst>
            </a:custGeom>
            <a:solidFill>
              <a:schemeClr val="bg1"/>
            </a:solidFill>
            <a:ln w="9525">
              <a:noFill/>
            </a:ln>
          </p:spPr>
          <p:txBody>
            <a:bodyPr/>
            <a:lstStyle/>
            <a:p>
              <a:endParaRPr lang="zh-CN" altLang="en-US" sz="900"/>
            </a:p>
          </p:txBody>
        </p:sp>
        <p:sp>
          <p:nvSpPr>
            <p:cNvPr id="15" name="Freeform 6"/>
            <p:cNvSpPr/>
            <p:nvPr/>
          </p:nvSpPr>
          <p:spPr>
            <a:xfrm>
              <a:off x="8910476" y="1067822"/>
              <a:ext cx="290820" cy="272411"/>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127" h="1060">
                  <a:moveTo>
                    <a:pt x="278" y="337"/>
                  </a:moveTo>
                  <a:lnTo>
                    <a:pt x="278" y="337"/>
                  </a:lnTo>
                  <a:cubicBezTo>
                    <a:pt x="338" y="278"/>
                    <a:pt x="338" y="278"/>
                    <a:pt x="338" y="278"/>
                  </a:cubicBezTo>
                  <a:cubicBezTo>
                    <a:pt x="384" y="231"/>
                    <a:pt x="470" y="231"/>
                    <a:pt x="517" y="284"/>
                  </a:cubicBezTo>
                  <a:cubicBezTo>
                    <a:pt x="848" y="629"/>
                    <a:pt x="848" y="629"/>
                    <a:pt x="848" y="629"/>
                  </a:cubicBezTo>
                  <a:cubicBezTo>
                    <a:pt x="894" y="682"/>
                    <a:pt x="894" y="761"/>
                    <a:pt x="848" y="807"/>
                  </a:cubicBezTo>
                  <a:cubicBezTo>
                    <a:pt x="742" y="907"/>
                    <a:pt x="742" y="907"/>
                    <a:pt x="742" y="907"/>
                  </a:cubicBezTo>
                  <a:cubicBezTo>
                    <a:pt x="888" y="1059"/>
                    <a:pt x="888" y="1059"/>
                    <a:pt x="888" y="1059"/>
                  </a:cubicBezTo>
                  <a:cubicBezTo>
                    <a:pt x="888" y="1059"/>
                    <a:pt x="888" y="1059"/>
                    <a:pt x="888" y="1053"/>
                  </a:cubicBezTo>
                  <a:cubicBezTo>
                    <a:pt x="987" y="960"/>
                    <a:pt x="987" y="960"/>
                    <a:pt x="987" y="960"/>
                  </a:cubicBezTo>
                  <a:cubicBezTo>
                    <a:pt x="1119" y="827"/>
                    <a:pt x="1126" y="615"/>
                    <a:pt x="1000" y="483"/>
                  </a:cubicBezTo>
                  <a:cubicBezTo>
                    <a:pt x="669" y="139"/>
                    <a:pt x="669" y="139"/>
                    <a:pt x="669" y="139"/>
                  </a:cubicBezTo>
                  <a:cubicBezTo>
                    <a:pt x="537" y="6"/>
                    <a:pt x="325" y="0"/>
                    <a:pt x="192" y="132"/>
                  </a:cubicBezTo>
                  <a:cubicBezTo>
                    <a:pt x="139" y="185"/>
                    <a:pt x="139" y="185"/>
                    <a:pt x="139" y="185"/>
                  </a:cubicBezTo>
                  <a:cubicBezTo>
                    <a:pt x="7" y="311"/>
                    <a:pt x="0" y="523"/>
                    <a:pt x="126" y="655"/>
                  </a:cubicBezTo>
                  <a:cubicBezTo>
                    <a:pt x="358" y="900"/>
                    <a:pt x="358" y="900"/>
                    <a:pt x="358" y="900"/>
                  </a:cubicBezTo>
                  <a:cubicBezTo>
                    <a:pt x="358" y="814"/>
                    <a:pt x="384" y="735"/>
                    <a:pt x="424" y="668"/>
                  </a:cubicBezTo>
                  <a:cubicBezTo>
                    <a:pt x="278" y="516"/>
                    <a:pt x="278" y="516"/>
                    <a:pt x="278" y="516"/>
                  </a:cubicBezTo>
                  <a:cubicBezTo>
                    <a:pt x="232" y="463"/>
                    <a:pt x="232" y="384"/>
                    <a:pt x="278" y="337"/>
                  </a:cubicBezTo>
                  <a:close/>
                  <a:moveTo>
                    <a:pt x="278" y="337"/>
                  </a:moveTo>
                  <a:lnTo>
                    <a:pt x="278" y="337"/>
                  </a:lnTo>
                  <a:close/>
                </a:path>
              </a:pathLst>
            </a:custGeom>
            <a:solidFill>
              <a:schemeClr val="bg1"/>
            </a:solidFill>
            <a:ln w="9525">
              <a:noFill/>
            </a:ln>
          </p:spPr>
          <p:txBody>
            <a:bodyPr/>
            <a:lstStyle/>
            <a:p>
              <a:endParaRPr lang="zh-CN" altLang="en-US" sz="900"/>
            </a:p>
          </p:txBody>
        </p:sp>
        <p:sp>
          <p:nvSpPr>
            <p:cNvPr id="16" name="Freeform 7"/>
            <p:cNvSpPr/>
            <p:nvPr/>
          </p:nvSpPr>
          <p:spPr>
            <a:xfrm>
              <a:off x="9019961" y="1217136"/>
              <a:ext cx="268010" cy="275831"/>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41" h="1073">
                  <a:moveTo>
                    <a:pt x="1040" y="841"/>
                  </a:moveTo>
                  <a:lnTo>
                    <a:pt x="1040" y="841"/>
                  </a:lnTo>
                  <a:cubicBezTo>
                    <a:pt x="894" y="695"/>
                    <a:pt x="894" y="695"/>
                    <a:pt x="894" y="695"/>
                  </a:cubicBezTo>
                  <a:cubicBezTo>
                    <a:pt x="788" y="794"/>
                    <a:pt x="788" y="794"/>
                    <a:pt x="788" y="794"/>
                  </a:cubicBezTo>
                  <a:cubicBezTo>
                    <a:pt x="742" y="841"/>
                    <a:pt x="662" y="841"/>
                    <a:pt x="609" y="788"/>
                  </a:cubicBezTo>
                  <a:cubicBezTo>
                    <a:pt x="278" y="443"/>
                    <a:pt x="278" y="443"/>
                    <a:pt x="278" y="443"/>
                  </a:cubicBezTo>
                  <a:cubicBezTo>
                    <a:pt x="232" y="397"/>
                    <a:pt x="232" y="318"/>
                    <a:pt x="285" y="265"/>
                  </a:cubicBezTo>
                  <a:cubicBezTo>
                    <a:pt x="404" y="152"/>
                    <a:pt x="404" y="152"/>
                    <a:pt x="404" y="152"/>
                  </a:cubicBezTo>
                  <a:cubicBezTo>
                    <a:pt x="258" y="0"/>
                    <a:pt x="258" y="0"/>
                    <a:pt x="258" y="0"/>
                  </a:cubicBezTo>
                  <a:cubicBezTo>
                    <a:pt x="139" y="119"/>
                    <a:pt x="139" y="119"/>
                    <a:pt x="139" y="119"/>
                  </a:cubicBezTo>
                  <a:cubicBezTo>
                    <a:pt x="7" y="245"/>
                    <a:pt x="0" y="457"/>
                    <a:pt x="126" y="589"/>
                  </a:cubicBezTo>
                  <a:cubicBezTo>
                    <a:pt x="464" y="933"/>
                    <a:pt x="464" y="933"/>
                    <a:pt x="464" y="933"/>
                  </a:cubicBezTo>
                  <a:cubicBezTo>
                    <a:pt x="589" y="1066"/>
                    <a:pt x="801" y="1072"/>
                    <a:pt x="934" y="947"/>
                  </a:cubicBezTo>
                  <a:lnTo>
                    <a:pt x="1040" y="841"/>
                  </a:lnTo>
                  <a:close/>
                  <a:moveTo>
                    <a:pt x="1040" y="841"/>
                  </a:moveTo>
                  <a:lnTo>
                    <a:pt x="1040" y="841"/>
                  </a:lnTo>
                  <a:close/>
                </a:path>
              </a:pathLst>
            </a:custGeom>
            <a:solidFill>
              <a:schemeClr val="bg1"/>
            </a:solidFill>
            <a:ln w="9525">
              <a:noFill/>
            </a:ln>
          </p:spPr>
          <p:txBody>
            <a:bodyPr/>
            <a:lstStyle/>
            <a:p>
              <a:endParaRPr lang="zh-CN" altLang="en-US" sz="900"/>
            </a:p>
          </p:txBody>
        </p:sp>
      </p:grpSp>
      <p:grpSp>
        <p:nvGrpSpPr>
          <p:cNvPr id="17" name="组合 16"/>
          <p:cNvGrpSpPr/>
          <p:nvPr/>
        </p:nvGrpSpPr>
        <p:grpSpPr>
          <a:xfrm>
            <a:off x="1052865" y="2635456"/>
            <a:ext cx="2749471" cy="3266435"/>
            <a:chOff x="1030092" y="2801429"/>
            <a:chExt cx="2749471" cy="3266435"/>
          </a:xfrm>
        </p:grpSpPr>
        <p:sp>
          <p:nvSpPr>
            <p:cNvPr id="18" name="矩形 17"/>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理论基础</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p:sp>
          <p:nvSpPr>
            <p:cNvPr id="19" name="矩形 18"/>
            <p:cNvSpPr/>
            <p:nvPr/>
          </p:nvSpPr>
          <p:spPr>
            <a:xfrm>
              <a:off x="1172547" y="3429000"/>
              <a:ext cx="2607016" cy="2638864"/>
            </a:xfrm>
            <a:prstGeom prst="rect">
              <a:avLst/>
            </a:prstGeom>
          </p:spPr>
          <p:txBody>
            <a:bodyPr wrap="square">
              <a:spAutoFit/>
            </a:bodyPr>
            <a:lstStyle/>
            <a:p>
              <a:pPr algn="just">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在适应特定任务时，</a:t>
              </a:r>
              <a:r>
                <a:rPr lang="en-US" altLang="zh-CN" sz="1600" dirty="0" err="1">
                  <a:solidFill>
                    <a:srgbClr val="000000"/>
                  </a:solidFill>
                  <a:latin typeface="微软雅黑" panose="020B0503020204020204" pitchFamily="34" charset="-122"/>
                  <a:ea typeface="微软雅黑" panose="020B0503020204020204" pitchFamily="34" charset="-122"/>
                  <a:cs typeface="+mn-ea"/>
                  <a:sym typeface="+mn-ea"/>
                </a:rPr>
                <a:t>Aghajanyan</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等人（</a:t>
              </a:r>
              <a:r>
                <a:rPr lang="en-US" altLang="zh-CN" sz="1600" dirty="0">
                  <a:solidFill>
                    <a:srgbClr val="000000"/>
                  </a:solidFill>
                  <a:latin typeface="微软雅黑" panose="020B0503020204020204" pitchFamily="34" charset="-122"/>
                  <a:ea typeface="微软雅黑" panose="020B0503020204020204" pitchFamily="34" charset="-122"/>
                  <a:cs typeface="+mn-ea"/>
                  <a:sym typeface="+mn-ea"/>
                </a:rPr>
                <a:t>2020</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年）表明，预训练的语言模型具有较低的“内在维度”，并且即使在随机投影到更小的子空间时，仍然可以高效地学习。</a:t>
              </a:r>
              <a:endParaRPr lang="zh-CN" altLang="en-US" sz="1600" dirty="0"/>
            </a:p>
          </p:txBody>
        </p:sp>
        <p:cxnSp>
          <p:nvCxnSpPr>
            <p:cNvPr id="20" name="直接连接符 19"/>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4518075" y="2635456"/>
            <a:ext cx="2749471" cy="3673666"/>
            <a:chOff x="1030092" y="2801429"/>
            <a:chExt cx="2749471" cy="3673666"/>
          </a:xfrm>
        </p:grpSpPr>
        <p:sp>
          <p:nvSpPr>
            <p:cNvPr id="22" name="矩形 21"/>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主要内容</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p:sp>
          <p:nvSpPr>
            <p:cNvPr id="23" name="矩形 22"/>
            <p:cNvSpPr/>
            <p:nvPr/>
          </p:nvSpPr>
          <p:spPr>
            <a:xfrm>
              <a:off x="1172547" y="3429000"/>
              <a:ext cx="2607016" cy="3046095"/>
            </a:xfrm>
            <a:prstGeom prst="rect">
              <a:avLst/>
            </a:prstGeom>
          </p:spPr>
          <p:txBody>
            <a:bodyPr wrap="square">
              <a:spAutoFit/>
            </a:bodyPr>
            <a:lstStyle/>
            <a:p>
              <a:pPr algn="just">
                <a:lnSpc>
                  <a:spcPct val="150000"/>
                </a:lnSpc>
              </a:pPr>
              <a:r>
                <a:rPr lang="en-US" altLang="zh-CN" sz="1600" dirty="0">
                  <a:solidFill>
                    <a:srgbClr val="000000"/>
                  </a:solidFill>
                  <a:latin typeface="微软雅黑" panose="020B0503020204020204" pitchFamily="34" charset="-122"/>
                  <a:ea typeface="微软雅黑" panose="020B0503020204020204" pitchFamily="34" charset="-122"/>
                  <a:cs typeface="+mn-ea"/>
                  <a:sym typeface="+mn-ea"/>
                </a:rPr>
                <a:t> </a:t>
              </a:r>
              <a:r>
                <a:rPr lang="en-US" altLang="zh-CN" sz="1600" dirty="0" err="1">
                  <a:solidFill>
                    <a:srgbClr val="000000"/>
                  </a:solidFill>
                  <a:latin typeface="微软雅黑" panose="020B0503020204020204" pitchFamily="34" charset="-122"/>
                  <a:ea typeface="微软雅黑" panose="020B0503020204020204" pitchFamily="34" charset="-122"/>
                  <a:cs typeface="+mn-ea"/>
                  <a:sym typeface="+mn-ea"/>
                </a:rPr>
                <a:t>LoRA</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技术将</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权重增加矩阵（即进行原矩阵参数调整的</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矩阵）分解为两个低</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秩的矩阵的乘积。</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在特定任务上的训练中，</a:t>
              </a:r>
              <a:r>
                <a:rPr lang="zh-CN" altLang="en-US" sz="1600" dirty="0">
                  <a:latin typeface="微软雅黑" panose="020B0503020204020204" pitchFamily="34" charset="-122"/>
                  <a:ea typeface="微软雅黑" panose="020B0503020204020204" pitchFamily="34" charset="-122"/>
                  <a:cs typeface="+mn-ea"/>
                  <a:sym typeface="+mn-ea"/>
                </a:rPr>
                <a:t>冻结了预训练的模型权重，</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并向每个模型</a:t>
              </a:r>
              <a:r>
                <a:rPr lang="zh-CN" altLang="en-US" sz="1600" dirty="0">
                  <a:latin typeface="微软雅黑" panose="020B0503020204020204" pitchFamily="34" charset="-122"/>
                  <a:ea typeface="微软雅黑" panose="020B0503020204020204" pitchFamily="34" charset="-122"/>
                  <a:cs typeface="+mn-ea"/>
                  <a:sym typeface="+mn-ea"/>
                </a:rPr>
                <a:t>注入可训练的秩分解矩阵层</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a:t>
              </a:r>
              <a:endParaRPr lang="zh-CN" altLang="en-US" sz="1600" dirty="0"/>
            </a:p>
          </p:txBody>
        </p:sp>
        <p:cxnSp>
          <p:nvCxnSpPr>
            <p:cNvPr id="24" name="直接连接符 23"/>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8197387" y="2635456"/>
            <a:ext cx="2749471" cy="4245801"/>
            <a:chOff x="1030092" y="2801429"/>
            <a:chExt cx="2749471" cy="4245801"/>
          </a:xfrm>
        </p:grpSpPr>
        <p:sp>
          <p:nvSpPr>
            <p:cNvPr id="26" name="矩形 25"/>
            <p:cNvSpPr/>
            <p:nvPr/>
          </p:nvSpPr>
          <p:spPr>
            <a:xfrm>
              <a:off x="1030092" y="2801429"/>
              <a:ext cx="2749471" cy="461665"/>
            </a:xfrm>
            <a:prstGeom prst="rect">
              <a:avLst/>
            </a:prstGeom>
          </p:spPr>
          <p:txBody>
            <a:bodyPr wrap="square">
              <a:spAutoFit/>
            </a:bodyPr>
            <a:lstStyle/>
            <a:p>
              <a:pPr marL="0" lvl="2" algn="ctr">
                <a:defRPr/>
              </a:pPr>
              <a:r>
                <a:rPr lang="zh-CN" altLang="en-US" sz="2400" b="1" kern="0" dirty="0">
                  <a:solidFill>
                    <a:schemeClr val="tx1">
                      <a:lumMod val="95000"/>
                      <a:lumOff val="5000"/>
                    </a:schemeClr>
                  </a:solidFill>
                  <a:latin typeface="Arial" panose="020B0604020202020204"/>
                  <a:ea typeface="微软雅黑" panose="020B0503020204020204" pitchFamily="34" charset="-122"/>
                </a:rPr>
                <a:t>优势所在</a:t>
              </a:r>
              <a:endParaRPr lang="en-US" altLang="zh-CN" sz="2400" b="1" kern="0" dirty="0">
                <a:solidFill>
                  <a:schemeClr val="tx1">
                    <a:lumMod val="95000"/>
                    <a:lumOff val="5000"/>
                  </a:schemeClr>
                </a:solidFill>
                <a:latin typeface="Arial" panose="020B0604020202020204"/>
                <a:ea typeface="微软雅黑" panose="020B0503020204020204" pitchFamily="34" charset="-122"/>
              </a:endParaRPr>
            </a:p>
          </p:txBody>
        </p:sp>
        <mc:AlternateContent xmlns:mc="http://schemas.openxmlformats.org/markup-compatibility/2006">
          <mc:Choice xmlns:a14="http://schemas.microsoft.com/office/drawing/2010/main" Requires="a14">
            <p:sp>
              <p:nvSpPr>
                <p:cNvPr id="27" name="矩形 26"/>
                <p:cNvSpPr/>
                <p:nvPr/>
              </p:nvSpPr>
              <p:spPr>
                <a:xfrm>
                  <a:off x="1171912" y="3262630"/>
                  <a:ext cx="2607016" cy="3784600"/>
                </a:xfrm>
                <a:prstGeom prst="rect">
                  <a:avLst/>
                </a:prstGeom>
              </p:spPr>
              <p:txBody>
                <a:bodyPr wrap="square">
                  <a:spAutoFit/>
                </a:bodyPr>
                <a:lstStyle/>
                <a:p>
                  <a:pPr algn="just">
                    <a:lnSpc>
                      <a:spcPct val="150000"/>
                    </a:lnSpc>
                  </a:pP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减少调整参数</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a:t>
                  </a:r>
                  <a:r>
                    <a:rPr lang="en-US" altLang="zh-CN" sz="1600" dirty="0" err="1">
                      <a:solidFill>
                        <a:srgbClr val="000000"/>
                      </a:solidFill>
                      <a:latin typeface="微软雅黑" panose="020B0503020204020204" pitchFamily="34" charset="-122"/>
                      <a:ea typeface="微软雅黑" panose="020B0503020204020204" pitchFamily="34" charset="-122"/>
                      <a:cs typeface="+mn-ea"/>
                      <a:sym typeface="+mn-ea"/>
                    </a:rPr>
                    <a:t>LoRA</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通过减少内存来优化模型的部署效率。</a:t>
                  </a:r>
                  <a:endParaRPr lang="zh-CN" altLang="en-US"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b="1" dirty="0">
                      <a:solidFill>
                        <a:schemeClr val="accent1">
                          <a:lumMod val="75000"/>
                        </a:schemeClr>
                      </a:solidFill>
                      <a:latin typeface="微软雅黑" panose="020B0503020204020204" pitchFamily="34" charset="-122"/>
                      <a:ea typeface="微软雅黑" panose="020B0503020204020204" pitchFamily="34" charset="-122"/>
                      <a:cs typeface="+mn-ea"/>
                      <a:sym typeface="+mn-ea"/>
                    </a:rPr>
                    <a:t>节省运算资源：</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可以显式计算并存储</a:t>
                  </a:r>
                  <a14:m>
                    <m:oMath xmlns:m="http://schemas.openxmlformats.org/officeDocument/2006/math">
                      <m:r>
                        <m:rPr>
                          <m:sty m:val="p"/>
                        </m:rPr>
                        <a:rPr lang="en-US" altLang="zh-CN" sz="1600" b="0" i="0" smtClean="0">
                          <a:solidFill>
                            <a:srgbClr val="000000"/>
                          </a:solidFill>
                          <a:latin typeface="Cambria Math" panose="02040503050406030204" pitchFamily="18" charset="0"/>
                          <a:ea typeface="微软雅黑" panose="020B0503020204020204" pitchFamily="34" charset="-122"/>
                          <a:cs typeface="+mn-ea"/>
                          <a:sym typeface="+mn-ea"/>
                        </a:rPr>
                        <m:t>W</m:t>
                      </m:r>
                      <m:r>
                        <a:rPr lang="en-US" altLang="zh-CN" sz="1600" b="0" i="0" smtClean="0">
                          <a:solidFill>
                            <a:srgbClr val="000000"/>
                          </a:solidFill>
                          <a:latin typeface="Cambria Math" panose="02040503050406030204" pitchFamily="18" charset="0"/>
                          <a:ea typeface="微软雅黑" panose="020B0503020204020204" pitchFamily="34" charset="-122"/>
                          <a:cs typeface="+mn-ea"/>
                          <a:sym typeface="+mn-ea"/>
                        </a:rPr>
                        <m:t>=</m:t>
                      </m:r>
                      <m:sSub>
                        <m:sSubPr>
                          <m:ctrlPr>
                            <a:rPr lang="en-US" altLang="zh-CN" sz="1600" i="1" smtClean="0">
                              <a:solidFill>
                                <a:srgbClr val="000000"/>
                              </a:solidFill>
                              <a:latin typeface="Cambria Math" panose="02040503050406030204" pitchFamily="18" charset="0"/>
                              <a:ea typeface="微软雅黑" panose="020B0503020204020204" pitchFamily="34" charset="-122"/>
                              <a:cs typeface="+mn-ea"/>
                              <a:sym typeface="+mn-ea"/>
                            </a:rPr>
                          </m:ctrlPr>
                        </m:sSubPr>
                        <m:e>
                          <m:r>
                            <a:rPr lang="en-US" altLang="zh-CN" sz="1600" b="0" i="1" smtClean="0">
                              <a:solidFill>
                                <a:srgbClr val="000000"/>
                              </a:solidFill>
                              <a:latin typeface="Cambria Math" panose="02040503050406030204" pitchFamily="18" charset="0"/>
                              <a:ea typeface="微软雅黑" panose="020B0503020204020204" pitchFamily="34" charset="-122"/>
                              <a:cs typeface="+mn-ea"/>
                              <a:sym typeface="+mn-ea"/>
                            </a:rPr>
                            <m:t>𝑊</m:t>
                          </m:r>
                        </m:e>
                        <m:sub>
                          <m:r>
                            <a:rPr lang="en-US" altLang="zh-CN" sz="1600" b="0" i="1" smtClean="0">
                              <a:solidFill>
                                <a:srgbClr val="000000"/>
                              </a:solidFill>
                              <a:latin typeface="Cambria Math" panose="02040503050406030204" pitchFamily="18" charset="0"/>
                              <a:ea typeface="微软雅黑" panose="020B0503020204020204" pitchFamily="34" charset="-122"/>
                              <a:cs typeface="+mn-ea"/>
                              <a:sym typeface="+mn-ea"/>
                            </a:rPr>
                            <m:t>0</m:t>
                          </m:r>
                        </m:sub>
                      </m:sSub>
                      <m:r>
                        <a:rPr lang="en-US" altLang="zh-CN" sz="1600" b="0" i="1" smtClean="0">
                          <a:solidFill>
                            <a:srgbClr val="000000"/>
                          </a:solidFill>
                          <a:latin typeface="Cambria Math" panose="02040503050406030204" pitchFamily="18" charset="0"/>
                          <a:ea typeface="微软雅黑" panose="020B0503020204020204" pitchFamily="34" charset="-122"/>
                          <a:cs typeface="+mn-ea"/>
                          <a:sym typeface="+mn-ea"/>
                        </a:rPr>
                        <m:t>+</m:t>
                      </m:r>
                      <m:r>
                        <a:rPr lang="en-US" altLang="zh-CN" sz="1600" b="0" i="1" smtClean="0">
                          <a:solidFill>
                            <a:srgbClr val="000000"/>
                          </a:solidFill>
                          <a:latin typeface="Cambria Math" panose="02040503050406030204" pitchFamily="18" charset="0"/>
                          <a:ea typeface="微软雅黑" panose="020B0503020204020204" pitchFamily="34" charset="-122"/>
                          <a:cs typeface="+mn-ea"/>
                          <a:sym typeface="+mn-ea"/>
                        </a:rPr>
                        <m:t>𝐴𝐵</m:t>
                      </m:r>
                    </m:oMath>
                  </a14:m>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。几乎不增加内存开销。</a:t>
                  </a:r>
                  <a:endParaRPr lang="en-US" altLang="zh-CN"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加快</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训练、推理</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速率：</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保证了在推理期间不会引入任何额外的延迟。</a:t>
                  </a:r>
                  <a:endParaRPr lang="zh-CN" altLang="en-US"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endParaRPr lang="zh-CN" altLang="en-US" sz="1600" dirty="0"/>
                </a:p>
              </p:txBody>
            </p:sp>
          </mc:Choice>
          <mc:Fallback>
            <p:sp>
              <p:nvSpPr>
                <p:cNvPr id="27" name="矩形 26"/>
                <p:cNvSpPr>
                  <a:spLocks noRot="1" noChangeAspect="1" noMove="1" noResize="1" noEditPoints="1" noAdjustHandles="1" noChangeArrowheads="1" noChangeShapeType="1" noTextEdit="1"/>
                </p:cNvSpPr>
                <p:nvPr/>
              </p:nvSpPr>
              <p:spPr>
                <a:xfrm>
                  <a:off x="1171912" y="3262630"/>
                  <a:ext cx="2607016" cy="3784600"/>
                </a:xfrm>
                <a:prstGeom prst="rect">
                  <a:avLst/>
                </a:prstGeom>
                <a:blipFill rotWithShape="1">
                  <a:blip r:embed="rId1"/>
                </a:blipFill>
              </p:spPr>
              <p:txBody>
                <a:bodyPr/>
                <a:lstStyle/>
                <a:p>
                  <a:r>
                    <a:rPr lang="zh-CN" altLang="en-US">
                      <a:noFill/>
                    </a:rPr>
                    <a:t> </a:t>
                  </a:r>
                </a:p>
              </p:txBody>
            </p:sp>
          </mc:Fallback>
        </mc:AlternateContent>
        <p:cxnSp>
          <p:nvCxnSpPr>
            <p:cNvPr id="28" name="直接连接符 27"/>
            <p:cNvCxnSpPr/>
            <p:nvPr/>
          </p:nvCxnSpPr>
          <p:spPr>
            <a:xfrm>
              <a:off x="2188827" y="3376152"/>
              <a:ext cx="43200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9" name="矩形 28"/>
          <p:cNvSpPr/>
          <p:nvPr/>
        </p:nvSpPr>
        <p:spPr>
          <a:xfrm>
            <a:off x="1152000" y="288000"/>
            <a:ext cx="1410964"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en-US" altLang="zh-CN" sz="3600" b="1" kern="0" dirty="0" err="1">
                <a:solidFill>
                  <a:prstClr val="black">
                    <a:lumMod val="95000"/>
                    <a:lumOff val="5000"/>
                  </a:prstClr>
                </a:solidFill>
                <a:latin typeface="微软雅黑" panose="020B0503020204020204" pitchFamily="34" charset="-122"/>
                <a:ea typeface="微软雅黑" panose="020B0503020204020204" pitchFamily="34" charset="-122"/>
              </a:rPr>
              <a:t>LoRA</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30" name="文本框 29"/>
              <p:cNvSpPr txBox="1"/>
              <p:nvPr/>
            </p:nvSpPr>
            <p:spPr>
              <a:xfrm>
                <a:off x="2802835" y="426499"/>
                <a:ext cx="163814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zh-CN">
                          <a:solidFill>
                            <a:srgbClr val="000000"/>
                          </a:solidFill>
                          <a:latin typeface="Cambria Math" panose="02040503050406030204" pitchFamily="18" charset="0"/>
                          <a:ea typeface="微软雅黑" panose="020B0503020204020204" pitchFamily="34" charset="-122"/>
                          <a:cs typeface="+mn-ea"/>
                          <a:sym typeface="+mn-ea"/>
                        </a:rPr>
                        <m:t>W</m:t>
                      </m:r>
                      <m:r>
                        <a:rPr lang="en-US" altLang="zh-CN">
                          <a:solidFill>
                            <a:srgbClr val="000000"/>
                          </a:solidFill>
                          <a:latin typeface="Cambria Math" panose="02040503050406030204" pitchFamily="18" charset="0"/>
                          <a:ea typeface="微软雅黑" panose="020B0503020204020204" pitchFamily="34" charset="-122"/>
                          <a:cs typeface="+mn-ea"/>
                          <a:sym typeface="+mn-ea"/>
                        </a:rPr>
                        <m:t>=</m:t>
                      </m:r>
                      <m:sSub>
                        <m:sSubPr>
                          <m:ctrlPr>
                            <a:rPr lang="en-US" altLang="zh-CN" i="1">
                              <a:solidFill>
                                <a:srgbClr val="000000"/>
                              </a:solidFill>
                              <a:latin typeface="Cambria Math" panose="02040503050406030204" pitchFamily="18" charset="0"/>
                              <a:ea typeface="微软雅黑" panose="020B0503020204020204" pitchFamily="34" charset="-122"/>
                              <a:cs typeface="+mn-ea"/>
                              <a:sym typeface="+mn-ea"/>
                            </a:rPr>
                          </m:ctrlPr>
                        </m:sSubPr>
                        <m:e>
                          <m:r>
                            <a:rPr lang="en-US" altLang="zh-CN" i="1">
                              <a:solidFill>
                                <a:srgbClr val="000000"/>
                              </a:solidFill>
                              <a:latin typeface="Cambria Math" panose="02040503050406030204" pitchFamily="18" charset="0"/>
                              <a:ea typeface="微软雅黑" panose="020B0503020204020204" pitchFamily="34" charset="-122"/>
                              <a:cs typeface="+mn-ea"/>
                              <a:sym typeface="+mn-ea"/>
                            </a:rPr>
                            <m:t>𝑊</m:t>
                          </m:r>
                        </m:e>
                        <m:sub>
                          <m:r>
                            <a:rPr lang="en-US" altLang="zh-CN" i="1">
                              <a:solidFill>
                                <a:srgbClr val="000000"/>
                              </a:solidFill>
                              <a:latin typeface="Cambria Math" panose="02040503050406030204" pitchFamily="18" charset="0"/>
                              <a:ea typeface="微软雅黑" panose="020B0503020204020204" pitchFamily="34" charset="-122"/>
                              <a:cs typeface="+mn-ea"/>
                              <a:sym typeface="+mn-ea"/>
                            </a:rPr>
                            <m:t>0</m:t>
                          </m:r>
                        </m:sub>
                      </m:sSub>
                      <m:r>
                        <a:rPr lang="en-US" altLang="zh-CN" i="1">
                          <a:solidFill>
                            <a:srgbClr val="000000"/>
                          </a:solidFill>
                          <a:latin typeface="Cambria Math" panose="02040503050406030204" pitchFamily="18" charset="0"/>
                          <a:ea typeface="微软雅黑" panose="020B0503020204020204" pitchFamily="34" charset="-122"/>
                          <a:cs typeface="+mn-ea"/>
                          <a:sym typeface="+mn-ea"/>
                        </a:rPr>
                        <m:t>+</m:t>
                      </m:r>
                      <m:r>
                        <a:rPr lang="en-US" altLang="zh-CN" i="1">
                          <a:solidFill>
                            <a:srgbClr val="000000"/>
                          </a:solidFill>
                          <a:latin typeface="Cambria Math" panose="02040503050406030204" pitchFamily="18" charset="0"/>
                          <a:ea typeface="微软雅黑" panose="020B0503020204020204" pitchFamily="34" charset="-122"/>
                          <a:cs typeface="+mn-ea"/>
                          <a:sym typeface="+mn-ea"/>
                        </a:rPr>
                        <m:t>𝐴𝐵</m:t>
                      </m:r>
                    </m:oMath>
                  </m:oMathPara>
                </a14:m>
                <a:endParaRPr lang="zh-CN" altLang="en-US" dirty="0"/>
              </a:p>
            </p:txBody>
          </p:sp>
        </mc:Choice>
        <mc:Fallback>
          <p:sp>
            <p:nvSpPr>
              <p:cNvPr id="30" name="文本框 29"/>
              <p:cNvSpPr txBox="1">
                <a:spLocks noRot="1" noChangeAspect="1" noMove="1" noResize="1" noEditPoints="1" noAdjustHandles="1" noChangeArrowheads="1" noChangeShapeType="1" noTextEdit="1"/>
              </p:cNvSpPr>
              <p:nvPr/>
            </p:nvSpPr>
            <p:spPr>
              <a:xfrm>
                <a:off x="2802835" y="426499"/>
                <a:ext cx="1638141" cy="369332"/>
              </a:xfrm>
              <a:prstGeom prst="rect">
                <a:avLst/>
              </a:prstGeom>
              <a:blipFill rotWithShape="1">
                <a:blip r:embed="rId2"/>
                <a:stretch>
                  <a:fillRect l="-35" t="-112" r="26" b="4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152000" y="288000"/>
            <a:ext cx="1410964"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en-US" altLang="zh-CN" sz="3600" b="1" kern="0" dirty="0" err="1">
                <a:solidFill>
                  <a:prstClr val="black">
                    <a:lumMod val="95000"/>
                    <a:lumOff val="5000"/>
                  </a:prstClr>
                </a:solidFill>
                <a:latin typeface="微软雅黑" panose="020B0503020204020204" pitchFamily="34" charset="-122"/>
                <a:ea typeface="微软雅黑" panose="020B0503020204020204" pitchFamily="34" charset="-122"/>
              </a:rPr>
              <a:t>LoRA</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31" name="图片 30"/>
          <p:cNvPicPr/>
          <p:nvPr/>
        </p:nvPicPr>
        <p:blipFill>
          <a:blip r:embed="rId1">
            <a:alphaModFix amt="97000"/>
          </a:blip>
          <a:stretch>
            <a:fillRect/>
          </a:stretch>
        </p:blipFill>
        <p:spPr>
          <a:xfrm>
            <a:off x="517200" y="1451113"/>
            <a:ext cx="4091528" cy="3331004"/>
          </a:xfrm>
          <a:prstGeom prst="rect">
            <a:avLst/>
          </a:prstGeom>
        </p:spPr>
      </p:pic>
      <p:grpSp>
        <p:nvGrpSpPr>
          <p:cNvPr id="15" name="组合 14"/>
          <p:cNvGrpSpPr/>
          <p:nvPr/>
        </p:nvGrpSpPr>
        <p:grpSpPr>
          <a:xfrm>
            <a:off x="5429293" y="498131"/>
            <a:ext cx="5609579" cy="2155831"/>
            <a:chOff x="5429293" y="815639"/>
            <a:chExt cx="5609579" cy="2155831"/>
          </a:xfrm>
        </p:grpSpPr>
        <p:sp>
          <p:nvSpPr>
            <p:cNvPr id="2" name="文本框 1"/>
            <p:cNvSpPr txBox="1"/>
            <p:nvPr/>
          </p:nvSpPr>
          <p:spPr>
            <a:xfrm>
              <a:off x="5429293" y="815639"/>
              <a:ext cx="4770858" cy="646331"/>
            </a:xfrm>
            <a:prstGeom prst="rect">
              <a:avLst/>
            </a:prstGeom>
            <a:noFill/>
          </p:spPr>
          <p:txBody>
            <a:bodyPr wrap="none" rtlCol="0">
              <a:spAutoFit/>
            </a:bodyPr>
            <a:lstStyle/>
            <a:p>
              <a:r>
                <a:rPr lang="zh-CN" altLang="en-US" b="0" i="0" dirty="0">
                  <a:solidFill>
                    <a:srgbClr val="191B1F"/>
                  </a:solidFill>
                  <a:effectLst/>
                  <a:latin typeface="微软雅黑" panose="020B0503020204020204" pitchFamily="34" charset="-122"/>
                  <a:ea typeface="微软雅黑" panose="020B0503020204020204" pitchFamily="34" charset="-122"/>
                </a:rPr>
                <a:t>由</a:t>
              </a:r>
              <a:r>
                <a:rPr lang="en-US" altLang="zh-CN" b="0" i="0" dirty="0">
                  <a:solidFill>
                    <a:srgbClr val="191B1F"/>
                  </a:solidFill>
                  <a:effectLst/>
                  <a:latin typeface="微软雅黑" panose="020B0503020204020204" pitchFamily="34" charset="-122"/>
                  <a:ea typeface="微软雅黑" panose="020B0503020204020204" pitchFamily="34" charset="-122"/>
                </a:rPr>
                <a:t>Φ</a:t>
              </a:r>
              <a:r>
                <a:rPr lang="zh-CN" altLang="en-US" b="0" i="0" dirty="0">
                  <a:solidFill>
                    <a:srgbClr val="191B1F"/>
                  </a:solidFill>
                  <a:effectLst/>
                  <a:latin typeface="微软雅黑" panose="020B0503020204020204" pitchFamily="34" charset="-122"/>
                  <a:ea typeface="微软雅黑" panose="020B0503020204020204" pitchFamily="34" charset="-122"/>
                </a:rPr>
                <a:t>参数化的预训练自回归语言模型 𝑃</a:t>
              </a:r>
              <a:r>
                <a:rPr lang="en-US" altLang="zh-CN" b="0" i="0" dirty="0">
                  <a:solidFill>
                    <a:srgbClr val="191B1F"/>
                  </a:solidFill>
                  <a:effectLst/>
                  <a:latin typeface="微软雅黑" panose="020B0503020204020204" pitchFamily="34" charset="-122"/>
                  <a:ea typeface="微软雅黑" panose="020B0503020204020204" pitchFamily="34" charset="-122"/>
                </a:rPr>
                <a:t>Φ(</a:t>
              </a:r>
              <a:r>
                <a:rPr lang="zh-CN" altLang="en-US" b="0" i="0" dirty="0">
                  <a:solidFill>
                    <a:srgbClr val="191B1F"/>
                  </a:solidFill>
                  <a:effectLst/>
                  <a:latin typeface="微软雅黑" panose="020B0503020204020204" pitchFamily="34" charset="-122"/>
                  <a:ea typeface="微软雅黑" panose="020B0503020204020204" pitchFamily="34" charset="-122"/>
                </a:rPr>
                <a:t>𝑦∣𝑥</a:t>
              </a:r>
              <a:r>
                <a:rPr lang="en-US" altLang="zh-CN" b="0" i="0" dirty="0">
                  <a:solidFill>
                    <a:srgbClr val="191B1F"/>
                  </a:solidFill>
                  <a:effectLst/>
                  <a:latin typeface="微软雅黑" panose="020B0503020204020204" pitchFamily="34" charset="-122"/>
                  <a:ea typeface="微软雅黑" panose="020B0503020204020204" pitchFamily="34" charset="-122"/>
                </a:rPr>
                <a:t>)</a:t>
              </a: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6704965" y="1318796"/>
              <a:ext cx="3552851" cy="695330"/>
            </a:xfrm>
            <a:prstGeom prst="rect">
              <a:avLst/>
            </a:prstGeom>
          </p:spPr>
        </p:pic>
        <p:pic>
          <p:nvPicPr>
            <p:cNvPr id="7" name="图片 6"/>
            <p:cNvPicPr>
              <a:picLocks noChangeAspect="1"/>
            </p:cNvPicPr>
            <p:nvPr/>
          </p:nvPicPr>
          <p:blipFill>
            <a:blip r:embed="rId3"/>
            <a:stretch>
              <a:fillRect/>
            </a:stretch>
          </p:blipFill>
          <p:spPr>
            <a:xfrm>
              <a:off x="6704965" y="2257090"/>
              <a:ext cx="4333907" cy="714380"/>
            </a:xfrm>
            <a:prstGeom prst="rect">
              <a:avLst/>
            </a:prstGeom>
          </p:spPr>
        </p:pic>
        <p:sp>
          <p:nvSpPr>
            <p:cNvPr id="8" name="文本框 7"/>
            <p:cNvSpPr txBox="1"/>
            <p:nvPr/>
          </p:nvSpPr>
          <p:spPr>
            <a:xfrm>
              <a:off x="5429293" y="1542181"/>
              <a:ext cx="110318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全参微调</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93" y="2451057"/>
              <a:ext cx="1225015" cy="369332"/>
            </a:xfrm>
            <a:prstGeom prst="rect">
              <a:avLst/>
            </a:prstGeom>
            <a:noFill/>
          </p:spPr>
          <p:txBody>
            <a:bodyPr wrap="none" rtlCol="0">
              <a:spAutoFit/>
            </a:bodyPr>
            <a:lstStyle/>
            <a:p>
              <a:r>
                <a:rPr lang="en-US" altLang="zh-CN" dirty="0" err="1">
                  <a:latin typeface="微软雅黑" panose="020B0503020204020204" pitchFamily="34" charset="-122"/>
                  <a:ea typeface="微软雅黑" panose="020B0503020204020204" pitchFamily="34" charset="-122"/>
                </a:rPr>
                <a:t>LoRA</a:t>
              </a:r>
              <a:r>
                <a:rPr lang="zh-CN" altLang="en-US" dirty="0">
                  <a:latin typeface="微软雅黑" panose="020B0503020204020204" pitchFamily="34" charset="-122"/>
                  <a:ea typeface="微软雅黑" panose="020B0503020204020204" pitchFamily="34" charset="-122"/>
                </a:rPr>
                <a:t>微调</a:t>
              </a:r>
              <a:endParaRPr lang="zh-CN" altLang="en-US" dirty="0">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16" name="文本框 15"/>
              <p:cNvSpPr txBox="1"/>
              <p:nvPr/>
            </p:nvSpPr>
            <p:spPr>
              <a:xfrm>
                <a:off x="5433390" y="4710224"/>
                <a:ext cx="6096000" cy="1391343"/>
              </a:xfrm>
              <a:prstGeom prst="rect">
                <a:avLst/>
              </a:prstGeom>
              <a:noFill/>
            </p:spPr>
            <p:txBody>
              <a:bodyPr wrap="square">
                <a:spAutoFit/>
              </a:bodyPr>
              <a:lstStyle/>
              <a:p>
                <a:pPr>
                  <a:lnSpc>
                    <a:spcPct val="150000"/>
                  </a:lnSpc>
                </a:pPr>
                <a:r>
                  <a:rPr lang="zh-CN" altLang="en-US" b="0" i="0" dirty="0">
                    <a:solidFill>
                      <a:srgbClr val="191B1F"/>
                    </a:solidFill>
                    <a:effectLst/>
                    <a:latin typeface="微软雅黑" panose="020B0503020204020204" pitchFamily="34" charset="-122"/>
                    <a:ea typeface="微软雅黑" panose="020B0503020204020204" pitchFamily="34" charset="-122"/>
                  </a:rPr>
                  <a:t>其中， </a:t>
                </a:r>
                <a14:m>
                  <m:oMath xmlns:m="http://schemas.openxmlformats.org/officeDocument/2006/math">
                    <m:sSub>
                      <m:sSubPr>
                        <m:ctrlPr>
                          <a:rPr lang="en-US" altLang="zh-CN" b="0" i="1" dirty="0" smtClean="0">
                            <a:solidFill>
                              <a:srgbClr val="191B1F"/>
                            </a:solidFill>
                            <a:effectLst/>
                            <a:latin typeface="Cambria Math" panose="02040503050406030204" pitchFamily="18" charset="0"/>
                          </a:rPr>
                        </m:ctrlPr>
                      </m:sSubPr>
                      <m:e>
                        <m:r>
                          <a:rPr lang="en-US" altLang="zh-CN" b="0" i="1" dirty="0" smtClean="0">
                            <a:solidFill>
                              <a:srgbClr val="191B1F"/>
                            </a:solidFill>
                            <a:effectLst/>
                            <a:latin typeface="Cambria Math" panose="02040503050406030204" pitchFamily="18" charset="0"/>
                          </a:rPr>
                          <m:t>𝑊</m:t>
                        </m:r>
                      </m:e>
                      <m:sub>
                        <m:r>
                          <a:rPr lang="en-US" altLang="zh-CN" b="0" i="1" dirty="0" smtClean="0">
                            <a:solidFill>
                              <a:srgbClr val="191B1F"/>
                            </a:solidFill>
                            <a:effectLst/>
                            <a:latin typeface="Cambria Math" panose="02040503050406030204" pitchFamily="18" charset="0"/>
                          </a:rPr>
                          <m:t>0</m:t>
                        </m:r>
                      </m:sub>
                    </m:sSub>
                  </m:oMath>
                </a14:m>
                <a:r>
                  <a:rPr lang="en-US" altLang="zh-CN" b="0" i="0" dirty="0">
                    <a:solidFill>
                      <a:srgbClr val="191B1F"/>
                    </a:solidFill>
                    <a:effectLst/>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b="0" i="1" dirty="0" smtClean="0">
                            <a:solidFill>
                              <a:srgbClr val="191B1F"/>
                            </a:solidFill>
                            <a:effectLst/>
                            <a:latin typeface="Cambria Math" panose="02040503050406030204" pitchFamily="18" charset="0"/>
                          </a:rPr>
                        </m:ctrlPr>
                      </m:sSupPr>
                      <m:e>
                        <m:r>
                          <a:rPr lang="en-US" altLang="zh-CN" b="0" i="1" dirty="0" smtClean="0">
                            <a:solidFill>
                              <a:srgbClr val="191B1F"/>
                            </a:solidFill>
                            <a:effectLst/>
                            <a:latin typeface="Cambria Math" panose="02040503050406030204" pitchFamily="18" charset="0"/>
                          </a:rPr>
                          <m:t>𝑅</m:t>
                        </m:r>
                      </m:e>
                      <m:sup>
                        <m:r>
                          <a:rPr lang="zh-CN" altLang="en-US" i="1" dirty="0">
                            <a:solidFill>
                              <a:srgbClr val="191B1F"/>
                            </a:solidFill>
                            <a:latin typeface="Cambria Math" panose="02040503050406030204" pitchFamily="18" charset="0"/>
                          </a:rPr>
                          <m:t>𝑑</m:t>
                        </m:r>
                        <m:r>
                          <a:rPr lang="en-US" altLang="zh-CN" i="1" dirty="0">
                            <a:solidFill>
                              <a:srgbClr val="191B1F"/>
                            </a:solidFill>
                            <a:latin typeface="Cambria Math" panose="02040503050406030204" pitchFamily="18" charset="0"/>
                          </a:rPr>
                          <m:t>×</m:t>
                        </m:r>
                        <m:r>
                          <a:rPr lang="zh-CN" altLang="en-US" i="1" dirty="0">
                            <a:solidFill>
                              <a:srgbClr val="191B1F"/>
                            </a:solidFill>
                            <a:latin typeface="Cambria Math" panose="02040503050406030204" pitchFamily="18" charset="0"/>
                          </a:rPr>
                          <m:t>𝑘</m:t>
                        </m:r>
                      </m:sup>
                    </m:sSup>
                  </m:oMath>
                </a14:m>
                <a:r>
                  <a:rPr lang="en-US" altLang="zh-CN" b="0" i="0" dirty="0">
                    <a:solidFill>
                      <a:srgbClr val="191B1F"/>
                    </a:solidFill>
                    <a:effectLst/>
                    <a:latin typeface="微软雅黑" panose="020B0503020204020204" pitchFamily="34" charset="-122"/>
                    <a:ea typeface="微软雅黑" panose="020B0503020204020204" pitchFamily="34" charset="-122"/>
                  </a:rPr>
                  <a:t>,</a:t>
                </a:r>
                <a:r>
                  <a:rPr lang="en-US" altLang="zh-CN" dirty="0">
                    <a:solidFill>
                      <a:srgbClr val="191B1F"/>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b="0" i="1" dirty="0" smtClean="0">
                        <a:solidFill>
                          <a:srgbClr val="191B1F"/>
                        </a:solidFill>
                        <a:latin typeface="Cambria Math" panose="02040503050406030204" pitchFamily="18" charset="0"/>
                      </a:rPr>
                      <m:t>𝐵</m:t>
                    </m:r>
                  </m:oMath>
                </a14:m>
                <a:r>
                  <a:rPr lang="en-US" altLang="zh-CN" dirty="0">
                    <a:solidFill>
                      <a:srgbClr val="191B1F"/>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dirty="0">
                            <a:solidFill>
                              <a:srgbClr val="191B1F"/>
                            </a:solidFill>
                            <a:latin typeface="Cambria Math" panose="02040503050406030204" pitchFamily="18" charset="0"/>
                          </a:rPr>
                        </m:ctrlPr>
                      </m:sSupPr>
                      <m:e>
                        <m:r>
                          <a:rPr lang="en-US" altLang="zh-CN" i="1" dirty="0">
                            <a:solidFill>
                              <a:srgbClr val="191B1F"/>
                            </a:solidFill>
                            <a:latin typeface="Cambria Math" panose="02040503050406030204" pitchFamily="18" charset="0"/>
                          </a:rPr>
                          <m:t>𝑅</m:t>
                        </m:r>
                      </m:e>
                      <m:sup>
                        <m:r>
                          <a:rPr lang="zh-CN" altLang="en-US" i="1" dirty="0">
                            <a:solidFill>
                              <a:srgbClr val="191B1F"/>
                            </a:solidFill>
                            <a:latin typeface="Cambria Math" panose="02040503050406030204" pitchFamily="18" charset="0"/>
                          </a:rPr>
                          <m:t>𝑑</m:t>
                        </m:r>
                        <m:r>
                          <a:rPr lang="en-US" altLang="zh-CN" i="1" dirty="0">
                            <a:solidFill>
                              <a:srgbClr val="191B1F"/>
                            </a:solidFill>
                            <a:latin typeface="Cambria Math" panose="02040503050406030204" pitchFamily="18" charset="0"/>
                          </a:rPr>
                          <m:t>×</m:t>
                        </m:r>
                        <m:r>
                          <m:rPr>
                            <m:sty m:val="p"/>
                          </m:rPr>
                          <a:rPr lang="en-US" altLang="zh-CN" i="1" dirty="0">
                            <a:solidFill>
                              <a:srgbClr val="191B1F"/>
                            </a:solidFill>
                            <a:latin typeface="Cambria Math" panose="02040503050406030204" pitchFamily="18" charset="0"/>
                          </a:rPr>
                          <m:t>r</m:t>
                        </m:r>
                      </m:sup>
                    </m:sSup>
                  </m:oMath>
                </a14:m>
                <a:r>
                  <a:rPr lang="en-US" altLang="zh-CN" b="0" i="0" dirty="0">
                    <a:solidFill>
                      <a:srgbClr val="191B1F"/>
                    </a:solidFill>
                    <a:effectLst/>
                    <a:latin typeface="微软雅黑" panose="020B0503020204020204" pitchFamily="34" charset="-122"/>
                    <a:ea typeface="微软雅黑" panose="020B0503020204020204" pitchFamily="34" charset="-122"/>
                  </a:rPr>
                  <a:t>,</a:t>
                </a:r>
                <a:r>
                  <a:rPr lang="en-US" altLang="zh-CN" dirty="0">
                    <a:solidFill>
                      <a:srgbClr val="191B1F"/>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b="0" i="1" dirty="0" smtClean="0">
                        <a:solidFill>
                          <a:srgbClr val="191B1F"/>
                        </a:solidFill>
                        <a:latin typeface="Cambria Math" panose="02040503050406030204" pitchFamily="18" charset="0"/>
                      </a:rPr>
                      <m:t>𝐴</m:t>
                    </m:r>
                  </m:oMath>
                </a14:m>
                <a:r>
                  <a:rPr lang="en-US" altLang="zh-CN" dirty="0">
                    <a:solidFill>
                      <a:srgbClr val="191B1F"/>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dirty="0">
                            <a:solidFill>
                              <a:srgbClr val="191B1F"/>
                            </a:solidFill>
                            <a:latin typeface="Cambria Math" panose="02040503050406030204" pitchFamily="18" charset="0"/>
                            <a:ea typeface="微软雅黑" panose="020B0503020204020204" pitchFamily="34" charset="-122"/>
                          </a:rPr>
                        </m:ctrlPr>
                      </m:sSupPr>
                      <m:e>
                        <m:r>
                          <a:rPr lang="en-US" altLang="zh-CN" dirty="0">
                            <a:solidFill>
                              <a:srgbClr val="191B1F"/>
                            </a:solidFill>
                            <a:latin typeface="Cambria Math" panose="02040503050406030204" pitchFamily="18" charset="0"/>
                            <a:ea typeface="微软雅黑" panose="020B0503020204020204" pitchFamily="34" charset="-122"/>
                          </a:rPr>
                          <m:t>𝑅</m:t>
                        </m:r>
                      </m:e>
                      <m:sup>
                        <m:r>
                          <m:rPr>
                            <m:sty m:val="p"/>
                          </m:rPr>
                          <a:rPr lang="en-US" altLang="zh-CN" dirty="0">
                            <a:solidFill>
                              <a:srgbClr val="191B1F"/>
                            </a:solidFill>
                            <a:latin typeface="Cambria Math" panose="02040503050406030204" pitchFamily="18" charset="0"/>
                            <a:ea typeface="微软雅黑" panose="020B0503020204020204" pitchFamily="34" charset="-122"/>
                          </a:rPr>
                          <m:t>r</m:t>
                        </m:r>
                        <m:r>
                          <a:rPr lang="en-US" altLang="zh-CN" dirty="0">
                            <a:solidFill>
                              <a:srgbClr val="191B1F"/>
                            </a:solidFill>
                            <a:latin typeface="Cambria Math" panose="02040503050406030204" pitchFamily="18" charset="0"/>
                            <a:ea typeface="微软雅黑" panose="020B0503020204020204" pitchFamily="34" charset="-122"/>
                          </a:rPr>
                          <m:t>×</m:t>
                        </m:r>
                        <m:r>
                          <a:rPr lang="zh-CN" altLang="en-US" dirty="0">
                            <a:solidFill>
                              <a:srgbClr val="191B1F"/>
                            </a:solidFill>
                            <a:latin typeface="Cambria Math" panose="02040503050406030204" pitchFamily="18" charset="0"/>
                            <a:ea typeface="微软雅黑" panose="020B0503020204020204" pitchFamily="34" charset="-122"/>
                          </a:rPr>
                          <m:t>𝑘</m:t>
                        </m:r>
                      </m:sup>
                    </m:sSup>
                    <m:r>
                      <a:rPr lang="en-US" altLang="zh-CN" dirty="0">
                        <a:solidFill>
                          <a:srgbClr val="191B1F"/>
                        </a:solidFill>
                        <a:latin typeface="Cambria Math" panose="02040503050406030204" pitchFamily="18" charset="0"/>
                        <a:ea typeface="微软雅黑" panose="020B0503020204020204" pitchFamily="34" charset="-122"/>
                      </a:rPr>
                      <m:t>,</m:t>
                    </m:r>
                    <m:r>
                      <a:rPr lang="zh-CN" altLang="en-US" dirty="0">
                        <a:solidFill>
                          <a:srgbClr val="191B1F"/>
                        </a:solidFill>
                        <a:latin typeface="Cambria Math" panose="02040503050406030204" pitchFamily="18" charset="0"/>
                        <a:ea typeface="微软雅黑" panose="020B0503020204020204" pitchFamily="34" charset="-122"/>
                      </a:rPr>
                      <m:t>且</m:t>
                    </m:r>
                  </m:oMath>
                </a14:m>
                <a:r>
                  <a:rPr lang="zh-CN" altLang="en-US" b="1" dirty="0">
                    <a:solidFill>
                      <a:srgbClr val="00539E"/>
                    </a:solidFill>
                    <a:latin typeface="微软雅黑" panose="020B0503020204020204" pitchFamily="34" charset="-122"/>
                    <a:ea typeface="微软雅黑" panose="020B0503020204020204" pitchFamily="34" charset="-122"/>
                  </a:rPr>
                  <a:t>秩</a:t>
                </a:r>
                <a14:m>
                  <m:oMath xmlns:m="http://schemas.openxmlformats.org/officeDocument/2006/math">
                    <m:r>
                      <a:rPr lang="zh-CN" altLang="en-US" b="1" i="1" dirty="0" smtClean="0">
                        <a:solidFill>
                          <a:srgbClr val="00539E"/>
                        </a:solidFill>
                        <a:latin typeface="Cambria Math" panose="02040503050406030204" pitchFamily="18" charset="0"/>
                      </a:rPr>
                      <m:t> </m:t>
                    </m:r>
                    <m:r>
                      <a:rPr lang="zh-CN" altLang="en-US" b="1" i="1" dirty="0" smtClean="0">
                        <a:solidFill>
                          <a:srgbClr val="00539E"/>
                        </a:solidFill>
                        <a:latin typeface="Cambria Math" panose="02040503050406030204" pitchFamily="18" charset="0"/>
                      </a:rPr>
                      <m:t>𝒓</m:t>
                    </m:r>
                    <m:r>
                      <a:rPr lang="zh-CN" altLang="en-US" b="1" i="1" dirty="0" smtClean="0">
                        <a:solidFill>
                          <a:srgbClr val="00539E"/>
                        </a:solidFill>
                        <a:latin typeface="Cambria Math" panose="02040503050406030204" pitchFamily="18" charset="0"/>
                      </a:rPr>
                      <m:t>≪</m:t>
                    </m:r>
                    <m:r>
                      <a:rPr lang="en-US" altLang="zh-CN" b="1" i="1" dirty="0">
                        <a:solidFill>
                          <a:srgbClr val="00539E"/>
                        </a:solidFill>
                        <a:latin typeface="Cambria Math" panose="02040503050406030204" pitchFamily="18" charset="0"/>
                      </a:rPr>
                      <m:t>𝒎𝒊𝒏</m:t>
                    </m:r>
                    <m:r>
                      <a:rPr lang="en-US" altLang="zh-CN" b="1" i="1" dirty="0">
                        <a:solidFill>
                          <a:srgbClr val="00539E"/>
                        </a:solidFill>
                        <a:latin typeface="Cambria Math" panose="02040503050406030204" pitchFamily="18" charset="0"/>
                      </a:rPr>
                      <m:t>⁡(</m:t>
                    </m:r>
                    <m:r>
                      <a:rPr lang="zh-CN" altLang="en-US" b="1" i="1" dirty="0">
                        <a:solidFill>
                          <a:srgbClr val="00539E"/>
                        </a:solidFill>
                        <a:latin typeface="Cambria Math" panose="02040503050406030204" pitchFamily="18" charset="0"/>
                      </a:rPr>
                      <m:t>𝒅</m:t>
                    </m:r>
                    <m:r>
                      <a:rPr lang="en-US" altLang="zh-CN" b="1" i="1" dirty="0">
                        <a:solidFill>
                          <a:srgbClr val="00539E"/>
                        </a:solidFill>
                        <a:latin typeface="Cambria Math" panose="02040503050406030204" pitchFamily="18" charset="0"/>
                      </a:rPr>
                      <m:t>,</m:t>
                    </m:r>
                    <m:r>
                      <a:rPr lang="zh-CN" altLang="en-US" b="1" i="1" dirty="0">
                        <a:solidFill>
                          <a:srgbClr val="00539E"/>
                        </a:solidFill>
                        <a:latin typeface="Cambria Math" panose="02040503050406030204" pitchFamily="18" charset="0"/>
                      </a:rPr>
                      <m:t>𝒌</m:t>
                    </m:r>
                    <m:r>
                      <a:rPr lang="en-US" altLang="zh-CN" b="1" i="1" dirty="0">
                        <a:solidFill>
                          <a:srgbClr val="00539E"/>
                        </a:solidFill>
                        <a:latin typeface="Cambria Math" panose="02040503050406030204" pitchFamily="18" charset="0"/>
                      </a:rPr>
                      <m:t>) </m:t>
                    </m:r>
                  </m:oMath>
                </a14:m>
                <a:r>
                  <a:rPr lang="zh-CN" altLang="en-US" dirty="0">
                    <a:latin typeface="微软雅黑" panose="020B0503020204020204" pitchFamily="34" charset="-122"/>
                    <a:ea typeface="微软雅黑" panose="020B0503020204020204" pitchFamily="34" charset="-122"/>
                  </a:rPr>
                  <a:t>。</a:t>
                </a:r>
                <a:endParaRPr lang="en-US" altLang="zh-CN" dirty="0">
                  <a:solidFill>
                    <a:srgbClr val="191B1F"/>
                  </a:solidFill>
                  <a:latin typeface="微软雅黑" panose="020B0503020204020204" pitchFamily="34" charset="-122"/>
                  <a:ea typeface="微软雅黑" panose="020B0503020204020204" pitchFamily="34" charset="-122"/>
                </a:endParaRPr>
              </a:p>
              <a:p>
                <a:pPr>
                  <a:lnSpc>
                    <a:spcPct val="150000"/>
                  </a:lnSpc>
                </a:pPr>
                <a:r>
                  <a:rPr lang="zh-CN" altLang="en-US" b="0" i="0" dirty="0">
                    <a:solidFill>
                      <a:srgbClr val="191B1F"/>
                    </a:solidFill>
                    <a:effectLst/>
                    <a:latin typeface="微软雅黑" panose="020B0503020204020204" pitchFamily="34" charset="-122"/>
                    <a:ea typeface="微软雅黑" panose="020B0503020204020204" pitchFamily="34" charset="-122"/>
                  </a:rPr>
                  <a:t>在训练期间， </a:t>
                </a:r>
                <a14:m>
                  <m:oMath xmlns:m="http://schemas.openxmlformats.org/officeDocument/2006/math">
                    <m:sSub>
                      <m:sSubPr>
                        <m:ctrlPr>
                          <a:rPr lang="en-US" altLang="zh-CN" b="1" i="1" dirty="0" smtClean="0">
                            <a:solidFill>
                              <a:srgbClr val="00539E"/>
                            </a:solidFill>
                            <a:effectLst/>
                            <a:latin typeface="Cambria Math" panose="02040503050406030204" pitchFamily="18" charset="0"/>
                            <a:ea typeface="微软雅黑" panose="020B0503020204020204" pitchFamily="34" charset="-122"/>
                          </a:rPr>
                        </m:ctrlPr>
                      </m:sSubPr>
                      <m:e>
                        <m:r>
                          <a:rPr lang="en-US" altLang="zh-CN" b="1" i="1" dirty="0" smtClean="0">
                            <a:solidFill>
                              <a:srgbClr val="00539E"/>
                            </a:solidFill>
                            <a:effectLst/>
                            <a:latin typeface="Cambria Math" panose="02040503050406030204" pitchFamily="18" charset="0"/>
                            <a:ea typeface="微软雅黑" panose="020B0503020204020204" pitchFamily="34" charset="-122"/>
                          </a:rPr>
                          <m:t>𝑾</m:t>
                        </m:r>
                      </m:e>
                      <m:sub>
                        <m:r>
                          <a:rPr lang="en-US" altLang="zh-CN" b="1" i="1" dirty="0" smtClean="0">
                            <a:solidFill>
                              <a:srgbClr val="00539E"/>
                            </a:solidFill>
                            <a:effectLst/>
                            <a:latin typeface="Cambria Math" panose="02040503050406030204" pitchFamily="18" charset="0"/>
                            <a:ea typeface="微软雅黑" panose="020B0503020204020204" pitchFamily="34" charset="-122"/>
                          </a:rPr>
                          <m:t>𝟎</m:t>
                        </m:r>
                      </m:sub>
                    </m:sSub>
                    <m:r>
                      <a:rPr lang="en-US" altLang="zh-CN" b="1" i="1" dirty="0">
                        <a:solidFill>
                          <a:srgbClr val="00539E"/>
                        </a:solidFill>
                        <a:effectLst/>
                        <a:latin typeface="Cambria Math" panose="02040503050406030204" pitchFamily="18" charset="0"/>
                        <a:ea typeface="微软雅黑" panose="020B0503020204020204" pitchFamily="34" charset="-122"/>
                      </a:rPr>
                      <m:t> </m:t>
                    </m:r>
                  </m:oMath>
                </a14:m>
                <a:r>
                  <a:rPr lang="zh-CN" altLang="en-US" b="1" i="0" dirty="0">
                    <a:solidFill>
                      <a:srgbClr val="00539E"/>
                    </a:solidFill>
                    <a:effectLst/>
                    <a:latin typeface="微软雅黑" panose="020B0503020204020204" pitchFamily="34" charset="-122"/>
                    <a:ea typeface="微软雅黑" panose="020B0503020204020204" pitchFamily="34" charset="-122"/>
                  </a:rPr>
                  <a:t>被冻结并且不接收梯度更新</a:t>
                </a:r>
                <a:r>
                  <a:rPr lang="zh-CN" altLang="en-US" b="0" i="0" dirty="0">
                    <a:solidFill>
                      <a:srgbClr val="191B1F"/>
                    </a:solidFill>
                    <a:effectLst/>
                    <a:latin typeface="微软雅黑" panose="020B0503020204020204" pitchFamily="34" charset="-122"/>
                    <a:ea typeface="微软雅黑" panose="020B0503020204020204" pitchFamily="34" charset="-122"/>
                  </a:rPr>
                  <a:t>，而</a:t>
                </a:r>
                <a:r>
                  <a:rPr lang="en-US" altLang="zh-CN" b="0" i="0" dirty="0">
                    <a:solidFill>
                      <a:srgbClr val="191B1F"/>
                    </a:solidFill>
                    <a:effectLst/>
                    <a:latin typeface="微软雅黑" panose="020B0503020204020204" pitchFamily="34" charset="-122"/>
                    <a:ea typeface="微软雅黑" panose="020B0503020204020204" pitchFamily="34" charset="-122"/>
                  </a:rPr>
                  <a:t>A</a:t>
                </a:r>
                <a:r>
                  <a:rPr lang="zh-CN" altLang="en-US" b="0" i="0" dirty="0">
                    <a:solidFill>
                      <a:srgbClr val="191B1F"/>
                    </a:solidFill>
                    <a:effectLst/>
                    <a:latin typeface="微软雅黑" panose="020B0503020204020204" pitchFamily="34" charset="-122"/>
                    <a:ea typeface="微软雅黑" panose="020B0503020204020204" pitchFamily="34" charset="-122"/>
                  </a:rPr>
                  <a:t>和</a:t>
                </a:r>
                <a:r>
                  <a:rPr lang="en-US" altLang="zh-CN" b="0" i="0" dirty="0">
                    <a:solidFill>
                      <a:srgbClr val="191B1F"/>
                    </a:solidFill>
                    <a:effectLst/>
                    <a:latin typeface="微软雅黑" panose="020B0503020204020204" pitchFamily="34" charset="-122"/>
                    <a:ea typeface="微软雅黑" panose="020B0503020204020204" pitchFamily="34" charset="-122"/>
                  </a:rPr>
                  <a:t>B</a:t>
                </a:r>
                <a:r>
                  <a:rPr lang="zh-CN" altLang="en-US" b="0" i="0" dirty="0">
                    <a:solidFill>
                      <a:srgbClr val="191B1F"/>
                    </a:solidFill>
                    <a:effectLst/>
                    <a:latin typeface="微软雅黑" panose="020B0503020204020204" pitchFamily="34" charset="-122"/>
                    <a:ea typeface="微软雅黑" panose="020B0503020204020204" pitchFamily="34" charset="-122"/>
                  </a:rPr>
                  <a:t>包含可训练参数。</a:t>
                </a:r>
                <a:endParaRPr lang="zh-CN" altLang="en-US" dirty="0">
                  <a:latin typeface="微软雅黑" panose="020B0503020204020204" pitchFamily="34" charset="-122"/>
                  <a:ea typeface="微软雅黑" panose="020B0503020204020204" pitchFamily="34"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5433390" y="4710224"/>
                <a:ext cx="6096000" cy="1391343"/>
              </a:xfrm>
              <a:prstGeom prst="rect">
                <a:avLst/>
              </a:prstGeom>
              <a:blipFill rotWithShape="1">
                <a:blip r:embed="rId4"/>
                <a:stretch>
                  <a:fillRect l="-5" t="-31" r="-213" b="35"/>
                </a:stretch>
              </a:blipFill>
            </p:spPr>
            <p:txBody>
              <a:bodyPr/>
              <a:lstStyle/>
              <a:p>
                <a:r>
                  <a:rPr lang="zh-CN" altLang="en-US">
                    <a:noFill/>
                  </a:rPr>
                  <a:t> </a:t>
                </a:r>
              </a:p>
            </p:txBody>
          </p:sp>
        </mc:Fallback>
      </mc:AlternateContent>
      <p:grpSp>
        <p:nvGrpSpPr>
          <p:cNvPr id="17" name="组合 16"/>
          <p:cNvGrpSpPr/>
          <p:nvPr/>
        </p:nvGrpSpPr>
        <p:grpSpPr>
          <a:xfrm>
            <a:off x="5389535" y="2731932"/>
            <a:ext cx="6416263" cy="1836670"/>
            <a:chOff x="5429293" y="2961276"/>
            <a:chExt cx="6416263" cy="1836670"/>
          </a:xfrm>
        </p:grpSpPr>
        <p:pic>
          <p:nvPicPr>
            <p:cNvPr id="11" name="图片 10"/>
            <p:cNvPicPr>
              <a:picLocks noChangeAspect="1"/>
            </p:cNvPicPr>
            <p:nvPr/>
          </p:nvPicPr>
          <p:blipFill>
            <a:blip r:embed="rId5"/>
            <a:stretch>
              <a:fillRect/>
            </a:stretch>
          </p:blipFill>
          <p:spPr>
            <a:xfrm>
              <a:off x="5433390" y="4312167"/>
              <a:ext cx="3571901" cy="485779"/>
            </a:xfrm>
            <a:prstGeom prst="rect">
              <a:avLst/>
            </a:prstGeom>
          </p:spPr>
        </p:pic>
        <p:sp>
          <p:nvSpPr>
            <p:cNvPr id="13" name="文本框 12"/>
            <p:cNvSpPr txBox="1"/>
            <p:nvPr/>
          </p:nvSpPr>
          <p:spPr>
            <a:xfrm>
              <a:off x="5429293" y="2961276"/>
              <a:ext cx="6416263" cy="161582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Fingpt</a:t>
              </a:r>
              <a:r>
                <a:rPr lang="zh-CN" altLang="en-US" dirty="0">
                  <a:latin typeface="微软雅黑" panose="020B0503020204020204" pitchFamily="34" charset="-122"/>
                  <a:ea typeface="微软雅黑" panose="020B0503020204020204" pitchFamily="34" charset="-122"/>
                </a:rPr>
                <a:t>中，训练的都是基于</a:t>
              </a:r>
              <a:r>
                <a:rPr lang="en-US" altLang="zh-CN" b="1" dirty="0">
                  <a:solidFill>
                    <a:srgbClr val="00539E"/>
                  </a:solidFill>
                  <a:latin typeface="微软雅黑" panose="020B0503020204020204" pitchFamily="34" charset="-122"/>
                  <a:ea typeface="微软雅黑" panose="020B0503020204020204" pitchFamily="34" charset="-122"/>
                </a:rPr>
                <a:t>transformer</a:t>
              </a:r>
              <a:r>
                <a:rPr lang="zh-CN" altLang="en-US" dirty="0">
                  <a:latin typeface="微软雅黑" panose="020B0503020204020204" pitchFamily="34" charset="-122"/>
                  <a:ea typeface="微软雅黑" panose="020B0503020204020204" pitchFamily="34" charset="-122"/>
                </a:rPr>
                <a:t>的大语言模型</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对</a:t>
              </a:r>
              <a:r>
                <a:rPr lang="en-US" altLang="zh-CN" b="1" dirty="0">
                  <a:solidFill>
                    <a:srgbClr val="00539E"/>
                  </a:solidFill>
                  <a:latin typeface="微软雅黑" panose="020B0503020204020204" pitchFamily="34" charset="-122"/>
                  <a:ea typeface="微软雅黑" panose="020B0503020204020204" pitchFamily="34" charset="-122"/>
                </a:rPr>
                <a:t>key</a:t>
              </a:r>
              <a:r>
                <a:rPr lang="zh-CN" altLang="en-US" b="1" dirty="0">
                  <a:solidFill>
                    <a:srgbClr val="00539E"/>
                  </a:solidFill>
                  <a:latin typeface="微软雅黑" panose="020B0503020204020204" pitchFamily="34" charset="-122"/>
                  <a:ea typeface="微软雅黑" panose="020B0503020204020204" pitchFamily="34" charset="-122"/>
                </a:rPr>
                <a:t>、</a:t>
              </a:r>
              <a:r>
                <a:rPr lang="en-US" altLang="zh-CN" b="1" dirty="0">
                  <a:solidFill>
                    <a:srgbClr val="00539E"/>
                  </a:solidFill>
                  <a:latin typeface="微软雅黑" panose="020B0503020204020204" pitchFamily="34" charset="-122"/>
                  <a:ea typeface="微软雅黑" panose="020B0503020204020204" pitchFamily="34" charset="-122"/>
                </a:rPr>
                <a:t>query</a:t>
              </a:r>
              <a:r>
                <a:rPr lang="zh-CN" altLang="en-US" b="1" dirty="0">
                  <a:solidFill>
                    <a:srgbClr val="00539E"/>
                  </a:solidFill>
                  <a:latin typeface="微软雅黑" panose="020B0503020204020204" pitchFamily="34" charset="-122"/>
                  <a:ea typeface="微软雅黑" panose="020B0503020204020204" pitchFamily="34" charset="-122"/>
                </a:rPr>
                <a:t>、</a:t>
              </a:r>
              <a:r>
                <a:rPr lang="en-US" altLang="zh-CN" b="1" dirty="0">
                  <a:solidFill>
                    <a:srgbClr val="00539E"/>
                  </a:solidFill>
                  <a:latin typeface="微软雅黑" panose="020B0503020204020204" pitchFamily="34" charset="-122"/>
                  <a:ea typeface="微软雅黑" panose="020B0503020204020204" pitchFamily="34" charset="-122"/>
                </a:rPr>
                <a:t>value</a:t>
              </a:r>
              <a:r>
                <a:rPr lang="zh-CN" altLang="en-US" dirty="0">
                  <a:latin typeface="微软雅黑" panose="020B0503020204020204" pitchFamily="34" charset="-122"/>
                  <a:ea typeface="微软雅黑" panose="020B0503020204020204" pitchFamily="34" charset="-122"/>
                </a:rPr>
                <a:t>矩阵同时进行微调</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对一个密集层而言</a:t>
              </a:r>
              <a:endParaRPr lang="en-US" altLang="zh-CN" dirty="0">
                <a:latin typeface="微软雅黑" panose="020B0503020204020204" pitchFamily="34" charset="-122"/>
                <a:ea typeface="微软雅黑" panose="020B0503020204020204" pitchFamily="34" charset="-122"/>
              </a:endParaRPr>
            </a:p>
            <a:p>
              <a:endParaRPr lang="en-US" altLang="zh-CN" dirty="0"/>
            </a:p>
          </p:txBody>
        </p:sp>
      </p:grpSp>
      <p:sp>
        <p:nvSpPr>
          <p:cNvPr id="14" name="文本框 13"/>
          <p:cNvSpPr txBox="1"/>
          <p:nvPr/>
        </p:nvSpPr>
        <p:spPr>
          <a:xfrm>
            <a:off x="1404634" y="4973442"/>
            <a:ext cx="2379177" cy="369332"/>
          </a:xfrm>
          <a:prstGeom prst="rect">
            <a:avLst/>
          </a:prstGeom>
          <a:noFill/>
        </p:spPr>
        <p:txBody>
          <a:bodyPr wrap="none" rtlCol="0">
            <a:spAutoFit/>
          </a:bodyPr>
          <a:lstStyle/>
          <a:p>
            <a:r>
              <a:rPr lang="en-US" altLang="zh-CN" dirty="0" err="1">
                <a:latin typeface="微软雅黑" panose="020B0503020204020204" pitchFamily="34" charset="-122"/>
                <a:ea typeface="微软雅黑" panose="020B0503020204020204" pitchFamily="34" charset="-122"/>
              </a:rPr>
              <a:t>LoRA</a:t>
            </a:r>
            <a:r>
              <a:rPr lang="zh-CN" altLang="en-US" dirty="0">
                <a:latin typeface="微软雅黑" panose="020B0503020204020204" pitchFamily="34" charset="-122"/>
                <a:ea typeface="微软雅黑" panose="020B0503020204020204" pitchFamily="34" charset="-122"/>
              </a:rPr>
              <a:t>对密集层的微调</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2000" y="288000"/>
            <a:ext cx="3257623"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en-US" altLang="zh-CN" sz="3600" b="1" i="0" u="none" strike="noStrike" kern="0" cap="none" spc="0" normalizeH="0" baseline="0" noProof="0" dirty="0" err="1">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LoRA</a:t>
            </a: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改进微调</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cxnSp>
        <p:nvCxnSpPr>
          <p:cNvPr id="3" name="直接连接符 2"/>
          <p:cNvCxnSpPr/>
          <p:nvPr/>
        </p:nvCxnSpPr>
        <p:spPr>
          <a:xfrm>
            <a:off x="5844045" y="1204846"/>
            <a:ext cx="0" cy="4943546"/>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999494" y="1743785"/>
            <a:ext cx="6173515" cy="2281779"/>
          </a:xfrm>
          <a:prstGeom prst="rect">
            <a:avLst/>
          </a:prstGeom>
          <a:noFill/>
          <a:ln>
            <a:noFill/>
          </a:ln>
        </p:spPr>
      </p:pic>
      <p:sp>
        <p:nvSpPr>
          <p:cNvPr id="7" name="矩形: 圆角 6"/>
          <p:cNvSpPr/>
          <p:nvPr/>
        </p:nvSpPr>
        <p:spPr>
          <a:xfrm>
            <a:off x="1382304" y="1204846"/>
            <a:ext cx="2797014" cy="551375"/>
          </a:xfrm>
          <a:prstGeom prst="roundRect">
            <a:avLst/>
          </a:prstGeom>
          <a:solidFill>
            <a:srgbClr val="005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white"/>
                </a:solidFill>
                <a:latin typeface="微软雅黑" panose="020B0503020204020204" pitchFamily="34" charset="-122"/>
                <a:ea typeface="微软雅黑" panose="020B0503020204020204" pitchFamily="34" charset="-122"/>
              </a:rPr>
              <a:t>SVD</a:t>
            </a:r>
            <a:r>
              <a:rPr lang="zh-CN" altLang="en-US" sz="2000" b="1" dirty="0">
                <a:solidFill>
                  <a:prstClr val="white"/>
                </a:solidFill>
                <a:latin typeface="微软雅黑" panose="020B0503020204020204" pitchFamily="34" charset="-122"/>
                <a:ea typeface="微软雅黑" panose="020B0503020204020204" pitchFamily="34" charset="-122"/>
              </a:rPr>
              <a:t>分解</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7"/>
          <p:cNvSpPr/>
          <p:nvPr/>
        </p:nvSpPr>
        <p:spPr>
          <a:xfrm>
            <a:off x="7946094" y="1204846"/>
            <a:ext cx="2695786" cy="551375"/>
          </a:xfrm>
          <a:prstGeom prst="roundRect">
            <a:avLst/>
          </a:prstGeom>
          <a:solidFill>
            <a:srgbClr val="0070C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prstClr val="white"/>
                </a:solidFill>
                <a:latin typeface="微软雅黑" panose="020B0503020204020204" pitchFamily="34" charset="-122"/>
                <a:ea typeface="微软雅黑" panose="020B0503020204020204" pitchFamily="34" charset="-122"/>
              </a:rPr>
              <a:t>自适应秩细化</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p:cNvPicPr>
            <a:picLocks noChangeAspect="1"/>
          </p:cNvPicPr>
          <p:nvPr/>
        </p:nvPicPr>
        <p:blipFill>
          <a:blip r:embed="rId2"/>
          <a:stretch>
            <a:fillRect/>
          </a:stretch>
        </p:blipFill>
        <p:spPr>
          <a:xfrm>
            <a:off x="-2398418" y="2894103"/>
            <a:ext cx="10403934" cy="671491"/>
          </a:xfrm>
          <a:prstGeom prst="rect">
            <a:avLst/>
          </a:prstGeom>
        </p:spPr>
      </p:pic>
      <mc:AlternateContent xmlns:mc="http://schemas.openxmlformats.org/markup-compatibility/2006">
        <mc:Choice xmlns:a14="http://schemas.microsoft.com/office/drawing/2010/main" Requires="a14">
          <p:sp>
            <p:nvSpPr>
              <p:cNvPr id="15" name="文本框 14"/>
              <p:cNvSpPr txBox="1"/>
              <p:nvPr/>
            </p:nvSpPr>
            <p:spPr>
              <a:xfrm>
                <a:off x="-1265529" y="2222664"/>
                <a:ext cx="8353958" cy="38792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b="0" smtClean="0">
                          <a:latin typeface="Cambria Math" panose="02040503050406030204" pitchFamily="18" charset="0"/>
                        </a:rPr>
                        <m:t> </m:t>
                      </m:r>
                      <m:r>
                        <a:rPr lang="zh-CN" altLang="en-US" b="0" i="1">
                          <a:latin typeface="Cambria Math" panose="02040503050406030204" pitchFamily="18" charset="0"/>
                        </a:rPr>
                        <m:t>𝑊</m:t>
                      </m:r>
                      <m:r>
                        <a:rPr lang="zh-CN" altLang="en-US" b="0"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b="0" i="1">
                              <a:latin typeface="Cambria Math" panose="02040503050406030204" pitchFamily="18" charset="0"/>
                            </a:rPr>
                            <m:t>𝑊</m:t>
                          </m:r>
                        </m:e>
                        <m:sup>
                          <m:d>
                            <m:dPr>
                              <m:ctrlPr>
                                <a:rPr lang="zh-CN" altLang="en-US" i="1">
                                  <a:solidFill>
                                    <a:srgbClr val="836967"/>
                                  </a:solidFill>
                                  <a:latin typeface="Cambria Math" panose="02040503050406030204" pitchFamily="18" charset="0"/>
                                </a:rPr>
                              </m:ctrlPr>
                            </m:dPr>
                            <m:e>
                              <m:r>
                                <a:rPr lang="zh-CN" altLang="en-US" b="0" i="0">
                                  <a:latin typeface="Cambria Math" panose="02040503050406030204" pitchFamily="18" charset="0"/>
                                </a:rPr>
                                <m:t>0</m:t>
                              </m:r>
                            </m:e>
                          </m:d>
                        </m:sup>
                      </m:sSup>
                      <m:r>
                        <a:rPr lang="zh-CN" altLang="en-US" b="0" i="0">
                          <a:latin typeface="Cambria Math" panose="02040503050406030204" pitchFamily="18" charset="0"/>
                        </a:rPr>
                        <m:t>+</m:t>
                      </m:r>
                      <m:r>
                        <m:rPr>
                          <m:sty m:val="p"/>
                        </m:rPr>
                        <a:rPr lang="zh-CN" altLang="en-US" b="0" i="0">
                          <a:latin typeface="Cambria Math" panose="02040503050406030204" pitchFamily="18" charset="0"/>
                        </a:rPr>
                        <m:t>Δ</m:t>
                      </m:r>
                      <m:r>
                        <a:rPr lang="zh-CN" altLang="en-US" b="0"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b="0" i="1">
                              <a:latin typeface="Cambria Math" panose="02040503050406030204" pitchFamily="18" charset="0"/>
                            </a:rPr>
                            <m:t>𝑊</m:t>
                          </m:r>
                        </m:e>
                        <m:sup>
                          <m:d>
                            <m:dPr>
                              <m:ctrlPr>
                                <a:rPr lang="zh-CN" altLang="en-US" i="1">
                                  <a:solidFill>
                                    <a:srgbClr val="836967"/>
                                  </a:solidFill>
                                  <a:latin typeface="Cambria Math" panose="02040503050406030204" pitchFamily="18" charset="0"/>
                                </a:rPr>
                              </m:ctrlPr>
                            </m:dPr>
                            <m:e>
                              <m:r>
                                <a:rPr lang="zh-CN" altLang="en-US" b="0" i="0">
                                  <a:latin typeface="Cambria Math" panose="02040503050406030204" pitchFamily="18" charset="0"/>
                                </a:rPr>
                                <m:t>0</m:t>
                              </m:r>
                            </m:e>
                          </m:d>
                        </m:sup>
                      </m:sSup>
                      <m:r>
                        <a:rPr lang="zh-CN" altLang="en-US" b="0" i="0">
                          <a:latin typeface="Cambria Math" panose="02040503050406030204" pitchFamily="18" charset="0"/>
                        </a:rPr>
                        <m:t>+</m:t>
                      </m:r>
                      <m:r>
                        <a:rPr lang="zh-CN" altLang="en-US" b="0" i="1">
                          <a:latin typeface="Cambria Math" panose="02040503050406030204" pitchFamily="18" charset="0"/>
                        </a:rPr>
                        <m:t>𝑃</m:t>
                      </m:r>
                      <m:r>
                        <m:rPr>
                          <m:sty m:val="p"/>
                        </m:rPr>
                        <a:rPr lang="zh-CN" altLang="en-US" b="0" i="0">
                          <a:latin typeface="Cambria Math" panose="02040503050406030204" pitchFamily="18" charset="0"/>
                        </a:rPr>
                        <m:t>Λ</m:t>
                      </m:r>
                      <m:r>
                        <a:rPr lang="zh-CN" altLang="en-US" b="0" i="1">
                          <a:latin typeface="Cambria Math" panose="02040503050406030204" pitchFamily="18" charset="0"/>
                        </a:rPr>
                        <m:t>𝑄</m:t>
                      </m:r>
                      <m:r>
                        <a:rPr lang="zh-CN" altLang="en-US" b="0" i="0">
                          <a:latin typeface="Cambria Math" panose="02040503050406030204" pitchFamily="18" charset="0"/>
                        </a:rPr>
                        <m:t> </m:t>
                      </m:r>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1265529" y="2222664"/>
                <a:ext cx="8353958" cy="387927"/>
              </a:xfrm>
              <a:prstGeom prst="rect">
                <a:avLst/>
              </a:prstGeom>
              <a:blipFill rotWithShape="1">
                <a:blip r:embed="rId3"/>
                <a:stretch>
                  <a:fillRect l="7" t="-42" r="7" b="27"/>
                </a:stretch>
              </a:blipFill>
            </p:spPr>
            <p:txBody>
              <a:bodyPr/>
              <a:lstStyle/>
              <a:p>
                <a:r>
                  <a:rPr lang="zh-CN" altLang="en-US">
                    <a:noFill/>
                  </a:rPr>
                  <a:t> </a:t>
                </a:r>
              </a:p>
            </p:txBody>
          </p:sp>
        </mc:Fallback>
      </mc:AlternateContent>
      <p:sp>
        <p:nvSpPr>
          <p:cNvPr id="17" name="文本框 16"/>
          <p:cNvSpPr txBox="1"/>
          <p:nvPr/>
        </p:nvSpPr>
        <p:spPr>
          <a:xfrm>
            <a:off x="991719" y="3957533"/>
            <a:ext cx="3878760" cy="1477328"/>
          </a:xfrm>
          <a:prstGeom prst="rect">
            <a:avLst/>
          </a:prstGeom>
          <a:noFill/>
        </p:spPr>
        <p:txBody>
          <a:bodyPr wrap="square">
            <a:spAutoFit/>
          </a:bodyPr>
          <a:lstStyle/>
          <a:p>
            <a:r>
              <a:rPr lang="zh-CN" altLang="en-US" dirty="0"/>
              <a:t>类比线性代数的</a:t>
            </a:r>
            <a:r>
              <a:rPr lang="en-US" altLang="zh-CN" dirty="0"/>
              <a:t>SVD</a:t>
            </a:r>
            <a:r>
              <a:rPr lang="zh-CN" altLang="en-US" dirty="0"/>
              <a:t>分解，将更新矩阵分解成</a:t>
            </a:r>
            <a:r>
              <a:rPr lang="en-US" altLang="zh-CN" dirty="0"/>
              <a:t>SVD</a:t>
            </a:r>
            <a:r>
              <a:rPr lang="zh-CN" altLang="en-US" dirty="0"/>
              <a:t>的形式，并且通过施加惩罚函数来维持</a:t>
            </a:r>
            <a:r>
              <a:rPr lang="en-US" altLang="zh-CN" dirty="0"/>
              <a:t>PQ</a:t>
            </a:r>
            <a:r>
              <a:rPr lang="zh-CN" altLang="en-US" dirty="0"/>
              <a:t>矩阵的正交性，从而在调整模型的秩时不至于损失太多的信息。</a:t>
            </a:r>
            <a:endParaRPr lang="zh-CN" altLang="en-US" dirty="0"/>
          </a:p>
        </p:txBody>
      </p:sp>
      <p:sp>
        <p:nvSpPr>
          <p:cNvPr id="18" name="文本框 17"/>
          <p:cNvSpPr txBox="1"/>
          <p:nvPr/>
        </p:nvSpPr>
        <p:spPr>
          <a:xfrm>
            <a:off x="6967018" y="4168040"/>
            <a:ext cx="4569052" cy="369332"/>
          </a:xfrm>
          <a:prstGeom prst="rect">
            <a:avLst/>
          </a:prstGeom>
          <a:noFill/>
        </p:spPr>
        <p:txBody>
          <a:bodyPr wrap="square">
            <a:spAutoFit/>
          </a:bodyPr>
          <a:lstStyle/>
          <a:p>
            <a:r>
              <a:rPr lang="zh-CN" altLang="en-US"/>
              <a:t>基于</a:t>
            </a:r>
            <a:r>
              <a:rPr lang="en-US" altLang="zh-CN"/>
              <a:t>SVD</a:t>
            </a:r>
            <a:r>
              <a:rPr lang="zh-CN" altLang="en-US"/>
              <a:t>得到的奇异值和特征向量进行剪枝</a:t>
            </a:r>
            <a:endParaRPr lang="zh-CN" altLang="en-US" dirty="0"/>
          </a:p>
        </p:txBody>
      </p:sp>
      <mc:AlternateContent xmlns:mc="http://schemas.openxmlformats.org/markup-compatibility/2006">
        <mc:Choice xmlns:a14="http://schemas.microsoft.com/office/drawing/2010/main" Requires="a14">
          <p:sp>
            <p:nvSpPr>
              <p:cNvPr id="22" name="文本框 21"/>
              <p:cNvSpPr txBox="1"/>
              <p:nvPr/>
            </p:nvSpPr>
            <p:spPr>
              <a:xfrm>
                <a:off x="4731105" y="4694048"/>
                <a:ext cx="7296912" cy="404983"/>
              </a:xfrm>
              <a:prstGeom prst="rect">
                <a:avLst/>
              </a:prstGeom>
              <a:noFill/>
            </p:spPr>
            <p:txBody>
              <a:bodyPr wrap="square">
                <a:spAutoFit/>
              </a:bodyPr>
              <a:lstStyle/>
              <a:p>
                <a14:m>
                  <m:oMath xmlns:m="http://schemas.openxmlformats.org/officeDocument/2006/math">
                    <m:sSub>
                      <m:sSubPr>
                        <m:ctrlPr>
                          <a:rPr lang="zh-CN" altLang="zh-CN" i="1" smtClean="0">
                            <a:effectLst/>
                            <a:latin typeface="Cambria Math" panose="02040503050406030204" pitchFamily="18" charset="0"/>
                            <a:ea typeface="Cambria Math" panose="02040503050406030204" pitchFamily="18" charset="0"/>
                          </a:rPr>
                        </m:ctrlPr>
                      </m:sSubPr>
                      <m:e>
                        <m:r>
                          <a:rPr lang="en-US" altLang="zh-CN" sz="1800" b="0" kern="100">
                            <a:effectLst/>
                            <a:latin typeface="Cambria Math" panose="02040503050406030204" pitchFamily="18" charset="0"/>
                            <a:ea typeface="宋体" panose="02010600030101010101" pitchFamily="2" charset="-122"/>
                          </a:rPr>
                          <m:t>                                         </m:t>
                        </m:r>
                        <m:r>
                          <m:rPr>
                            <m:sty m:val="p"/>
                          </m:rPr>
                          <a:rPr lang="zh-CN" altLang="zh-CN" sz="1800" b="0" kern="100">
                            <a:effectLst/>
                            <a:latin typeface="Cambria Math" panose="02040503050406030204" pitchFamily="18" charset="0"/>
                            <a:ea typeface="宋体" panose="02010600030101010101" pitchFamily="2" charset="-122"/>
                          </a:rPr>
                          <m:t>Δ</m:t>
                        </m:r>
                      </m:e>
                      <m:sub>
                        <m:r>
                          <a:rPr lang="en-US" altLang="zh-CN" sz="1800" b="0" i="1" kern="100">
                            <a:effectLst/>
                            <a:latin typeface="Cambria Math" panose="02040503050406030204" pitchFamily="18" charset="0"/>
                            <a:ea typeface="宋体" panose="02010600030101010101" pitchFamily="2" charset="-122"/>
                          </a:rPr>
                          <m:t>𝑘</m:t>
                        </m:r>
                      </m:sub>
                    </m:sSub>
                    <m:r>
                      <a:rPr lang="en-US" altLang="zh-CN" sz="1800" b="0" i="1" kern="100">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b="0" i="1" kern="100">
                            <a:effectLst/>
                            <a:latin typeface="Cambria Math" panose="02040503050406030204" pitchFamily="18" charset="0"/>
                            <a:ea typeface="宋体" panose="02010600030101010101" pitchFamily="2" charset="-122"/>
                          </a:rPr>
                          <m:t>𝑃</m:t>
                        </m:r>
                      </m:e>
                      <m:sub>
                        <m:r>
                          <a:rPr lang="en-US" altLang="zh-CN" sz="1800" b="0" i="1" kern="100">
                            <a:effectLst/>
                            <a:latin typeface="Cambria Math" panose="02040503050406030204" pitchFamily="18" charset="0"/>
                            <a:ea typeface="宋体" panose="02010600030101010101" pitchFamily="2" charset="-122"/>
                          </a:rPr>
                          <m:t>𝑘</m:t>
                        </m:r>
                      </m:sub>
                    </m:sSub>
                    <m:sSub>
                      <m:sSubPr>
                        <m:ctrlPr>
                          <a:rPr lang="zh-CN" altLang="zh-CN" i="1">
                            <a:effectLst/>
                            <a:latin typeface="Cambria Math" panose="02040503050406030204" pitchFamily="18" charset="0"/>
                            <a:ea typeface="Cambria Math" panose="02040503050406030204" pitchFamily="18" charset="0"/>
                          </a:rPr>
                        </m:ctrlPr>
                      </m:sSubPr>
                      <m:e>
                        <m:r>
                          <m:rPr>
                            <m:sty m:val="p"/>
                          </m:rPr>
                          <a:rPr lang="zh-CN" altLang="zh-CN" sz="1800" b="0" kern="100">
                            <a:effectLst/>
                            <a:latin typeface="Cambria Math" panose="02040503050406030204" pitchFamily="18" charset="0"/>
                            <a:ea typeface="宋体" panose="02010600030101010101" pitchFamily="2" charset="-122"/>
                          </a:rPr>
                          <m:t>Λ</m:t>
                        </m:r>
                      </m:e>
                      <m:sub>
                        <m:r>
                          <a:rPr lang="en-US" altLang="zh-CN" sz="1800" b="0" i="1" kern="100">
                            <a:effectLst/>
                            <a:latin typeface="Cambria Math" panose="02040503050406030204" pitchFamily="18" charset="0"/>
                            <a:ea typeface="宋体" panose="02010600030101010101" pitchFamily="2" charset="-122"/>
                          </a:rPr>
                          <m:t>𝑘</m:t>
                        </m:r>
                      </m:sub>
                    </m:sSub>
                    <m:sSub>
                      <m:sSubPr>
                        <m:ctrlPr>
                          <a:rPr lang="zh-CN" altLang="zh-CN" i="1">
                            <a:effectLst/>
                            <a:latin typeface="Cambria Math" panose="02040503050406030204" pitchFamily="18" charset="0"/>
                            <a:ea typeface="Cambria Math" panose="02040503050406030204" pitchFamily="18" charset="0"/>
                          </a:rPr>
                        </m:ctrlPr>
                      </m:sSubPr>
                      <m:e>
                        <m:r>
                          <a:rPr lang="en-US" altLang="zh-CN" sz="1800" b="0" i="1" kern="100">
                            <a:effectLst/>
                            <a:latin typeface="Cambria Math" panose="02040503050406030204" pitchFamily="18" charset="0"/>
                            <a:ea typeface="宋体" panose="02010600030101010101" pitchFamily="2" charset="-122"/>
                          </a:rPr>
                          <m:t>𝑄</m:t>
                        </m:r>
                      </m:e>
                      <m:sub>
                        <m:r>
                          <a:rPr lang="en-US" altLang="zh-CN" sz="1800" b="0" i="1" kern="100">
                            <a:effectLst/>
                            <a:latin typeface="Cambria Math" panose="02040503050406030204" pitchFamily="18" charset="0"/>
                            <a:ea typeface="宋体" panose="02010600030101010101" pitchFamily="2" charset="-122"/>
                          </a:rPr>
                          <m:t>𝑘</m:t>
                        </m:r>
                      </m:sub>
                    </m:sSub>
                    <m:d>
                      <m:dPr>
                        <m:ctrlPr>
                          <a:rPr lang="zh-CN" altLang="zh-CN" i="1">
                            <a:effectLst/>
                            <a:latin typeface="Cambria Math" panose="02040503050406030204" pitchFamily="18" charset="0"/>
                            <a:ea typeface="Cambria Math" panose="02040503050406030204" pitchFamily="18" charset="0"/>
                          </a:rPr>
                        </m:ctrlPr>
                      </m:dPr>
                      <m:e>
                        <m:r>
                          <a:rPr lang="en-US" altLang="zh-CN" sz="1800" b="0" i="1" kern="100">
                            <a:effectLst/>
                            <a:latin typeface="Cambria Math" panose="02040503050406030204" pitchFamily="18" charset="0"/>
                            <a:ea typeface="宋体" panose="02010600030101010101" pitchFamily="2" charset="-122"/>
                          </a:rPr>
                          <m:t>𝑘</m:t>
                        </m:r>
                        <m:r>
                          <a:rPr lang="en-US" altLang="zh-CN" sz="1800" b="0" i="1"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1</m:t>
                        </m:r>
                        <m:r>
                          <a:rPr lang="en-US" altLang="zh-CN" sz="1800" b="0" i="1" kern="100">
                            <a:effectLst/>
                            <a:latin typeface="Cambria Math" panose="02040503050406030204" pitchFamily="18" charset="0"/>
                            <a:ea typeface="宋体" panose="02010600030101010101" pitchFamily="2" charset="-122"/>
                          </a:rPr>
                          <m:t>,</m:t>
                        </m:r>
                        <m:r>
                          <a:rPr lang="zh-CN" altLang="zh-CN" sz="1800" b="0"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𝑛</m:t>
                        </m:r>
                        <m:r>
                          <m:rPr>
                            <m:nor/>
                          </m:rPr>
                          <a:rPr lang="zh-CN" altLang="zh-CN" sz="1800" b="0" kern="100">
                            <a:effectLst/>
                            <a:latin typeface="Cambria Math" panose="02040503050406030204" pitchFamily="18" charset="0"/>
                            <a:ea typeface="宋体" panose="02010600030101010101" pitchFamily="2" charset="-122"/>
                          </a:rPr>
                          <m:t>，表示不同的参数矩阵</m:t>
                        </m:r>
                      </m:e>
                    </m:d>
                  </m:oMath>
                </a14:m>
                <a:r>
                  <a:rPr lang="en-US" altLang="zh-CN" sz="1800" b="1" kern="100" dirty="0">
                    <a:effectLst/>
                    <a:ea typeface="宋体" panose="02010600030101010101" pitchFamily="2" charset="-122"/>
                  </a:rPr>
                  <a:t> </a:t>
                </a:r>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4731105" y="4694048"/>
                <a:ext cx="7296912" cy="404983"/>
              </a:xfrm>
              <a:prstGeom prst="rect">
                <a:avLst/>
              </a:prstGeom>
              <a:blipFill rotWithShape="1">
                <a:blip r:embed="rId4"/>
                <a:stretch>
                  <a:fillRect l="-5" t="-32" r="7" b="152"/>
                </a:stretch>
              </a:blipFill>
            </p:spPr>
            <p:txBody>
              <a:bodyPr/>
              <a:lstStyle/>
              <a:p>
                <a:r>
                  <a:rPr lang="zh-CN" altLang="en-US">
                    <a:noFill/>
                  </a:rPr>
                  <a:t> </a:t>
                </a:r>
              </a:p>
            </p:txBody>
          </p:sp>
        </mc:Fallback>
      </mc:AlternateContent>
      <p:pic>
        <p:nvPicPr>
          <p:cNvPr id="38" name="图片 37"/>
          <p:cNvPicPr>
            <a:picLocks noChangeAspect="1"/>
          </p:cNvPicPr>
          <p:nvPr/>
        </p:nvPicPr>
        <p:blipFill>
          <a:blip r:embed="rId5"/>
          <a:stretch>
            <a:fillRect/>
          </a:stretch>
        </p:blipFill>
        <p:spPr>
          <a:xfrm>
            <a:off x="6682661" y="5205856"/>
            <a:ext cx="5690616" cy="367284"/>
          </a:xfrm>
          <a:prstGeom prst="rect">
            <a:avLst/>
          </a:prstGeom>
        </p:spPr>
      </p:pic>
      <mc:AlternateContent xmlns:mc="http://schemas.openxmlformats.org/markup-compatibility/2006">
        <mc:Choice xmlns:a14="http://schemas.microsoft.com/office/drawing/2010/main" Requires="a14">
          <p:sp>
            <p:nvSpPr>
              <p:cNvPr id="40" name="文本框 39"/>
              <p:cNvSpPr txBox="1"/>
              <p:nvPr/>
            </p:nvSpPr>
            <p:spPr>
              <a:xfrm>
                <a:off x="5546351" y="5511871"/>
                <a:ext cx="7386452" cy="63652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zh-CN" altLang="en-US" i="0" smtClean="0">
                          <a:latin typeface="Cambria Math" panose="02040503050406030204" pitchFamily="18" charset="0"/>
                        </a:rPr>
                        <m:t> </m:t>
                      </m:r>
                      <m:r>
                        <a:rPr lang="zh-CN" altLang="en-US" i="1">
                          <a:latin typeface="Cambria Math" panose="02040503050406030204" pitchFamily="18" charset="0"/>
                        </a:rPr>
                        <m:t>𝐿</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m:t>
                          </m:r>
                          <m:r>
                            <m:rPr>
                              <m:sty m:val="p"/>
                            </m:rPr>
                            <a:rPr lang="zh-CN" altLang="en-US" i="0">
                              <a:latin typeface="Cambria Math" panose="02040503050406030204" pitchFamily="18" charset="0"/>
                            </a:rPr>
                            <m:t>ε</m:t>
                          </m:r>
                          <m:r>
                            <a:rPr lang="zh-CN" altLang="en-US" i="0">
                              <a:latin typeface="Cambria Math" panose="02040503050406030204" pitchFamily="18" charset="0"/>
                            </a:rPr>
                            <m:t>,</m:t>
                          </m:r>
                          <m:r>
                            <a:rPr lang="zh-CN" altLang="en-US" i="1">
                              <a:latin typeface="Cambria Math" panose="02040503050406030204" pitchFamily="18" charset="0"/>
                            </a:rPr>
                            <m:t>𝑄</m:t>
                          </m:r>
                        </m:e>
                      </m:d>
                      <m:r>
                        <a:rPr lang="zh-CN" altLang="en-US" i="0">
                          <a:latin typeface="Cambria Math" panose="02040503050406030204" pitchFamily="18" charset="0"/>
                        </a:rPr>
                        <m:t>=</m:t>
                      </m:r>
                      <m:r>
                        <a:rPr lang="zh-CN" altLang="en-US" i="1">
                          <a:latin typeface="Cambria Math" panose="02040503050406030204" pitchFamily="18" charset="0"/>
                        </a:rPr>
                        <m:t>𝐶</m:t>
                      </m:r>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m:t>
                          </m:r>
                          <m:r>
                            <m:rPr>
                              <m:sty m:val="p"/>
                            </m:rPr>
                            <a:rPr lang="zh-CN" altLang="en-US" i="0">
                              <a:latin typeface="Cambria Math" panose="02040503050406030204" pitchFamily="18" charset="0"/>
                            </a:rPr>
                            <m:t>ε</m:t>
                          </m:r>
                          <m:r>
                            <a:rPr lang="zh-CN" altLang="en-US" i="0">
                              <a:latin typeface="Cambria Math" panose="02040503050406030204" pitchFamily="18" charset="0"/>
                            </a:rPr>
                            <m:t>,</m:t>
                          </m:r>
                          <m:r>
                            <a:rPr lang="zh-CN" altLang="en-US" i="1">
                              <a:latin typeface="Cambria Math" panose="02040503050406030204" pitchFamily="18" charset="0"/>
                            </a:rPr>
                            <m:t>𝑄</m:t>
                          </m:r>
                        </m:e>
                      </m:d>
                      <m:r>
                        <a:rPr lang="zh-CN" altLang="en-US" i="0">
                          <a:latin typeface="Cambria Math" panose="02040503050406030204" pitchFamily="18" charset="0"/>
                        </a:rPr>
                        <m:t>+</m:t>
                      </m:r>
                      <m:r>
                        <a:rPr lang="zh-CN" altLang="en-US" i="1">
                          <a:latin typeface="Cambria Math" panose="02040503050406030204" pitchFamily="18" charset="0"/>
                        </a:rPr>
                        <m:t>𝑟</m:t>
                      </m:r>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r>
                            <a:rPr lang="zh-CN" altLang="en-US" i="1">
                              <a:latin typeface="Cambria Math" panose="02040503050406030204" pitchFamily="18" charset="0"/>
                            </a:rPr>
                            <m:t>𝑅</m:t>
                          </m:r>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𝑘</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𝑄</m:t>
                                  </m:r>
                                </m:e>
                                <m:sub>
                                  <m:r>
                                    <a:rPr lang="zh-CN" altLang="en-US" i="1">
                                      <a:latin typeface="Cambria Math" panose="02040503050406030204" pitchFamily="18" charset="0"/>
                                    </a:rPr>
                                    <m:t>𝑘</m:t>
                                  </m:r>
                                </m:sub>
                              </m:sSub>
                            </m:e>
                          </m:d>
                        </m:e>
                      </m:nary>
                    </m:oMath>
                  </m:oMathPara>
                </a14:m>
                <a:endParaRPr lang="zh-CN" altLang="en-US" dirty="0"/>
              </a:p>
            </p:txBody>
          </p:sp>
        </mc:Choice>
        <mc:Fallback>
          <p:sp>
            <p:nvSpPr>
              <p:cNvPr id="40" name="文本框 39"/>
              <p:cNvSpPr txBox="1">
                <a:spLocks noRot="1" noChangeAspect="1" noMove="1" noResize="1" noEditPoints="1" noAdjustHandles="1" noChangeArrowheads="1" noChangeShapeType="1" noTextEdit="1"/>
              </p:cNvSpPr>
              <p:nvPr/>
            </p:nvSpPr>
            <p:spPr>
              <a:xfrm>
                <a:off x="5546351" y="5511871"/>
                <a:ext cx="7386452" cy="636521"/>
              </a:xfrm>
              <a:prstGeom prst="rect">
                <a:avLst/>
              </a:prstGeom>
              <a:blipFill rotWithShape="1">
                <a:blip r:embed="rId6"/>
                <a:stretch>
                  <a:fillRect l="-4" t="-11" r="5"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8195256" y="6153509"/>
                <a:ext cx="7665522" cy="504818"/>
              </a:xfrm>
              <a:prstGeom prst="rect">
                <a:avLst/>
              </a:prstGeom>
              <a:noFill/>
            </p:spPr>
            <p:txBody>
              <a:bodyPr wrap="square">
                <a:spAutoFit/>
              </a:bodyPr>
              <a:lstStyle/>
              <a:p>
                <a:r>
                  <a:rPr lang="en-US" altLang="zh-CN" sz="1800" b="1" i="1" kern="100" dirty="0">
                    <a:effectLst/>
                    <a:latin typeface="Cambria Math" panose="02040503050406030204" pitchFamily="18" charset="0"/>
                    <a:ea typeface="宋体" panose="02010600030101010101" pitchFamily="2" charset="-122"/>
                  </a:rPr>
                  <a:t> </a:t>
                </a:r>
                <a14:m>
                  <m:oMath xmlns:m="http://schemas.openxmlformats.org/officeDocument/2006/math">
                    <m:r>
                      <a:rPr lang="en-US" altLang="zh-CN" sz="1800" b="0" i="1" kern="100">
                        <a:effectLst/>
                        <a:latin typeface="Cambria Math" panose="02040503050406030204" pitchFamily="18" charset="0"/>
                        <a:ea typeface="宋体" panose="02010600030101010101" pitchFamily="2" charset="-122"/>
                      </a:rPr>
                      <m:t>𝑠</m:t>
                    </m:r>
                    <m:d>
                      <m:dPr>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b="0" i="1" kern="100">
                                <a:effectLst/>
                                <a:latin typeface="Cambria Math" panose="02040503050406030204" pitchFamily="18" charset="0"/>
                                <a:ea typeface="宋体" panose="02010600030101010101" pitchFamily="2" charset="-122"/>
                              </a:rPr>
                              <m:t>𝑤</m:t>
                            </m:r>
                          </m:e>
                          <m:sub>
                            <m:r>
                              <a:rPr lang="en-US" altLang="zh-CN" sz="1800" b="0" i="1" kern="100">
                                <a:effectLst/>
                                <a:latin typeface="Cambria Math" panose="02040503050406030204" pitchFamily="18" charset="0"/>
                                <a:ea typeface="宋体" panose="02010600030101010101" pitchFamily="2" charset="-122"/>
                              </a:rPr>
                              <m:t>𝑖</m:t>
                            </m:r>
                            <m:r>
                              <a:rPr lang="en-US" altLang="zh-CN" sz="1800" b="0" i="1"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𝑗</m:t>
                            </m:r>
                          </m:sub>
                        </m:sSub>
                      </m:e>
                    </m:d>
                    <m:r>
                      <a:rPr lang="en-US" altLang="zh-CN" sz="1800" b="0" i="1" kern="100">
                        <a:effectLst/>
                        <a:latin typeface="Cambria Math" panose="02040503050406030204" pitchFamily="18" charset="0"/>
                        <a:ea typeface="宋体" panose="02010600030101010101" pitchFamily="2" charset="-122"/>
                      </a:rPr>
                      <m:t>=</m:t>
                    </m:r>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b="0" i="1" kern="100">
                                <a:effectLst/>
                                <a:latin typeface="Cambria Math" panose="02040503050406030204" pitchFamily="18" charset="0"/>
                                <a:ea typeface="宋体" panose="02010600030101010101" pitchFamily="2" charset="-122"/>
                              </a:rPr>
                              <m:t>𝑤</m:t>
                            </m:r>
                          </m:e>
                          <m:sub>
                            <m:r>
                              <a:rPr lang="en-US" altLang="zh-CN" sz="1800" b="0" i="1" kern="100">
                                <a:effectLst/>
                                <a:latin typeface="Cambria Math" panose="02040503050406030204" pitchFamily="18" charset="0"/>
                                <a:ea typeface="宋体" panose="02010600030101010101" pitchFamily="2" charset="-122"/>
                              </a:rPr>
                              <m:t>𝑖</m:t>
                            </m:r>
                            <m:r>
                              <a:rPr lang="en-US" altLang="zh-CN" sz="1800" b="0" i="1"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𝑗</m:t>
                            </m:r>
                          </m:sub>
                        </m:sSub>
                        <m:r>
                          <a:rPr lang="en-US" altLang="zh-CN" sz="1800" b="0" kern="100">
                            <a:effectLst/>
                            <a:latin typeface="Cambria Math" panose="02040503050406030204" pitchFamily="18" charset="0"/>
                            <a:ea typeface="宋体" panose="02010600030101010101" pitchFamily="2" charset="-122"/>
                          </a:rPr>
                          <m:t>⋅</m:t>
                        </m:r>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sz="1800" b="0" kern="100">
                                <a:effectLst/>
                                <a:latin typeface="Cambria Math" panose="02040503050406030204" pitchFamily="18" charset="0"/>
                                <a:ea typeface="宋体" panose="02010600030101010101" pitchFamily="2" charset="-122"/>
                              </a:rPr>
                              <m:t>∇</m:t>
                            </m:r>
                          </m:e>
                          <m:sub>
                            <m:sSub>
                              <m:sSubPr>
                                <m:ctrlPr>
                                  <a:rPr lang="zh-CN" altLang="zh-CN" i="1">
                                    <a:effectLst/>
                                    <a:latin typeface="Cambria Math" panose="02040503050406030204" pitchFamily="18" charset="0"/>
                                    <a:ea typeface="Cambria Math" panose="02040503050406030204" pitchFamily="18" charset="0"/>
                                  </a:rPr>
                                </m:ctrlPr>
                              </m:sSubPr>
                              <m:e>
                                <m:r>
                                  <a:rPr lang="en-US" altLang="zh-CN" sz="1800" b="0" i="1" kern="100">
                                    <a:effectLst/>
                                    <a:latin typeface="Cambria Math" panose="02040503050406030204" pitchFamily="18" charset="0"/>
                                    <a:ea typeface="宋体" panose="02010600030101010101" pitchFamily="2" charset="-122"/>
                                  </a:rPr>
                                  <m:t>𝑤</m:t>
                                </m:r>
                              </m:e>
                              <m:sub>
                                <m:r>
                                  <a:rPr lang="en-US" altLang="zh-CN" sz="1800" b="0" i="1" kern="100">
                                    <a:effectLst/>
                                    <a:latin typeface="Cambria Math" panose="02040503050406030204" pitchFamily="18" charset="0"/>
                                    <a:ea typeface="宋体" panose="02010600030101010101" pitchFamily="2" charset="-122"/>
                                  </a:rPr>
                                  <m:t>𝑖</m:t>
                                </m:r>
                                <m:r>
                                  <a:rPr lang="en-US" altLang="zh-CN" sz="1800" b="0" i="1" kern="100">
                                    <a:effectLst/>
                                    <a:latin typeface="Cambria Math" panose="02040503050406030204" pitchFamily="18" charset="0"/>
                                    <a:ea typeface="宋体" panose="02010600030101010101" pitchFamily="2" charset="-122"/>
                                  </a:rPr>
                                  <m:t>,</m:t>
                                </m:r>
                                <m:r>
                                  <a:rPr lang="en-US" altLang="zh-CN" sz="1800" b="0" i="1" kern="100">
                                    <a:effectLst/>
                                    <a:latin typeface="Cambria Math" panose="02040503050406030204" pitchFamily="18" charset="0"/>
                                    <a:ea typeface="宋体" panose="02010600030101010101" pitchFamily="2" charset="-122"/>
                                  </a:rPr>
                                  <m:t>𝑗</m:t>
                                </m:r>
                              </m:sub>
                            </m:sSub>
                          </m:sub>
                        </m:sSub>
                        <m:r>
                          <a:rPr lang="en-US" altLang="zh-CN" sz="1800" b="0" i="1" kern="100">
                            <a:effectLst/>
                            <a:latin typeface="Cambria Math" panose="02040503050406030204" pitchFamily="18" charset="0"/>
                            <a:ea typeface="宋体" panose="02010600030101010101" pitchFamily="2" charset="-122"/>
                          </a:rPr>
                          <m:t>𝐿</m:t>
                        </m:r>
                      </m:e>
                    </m:d>
                  </m:oMath>
                </a14:m>
                <a:endParaRPr lang="zh-CN" altLang="en-US" dirty="0"/>
              </a:p>
            </p:txBody>
          </p:sp>
        </mc:Choice>
        <mc:Fallback>
          <p:sp>
            <p:nvSpPr>
              <p:cNvPr id="42" name="文本框 41"/>
              <p:cNvSpPr txBox="1">
                <a:spLocks noRot="1" noChangeAspect="1" noMove="1" noResize="1" noEditPoints="1" noAdjustHandles="1" noChangeArrowheads="1" noChangeShapeType="1" noTextEdit="1"/>
              </p:cNvSpPr>
              <p:nvPr/>
            </p:nvSpPr>
            <p:spPr>
              <a:xfrm>
                <a:off x="8195256" y="6153509"/>
                <a:ext cx="7665522" cy="504818"/>
              </a:xfrm>
              <a:prstGeom prst="rect">
                <a:avLst/>
              </a:prstGeom>
              <a:blipFill rotWithShape="1">
                <a:blip r:embed="rId7"/>
                <a:stretch>
                  <a:fillRect l="-8" t="-71" r="5" b="7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2000" y="288000"/>
            <a:ext cx="4900701"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检索增强生成（</a:t>
            </a:r>
            <a:r>
              <a:rPr kumimoji="0" lang="en-US" altLang="zh-CN"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RAG</a:t>
            </a: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1308678"/>
            <a:ext cx="6807219" cy="4240643"/>
          </a:xfrm>
          <a:prstGeom prst="rect">
            <a:avLst/>
          </a:prstGeom>
          <a:noFill/>
          <a:ln>
            <a:noFill/>
          </a:ln>
        </p:spPr>
      </p:pic>
      <p:sp>
        <p:nvSpPr>
          <p:cNvPr id="4" name="矩形 3"/>
          <p:cNvSpPr/>
          <p:nvPr/>
        </p:nvSpPr>
        <p:spPr>
          <a:xfrm>
            <a:off x="6807219" y="95954"/>
            <a:ext cx="5294469" cy="5354320"/>
          </a:xfrm>
          <a:prstGeom prst="rect">
            <a:avLst/>
          </a:prstGeom>
        </p:spPr>
        <p:txBody>
          <a:bodyPr wrap="square">
            <a:spAutoFit/>
          </a:bodyPr>
          <a:lstStyle/>
          <a:p>
            <a:pPr algn="just">
              <a:lnSpc>
                <a:spcPct val="150000"/>
              </a:lnSpc>
            </a:pPr>
            <a:r>
              <a:rPr lang="en-US" altLang="zh-CN" sz="2000" b="1" dirty="0" err="1">
                <a:solidFill>
                  <a:srgbClr val="000000"/>
                </a:solidFill>
                <a:latin typeface="微软雅黑" panose="020B0503020204020204" pitchFamily="34" charset="-122"/>
                <a:ea typeface="微软雅黑" panose="020B0503020204020204" pitchFamily="34" charset="-122"/>
                <a:cs typeface="+mn-ea"/>
                <a:sym typeface="+mn-ea"/>
              </a:rPr>
              <a:t>FinGPT_RAG</a:t>
            </a:r>
            <a:r>
              <a:rPr lang="zh-CN" altLang="en-US" sz="2000" b="1" dirty="0">
                <a:solidFill>
                  <a:srgbClr val="000000"/>
                </a:solidFill>
                <a:latin typeface="微软雅黑" panose="020B0503020204020204" pitchFamily="34" charset="-122"/>
                <a:ea typeface="微软雅黑" panose="020B0503020204020204" pitchFamily="34" charset="-122"/>
                <a:cs typeface="+mn-ea"/>
                <a:sym typeface="+mn-ea"/>
              </a:rPr>
              <a:t>模型主要分为五个模块</a:t>
            </a:r>
            <a:r>
              <a:rPr lang="zh-CN" altLang="en-US" dirty="0">
                <a:solidFill>
                  <a:srgbClr val="000000"/>
                </a:solidFill>
                <a:latin typeface="微软雅黑" panose="020B0503020204020204" pitchFamily="34" charset="-122"/>
                <a:ea typeface="微软雅黑" panose="020B0503020204020204" pitchFamily="34" charset="-122"/>
                <a:cs typeface="+mn-ea"/>
                <a:sym typeface="+mn-ea"/>
              </a:rPr>
              <a:t>：</a:t>
            </a:r>
            <a:endParaRPr lang="zh-CN" altLang="en-US"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dirty="0">
                <a:solidFill>
                  <a:srgbClr val="00539E"/>
                </a:solidFill>
                <a:latin typeface="微软雅黑" panose="020B0503020204020204" pitchFamily="34" charset="-122"/>
                <a:ea typeface="微软雅黑" panose="020B0503020204020204" pitchFamily="34" charset="-122"/>
                <a:cs typeface="+mn-ea"/>
                <a:sym typeface="+mn-ea"/>
              </a:rPr>
              <a:t>指令微调</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：利用情绪分析数据集，</a:t>
            </a:r>
            <a:r>
              <a:rPr lang="zh-CN" altLang="en-US" sz="1600" dirty="0">
                <a:solidFill>
                  <a:srgbClr val="000000"/>
                </a:solidFill>
                <a:latin typeface="微软雅黑" panose="020B0503020204020204" pitchFamily="34" charset="-122"/>
                <a:ea typeface="微软雅黑" panose="020B0503020204020204" pitchFamily="34" charset="-122"/>
                <a:cs typeface="+mn-ea"/>
              </a:rPr>
              <a:t>基于梯度的优化方法最大化生成预期金融情感标签的概率。</a:t>
            </a:r>
            <a:endParaRPr lang="en-US" altLang="zh-CN" sz="1600" dirty="0">
              <a:solidFill>
                <a:srgbClr val="000000"/>
              </a:solidFill>
              <a:latin typeface="微软雅黑" panose="020B0503020204020204" pitchFamily="34" charset="-122"/>
              <a:ea typeface="微软雅黑" panose="020B0503020204020204" pitchFamily="34" charset="-122"/>
              <a:cs typeface="+mn-ea"/>
            </a:endParaRPr>
          </a:p>
          <a:p>
            <a:pPr algn="just">
              <a:lnSpc>
                <a:spcPct val="150000"/>
              </a:lnSpc>
            </a:pPr>
            <a:r>
              <a:rPr lang="zh-CN" altLang="en-US" sz="1600" dirty="0">
                <a:solidFill>
                  <a:srgbClr val="00539E"/>
                </a:solidFill>
                <a:latin typeface="微软雅黑" panose="020B0503020204020204" pitchFamily="34" charset="-122"/>
                <a:ea typeface="微软雅黑" panose="020B0503020204020204" pitchFamily="34" charset="-122"/>
                <a:cs typeface="+mn-ea"/>
                <a:sym typeface="+mn-ea"/>
              </a:rPr>
              <a:t>提示建设模块：</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新闻中加入标签（提示词），方便识别。</a:t>
            </a:r>
            <a:endParaRPr lang="zh-CN" altLang="en-US"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dirty="0">
                <a:solidFill>
                  <a:srgbClr val="00539E"/>
                </a:solidFill>
                <a:latin typeface="微软雅黑" panose="020B0503020204020204" pitchFamily="34" charset="-122"/>
                <a:ea typeface="微软雅黑" panose="020B0503020204020204" pitchFamily="34" charset="-122"/>
                <a:cs typeface="+mn-ea"/>
                <a:sym typeface="+mn-ea"/>
              </a:rPr>
              <a:t>检索增强模块：</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功能是从多个知识源查询和新闻匹配的上下文</a:t>
            </a:r>
            <a:endParaRPr lang="zh-CN" altLang="en-US"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dirty="0">
                <a:solidFill>
                  <a:srgbClr val="00539E"/>
                </a:solidFill>
                <a:latin typeface="微软雅黑" panose="020B0503020204020204" pitchFamily="34" charset="-122"/>
                <a:ea typeface="微软雅黑" panose="020B0503020204020204" pitchFamily="34" charset="-122"/>
                <a:cs typeface="+mn-ea"/>
                <a:sym typeface="+mn-ea"/>
              </a:rPr>
              <a:t>金融知识库模块：</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新闻来源、研究出版平台、社交媒体平台</a:t>
            </a:r>
            <a:endParaRPr lang="zh-CN" altLang="en-US"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dirty="0">
                <a:solidFill>
                  <a:srgbClr val="00539E"/>
                </a:solidFill>
                <a:latin typeface="微软雅黑" panose="020B0503020204020204" pitchFamily="34" charset="-122"/>
                <a:ea typeface="微软雅黑" panose="020B0503020204020204" pitchFamily="34" charset="-122"/>
                <a:cs typeface="+mn-ea"/>
                <a:sym typeface="+mn-ea"/>
              </a:rPr>
              <a:t>大语言模型处理模块：</a:t>
            </a:r>
            <a:r>
              <a:rPr lang="zh-CN" altLang="en-US" sz="1600" dirty="0">
                <a:solidFill>
                  <a:srgbClr val="000000"/>
                </a:solidFill>
                <a:latin typeface="微软雅黑" panose="020B0503020204020204" pitchFamily="34" charset="-122"/>
                <a:ea typeface="微软雅黑" panose="020B0503020204020204" pitchFamily="34" charset="-122"/>
                <a:cs typeface="+mn-ea"/>
                <a:sym typeface="+mn-ea"/>
              </a:rPr>
              <a:t>微调后的模型输入上下文后再进行预测</a:t>
            </a:r>
            <a:endParaRPr lang="en-US" altLang="zh-CN" sz="1600"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大致</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原理如下</a:t>
            </a:r>
            <a:r>
              <a:rPr lang="zh-CN" altLang="en-US" sz="1600" b="1" dirty="0">
                <a:solidFill>
                  <a:srgbClr val="000000"/>
                </a:solidFill>
                <a:latin typeface="微软雅黑" panose="020B0503020204020204" pitchFamily="34" charset="-122"/>
                <a:ea typeface="微软雅黑" panose="020B0503020204020204" pitchFamily="34" charset="-122"/>
                <a:cs typeface="+mn-ea"/>
                <a:sym typeface="+mn-ea"/>
              </a:rPr>
              <a:t>：</a:t>
            </a:r>
            <a:endParaRPr lang="zh-CN" altLang="en-US" sz="1600" b="1"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在推理的时候加入提前准备好的金融知识库的信息（包括新闻、研究出版物、社交媒体）进行检索，扩充大语言模型识别的上下文，提升语言模型预测的</a:t>
            </a:r>
            <a:r>
              <a:rPr lang="zh-CN" altLang="en-US" sz="1600" b="1" dirty="0">
                <a:solidFill>
                  <a:srgbClr val="00539E"/>
                </a:solidFill>
                <a:latin typeface="微软雅黑" panose="020B0503020204020204" pitchFamily="34" charset="-122"/>
                <a:ea typeface="微软雅黑" panose="020B0503020204020204" pitchFamily="34" charset="-122"/>
                <a:cs typeface="+mn-ea"/>
                <a:sym typeface="+mn-ea"/>
              </a:rPr>
              <a:t>准确性</a:t>
            </a:r>
            <a:endParaRPr lang="zh-CN" altLang="en-US" sz="1600" b="1" dirty="0">
              <a:solidFill>
                <a:srgbClr val="00539E"/>
              </a:solidFill>
              <a:latin typeface="微软雅黑" panose="020B0503020204020204" pitchFamily="34" charset="-122"/>
              <a:ea typeface="微软雅黑" panose="020B0503020204020204" pitchFamily="34" charset="-122"/>
              <a:cs typeface="+mn-ea"/>
              <a:sym typeface="+mn-ea"/>
            </a:endParaRPr>
          </a:p>
        </p:txBody>
      </p:sp>
      <p:sp>
        <p:nvSpPr>
          <p:cNvPr id="5" name="文本框 4"/>
          <p:cNvSpPr txBox="1"/>
          <p:nvPr/>
        </p:nvSpPr>
        <p:spPr>
          <a:xfrm>
            <a:off x="2562421" y="5923668"/>
            <a:ext cx="1433726" cy="418191"/>
          </a:xfrm>
          <a:prstGeom prst="rect">
            <a:avLst/>
          </a:prstGeom>
          <a:noFill/>
        </p:spPr>
        <p:txBody>
          <a:bodyPr wrap="none" rtlCol="0">
            <a:spAutoFit/>
          </a:bodyPr>
          <a:lstStyle/>
          <a:p>
            <a:pPr algn="just">
              <a:lnSpc>
                <a:spcPct val="150000"/>
              </a:lnSpc>
            </a:pPr>
            <a:r>
              <a:rPr lang="en-US" altLang="zh-CN" sz="1600" dirty="0">
                <a:solidFill>
                  <a:srgbClr val="000000"/>
                </a:solidFill>
                <a:latin typeface="微软雅黑" panose="020B0503020204020204" pitchFamily="34" charset="-122"/>
                <a:ea typeface="微软雅黑" panose="020B0503020204020204" pitchFamily="34" charset="-122"/>
                <a:cs typeface="+mn-ea"/>
              </a:rPr>
              <a:t>RAG</a:t>
            </a:r>
            <a:r>
              <a:rPr lang="zh-CN" altLang="en-US" sz="1600" dirty="0">
                <a:solidFill>
                  <a:srgbClr val="000000"/>
                </a:solidFill>
                <a:latin typeface="微软雅黑" panose="020B0503020204020204" pitchFamily="34" charset="-122"/>
                <a:ea typeface="微软雅黑" panose="020B0503020204020204" pitchFamily="34" charset="-122"/>
                <a:cs typeface="+mn-ea"/>
              </a:rPr>
              <a:t>网络结构</a:t>
            </a:r>
            <a:endParaRPr lang="zh-CN" altLang="en-US" sz="160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03</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54" name="矩形 53"/>
          <p:cNvSpPr/>
          <p:nvPr/>
        </p:nvSpPr>
        <p:spPr>
          <a:xfrm>
            <a:off x="5266000" y="3707215"/>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lang="zh-CN" altLang="en-US" sz="5400" b="1" dirty="0">
                <a:gradFill>
                  <a:gsLst>
                    <a:gs pos="0">
                      <a:srgbClr val="4472C4">
                        <a:lumMod val="50000"/>
                      </a:srgbClr>
                    </a:gs>
                    <a:gs pos="100000">
                      <a:srgbClr val="0070C0"/>
                    </a:gs>
                  </a:gsLst>
                  <a:lin ang="0" scaled="1"/>
                </a:gradFill>
                <a:latin typeface="微软雅黑" panose="020B0503020204020204" pitchFamily="34" charset="-122"/>
                <a:ea typeface="微软雅黑" panose="020B0503020204020204" pitchFamily="34" charset="-122"/>
              </a:rPr>
              <a:t>项目</a:t>
            </a:r>
            <a:r>
              <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rPr>
              <a:t>成果</a:t>
            </a:r>
            <a:endPar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endParaRPr>
          </a:p>
        </p:txBody>
      </p:sp>
      <p:cxnSp>
        <p:nvCxnSpPr>
          <p:cNvPr id="56" name="直接箭头连接符 55"/>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266000" y="4864219"/>
            <a:ext cx="1392048" cy="400110"/>
          </a:xfrm>
          <a:prstGeom prst="rect">
            <a:avLst/>
          </a:prstGeom>
        </p:spPr>
        <p:txBody>
          <a:bodyPr wrap="none">
            <a:spAutoFit/>
          </a:bodyPr>
          <a:lstStyle/>
          <a:p>
            <a:pPr marL="179705" indent="-179705">
              <a:spcBef>
                <a:spcPct val="20000"/>
              </a:spcBef>
              <a:buFont typeface="Arial" panose="020B0604020202020204" pitchFamily="34" charset="0"/>
              <a:buChar cha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数据爬取</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7" name="矩形 6"/>
          <p:cNvSpPr/>
          <p:nvPr/>
        </p:nvSpPr>
        <p:spPr>
          <a:xfrm>
            <a:off x="5962024" y="5695043"/>
            <a:ext cx="2543004" cy="400110"/>
          </a:xfrm>
          <a:prstGeom prst="rect">
            <a:avLst/>
          </a:prstGeom>
        </p:spPr>
        <p:txBody>
          <a:bodyPr wrap="none">
            <a:spAutoFit/>
          </a:bodyPr>
          <a:lstStyle/>
          <a:p>
            <a:pPr marL="179705" indent="-179705">
              <a:spcBef>
                <a:spcPct val="20000"/>
              </a:spcBef>
              <a:buFont typeface="Arial" panose="020B0604020202020204" pitchFamily="34" charset="0"/>
              <a:buChar char="•"/>
            </a:pPr>
            <a:r>
              <a:rPr lang="en-US" altLang="zh-CN" sz="2000" i="1" kern="0" dirty="0" err="1">
                <a:solidFill>
                  <a:prstClr val="black">
                    <a:lumMod val="95000"/>
                    <a:lumOff val="5000"/>
                  </a:prstClr>
                </a:solidFill>
                <a:latin typeface="微软雅黑" panose="020B0503020204020204" pitchFamily="34" charset="-122"/>
                <a:ea typeface="微软雅黑" panose="020B0503020204020204" pitchFamily="34" charset="-122"/>
              </a:rPr>
              <a:t>LoRA</a:t>
            </a: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微调及其改进</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9304394" y="5695043"/>
            <a:ext cx="1930657" cy="400110"/>
          </a:xfrm>
          <a:prstGeom prst="rect">
            <a:avLst/>
          </a:prstGeom>
        </p:spPr>
        <p:txBody>
          <a:bodyPr wrap="none">
            <a:spAutoFit/>
          </a:bodyPr>
          <a:lstStyle/>
          <a:p>
            <a:pPr marL="179705" lvl="0" indent="-179705">
              <a:spcBef>
                <a:spcPct val="20000"/>
              </a:spcBef>
              <a:buFont typeface="Arial" panose="020B0604020202020204" pitchFamily="34" charset="0"/>
              <a:buChar char="•"/>
              <a:defRP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增添</a:t>
            </a:r>
            <a:r>
              <a:rPr lang="en-US" altLang="zh-CN" sz="2000" i="1" kern="0" dirty="0">
                <a:solidFill>
                  <a:prstClr val="black">
                    <a:lumMod val="95000"/>
                    <a:lumOff val="5000"/>
                  </a:prstClr>
                </a:solidFill>
                <a:latin typeface="微软雅黑" panose="020B0503020204020204" pitchFamily="34" charset="-122"/>
                <a:ea typeface="微软雅黑" panose="020B0503020204020204" pitchFamily="34" charset="-122"/>
              </a:rPr>
              <a:t>RAG</a:t>
            </a: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模块</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9" name="矩形 8"/>
          <p:cNvSpPr/>
          <p:nvPr/>
        </p:nvSpPr>
        <p:spPr>
          <a:xfrm>
            <a:off x="8033057" y="4891848"/>
            <a:ext cx="1683794" cy="400110"/>
          </a:xfrm>
          <a:prstGeom prst="rect">
            <a:avLst/>
          </a:prstGeom>
        </p:spPr>
        <p:txBody>
          <a:bodyPr wrap="none">
            <a:spAutoFit/>
          </a:bodyPr>
          <a:lstStyle/>
          <a:p>
            <a:pPr marL="179705" lvl="0" indent="-179705">
              <a:spcBef>
                <a:spcPct val="20000"/>
              </a:spcBef>
              <a:buFont typeface="Arial" panose="020B0604020202020204" pitchFamily="34" charset="0"/>
              <a:buChar char="•"/>
              <a:defRP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超参数实验</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1152000" y="288000"/>
            <a:ext cx="24688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数据集</a:t>
            </a: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选取</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1225550" y="1009015"/>
            <a:ext cx="8324215" cy="2168525"/>
          </a:xfrm>
          <a:prstGeom prst="rect">
            <a:avLst/>
          </a:prstGeom>
          <a:noFill/>
        </p:spPr>
        <p:txBody>
          <a:bodyPr wrap="square">
            <a:spAutoFit/>
          </a:bodyPr>
          <a:lstStyle/>
          <a:p>
            <a:pPr marL="285750" indent="-285750">
              <a:lnSpc>
                <a:spcPct val="150000"/>
              </a:lnSpc>
              <a:buFont typeface="Wingdings" panose="05000000000000000000" charset="0"/>
              <a:buChar char="Ø"/>
            </a:pPr>
            <a:r>
              <a:rPr lang="zh-CN" altLang="en-US" b="1" dirty="0">
                <a:solidFill>
                  <a:srgbClr val="000000"/>
                </a:solidFill>
                <a:latin typeface="微软雅黑" panose="020B0503020204020204" pitchFamily="34" charset="-122"/>
                <a:ea typeface="微软雅黑" panose="020B0503020204020204" pitchFamily="34" charset="-122"/>
                <a:cs typeface="+mn-ea"/>
                <a:sym typeface="+mn-ea"/>
              </a:rPr>
              <a:t>训练集：</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mn-ea"/>
                <a:sym typeface="+mn-ea"/>
              </a:rPr>
              <a:t>Twitter </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mn-ea"/>
                <a:sym typeface="+mn-ea"/>
              </a:rPr>
              <a:t>财经新闻数据集</a:t>
            </a:r>
            <a:r>
              <a:rPr lang="zh-CN" altLang="en-US" dirty="0">
                <a:solidFill>
                  <a:schemeClr val="tx1"/>
                </a:solidFill>
                <a:latin typeface="微软雅黑" panose="020B0503020204020204" pitchFamily="34" charset="-122"/>
                <a:ea typeface="微软雅黑" panose="020B0503020204020204" pitchFamily="34" charset="-122"/>
                <a:cs typeface="+mn-ea"/>
                <a:sym typeface="+mn-ea"/>
              </a:rPr>
              <a:t>（</a:t>
            </a:r>
            <a:r>
              <a:rPr lang="en-US" altLang="zh-CN" dirty="0">
                <a:solidFill>
                  <a:schemeClr val="tx1"/>
                </a:solidFill>
                <a:latin typeface="微软雅黑" panose="020B0503020204020204" pitchFamily="34" charset="-122"/>
                <a:ea typeface="微软雅黑" panose="020B0503020204020204" pitchFamily="34" charset="-122"/>
                <a:cs typeface="+mn-ea"/>
                <a:sym typeface="+mn-ea"/>
              </a:rPr>
              <a:t>Twitter-Financial-News-Sentiment)</a:t>
            </a:r>
            <a:r>
              <a:rPr lang="zh-CN" altLang="en-US" dirty="0">
                <a:solidFill>
                  <a:srgbClr val="000000"/>
                </a:solidFill>
                <a:latin typeface="微软雅黑" panose="020B0503020204020204" pitchFamily="34" charset="-122"/>
                <a:ea typeface="微软雅黑" panose="020B0503020204020204" pitchFamily="34" charset="-122"/>
                <a:cs typeface="+mn-ea"/>
                <a:sym typeface="+mn-ea"/>
              </a:rPr>
              <a:t>是一个英文数据集，包含带注释的财经相关推文语料库。该数据集用于对金融相关推文的情感进行分类。</a:t>
            </a:r>
            <a:endParaRPr lang="zh-CN" altLang="en-US" dirty="0">
              <a:solidFill>
                <a:srgbClr val="000000"/>
              </a:solidFill>
              <a:latin typeface="微软雅黑" panose="020B0503020204020204" pitchFamily="34" charset="-122"/>
              <a:ea typeface="微软雅黑" panose="020B0503020204020204" pitchFamily="34" charset="-122"/>
              <a:cs typeface="+mn-ea"/>
              <a:sym typeface="+mn-ea"/>
            </a:endParaRPr>
          </a:p>
          <a:p>
            <a:pPr>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mn-ea"/>
              <a:sym typeface="+mn-ea"/>
            </a:endParaRPr>
          </a:p>
          <a:p>
            <a:pPr>
              <a:lnSpc>
                <a:spcPct val="150000"/>
              </a:lnSpc>
            </a:pPr>
            <a:endParaRPr lang="en-US" altLang="zh-CN" dirty="0">
              <a:solidFill>
                <a:srgbClr val="000000"/>
              </a:solidFill>
              <a:latin typeface="微软雅黑" panose="020B0503020204020204" pitchFamily="34" charset="-122"/>
              <a:ea typeface="微软雅黑" panose="020B0503020204020204" pitchFamily="34" charset="-122"/>
              <a:cs typeface="+mn-ea"/>
              <a:sym typeface="+mn-ea"/>
            </a:endParaRPr>
          </a:p>
        </p:txBody>
      </p:sp>
      <p:sp>
        <p:nvSpPr>
          <p:cNvPr id="3" name="文本框 2"/>
          <p:cNvSpPr txBox="1"/>
          <p:nvPr/>
        </p:nvSpPr>
        <p:spPr>
          <a:xfrm>
            <a:off x="1225550" y="2493645"/>
            <a:ext cx="8690610" cy="4246245"/>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Font typeface="Wingdings" panose="05000000000000000000" charset="0"/>
              <a:buChar char="Ø"/>
            </a:pPr>
            <a:r>
              <a:rPr lang="zh-CN" altLang="en-US" sz="1800" b="1">
                <a:latin typeface="Arial" panose="020B0604020202020204" pitchFamily="34" charset="0"/>
                <a:ea typeface="微软雅黑" panose="020B0503020204020204" pitchFamily="34" charset="-122"/>
              </a:rPr>
              <a:t>测试集：</a:t>
            </a:r>
            <a:endParaRPr lang="zh-CN" altLang="en-US" sz="1800" b="1">
              <a:latin typeface="Arial" panose="020B0604020202020204" pitchFamily="34" charset="0"/>
              <a:ea typeface="微软雅黑" panose="020B0503020204020204" pitchFamily="34" charset="-122"/>
            </a:endParaRPr>
          </a:p>
          <a:p>
            <a:pPr marL="285750" indent="-285750" algn="l">
              <a:buFont typeface="Wingdings" panose="05000000000000000000" charset="0"/>
              <a:buChar char="ü"/>
            </a:pPr>
            <a:r>
              <a:rPr lang="en-US" altLang="zh-CN" sz="1800" b="1">
                <a:latin typeface="Arial" panose="020B0604020202020204" pitchFamily="34" charset="0"/>
                <a:ea typeface="微软雅黑" panose="020B0503020204020204" pitchFamily="34" charset="-122"/>
              </a:rPr>
              <a:t>Financial PhraseBank (FPB)</a:t>
            </a:r>
            <a:endParaRPr lang="en-US" altLang="zh-CN" sz="1800" b="1">
              <a:latin typeface="Arial" panose="020B0604020202020204" pitchFamily="34" charset="0"/>
              <a:ea typeface="微软雅黑" panose="020B0503020204020204" pitchFamily="34" charset="-122"/>
            </a:endParaRPr>
          </a:p>
          <a:p>
            <a:pPr indent="457200" algn="l"/>
            <a:r>
              <a:rPr lang="en-US" altLang="zh-CN" sz="1800">
                <a:latin typeface="Arial" panose="020B0604020202020204" pitchFamily="34" charset="0"/>
                <a:ea typeface="微软雅黑" panose="020B0503020204020204" pitchFamily="34" charset="-122"/>
              </a:rPr>
              <a:t>FPB </a:t>
            </a:r>
            <a:r>
              <a:rPr lang="zh-CN" altLang="en-US" sz="1800">
                <a:latin typeface="Arial" panose="020B0604020202020204" pitchFamily="34" charset="0"/>
                <a:ea typeface="微软雅黑" panose="020B0503020204020204" pitchFamily="34" charset="-122"/>
              </a:rPr>
              <a:t>是金融情感分析的经典基准。它包含由金融专家标注的英文新闻句子，用于训练模型对句子进行积极、消极、中性的三分类情感判断。</a:t>
            </a:r>
            <a:r>
              <a:rPr lang="en-US" altLang="zh-CN" sz="1800">
                <a:latin typeface="Arial" panose="020B0604020202020204" pitchFamily="34" charset="0"/>
                <a:ea typeface="微软雅黑" panose="020B0503020204020204" pitchFamily="34" charset="-122"/>
              </a:rPr>
              <a:t>FPB </a:t>
            </a:r>
            <a:r>
              <a:rPr lang="zh-CN" altLang="en-US" sz="1800">
                <a:latin typeface="Arial" panose="020B0604020202020204" pitchFamily="34" charset="0"/>
                <a:ea typeface="微软雅黑" panose="020B0503020204020204" pitchFamily="34" charset="-122"/>
              </a:rPr>
              <a:t>因其</a:t>
            </a:r>
            <a:r>
              <a:rPr lang="zh-CN" altLang="en-US" sz="1800" b="1">
                <a:solidFill>
                  <a:schemeClr val="accent5">
                    <a:lumMod val="75000"/>
                  </a:schemeClr>
                </a:solidFill>
                <a:latin typeface="Arial" panose="020B0604020202020204" pitchFamily="34" charset="0"/>
                <a:ea typeface="微软雅黑" panose="020B0503020204020204" pitchFamily="34" charset="-122"/>
              </a:rPr>
              <a:t>高质量的专家标签</a:t>
            </a:r>
            <a:r>
              <a:rPr lang="zh-CN" altLang="en-US" sz="1800">
                <a:latin typeface="Arial" panose="020B0604020202020204" pitchFamily="34" charset="0"/>
                <a:ea typeface="微软雅黑" panose="020B0503020204020204" pitchFamily="34" charset="-122"/>
              </a:rPr>
              <a:t>，常用于</a:t>
            </a:r>
            <a:r>
              <a:rPr lang="zh-CN" altLang="en-US" sz="1800" b="1">
                <a:solidFill>
                  <a:schemeClr val="accent5">
                    <a:lumMod val="75000"/>
                  </a:schemeClr>
                </a:solidFill>
                <a:latin typeface="Arial" panose="020B0604020202020204" pitchFamily="34" charset="0"/>
                <a:ea typeface="微软雅黑" panose="020B0503020204020204" pitchFamily="34" charset="-122"/>
              </a:rPr>
              <a:t>验证金融情感分析模型</a:t>
            </a:r>
            <a:r>
              <a:rPr lang="zh-CN" altLang="en-US" sz="1800">
                <a:latin typeface="Arial" panose="020B0604020202020204" pitchFamily="34" charset="0"/>
                <a:ea typeface="微软雅黑" panose="020B0503020204020204" pitchFamily="34" charset="-122"/>
              </a:rPr>
              <a:t>的基础性能。</a:t>
            </a:r>
            <a:endParaRPr lang="zh-CN" altLang="en-US" sz="1800">
              <a:latin typeface="Arial" panose="020B0604020202020204" pitchFamily="34" charset="0"/>
              <a:ea typeface="微软雅黑" panose="020B0503020204020204" pitchFamily="34" charset="-122"/>
            </a:endParaRPr>
          </a:p>
          <a:p>
            <a:pPr algn="l"/>
            <a:endParaRPr lang="en-US" altLang="zh-CN" sz="1800" b="1">
              <a:latin typeface="Arial" panose="020B0604020202020204" pitchFamily="34" charset="0"/>
              <a:ea typeface="微软雅黑" panose="020B0503020204020204" pitchFamily="34" charset="-122"/>
            </a:endParaRPr>
          </a:p>
          <a:p>
            <a:pPr marL="285750" indent="-285750" algn="l">
              <a:buFont typeface="Wingdings" panose="05000000000000000000" charset="0"/>
              <a:buChar char="ü"/>
            </a:pPr>
            <a:r>
              <a:rPr lang="en-US" altLang="zh-CN" sz="1800" b="1">
                <a:latin typeface="Arial" panose="020B0604020202020204" pitchFamily="34" charset="0"/>
                <a:ea typeface="微软雅黑" panose="020B0503020204020204" pitchFamily="34" charset="-122"/>
              </a:rPr>
              <a:t>FiQA-SA</a:t>
            </a:r>
            <a:endParaRPr lang="en-US" altLang="zh-CN" sz="1800" b="1">
              <a:latin typeface="Arial" panose="020B0604020202020204" pitchFamily="34" charset="0"/>
              <a:ea typeface="微软雅黑" panose="020B0503020204020204" pitchFamily="34" charset="-122"/>
            </a:endParaRPr>
          </a:p>
          <a:p>
            <a:pPr indent="457200" algn="l"/>
            <a:r>
              <a:rPr lang="en-US" altLang="zh-CN" sz="1800">
                <a:latin typeface="Arial" panose="020B0604020202020204" pitchFamily="34" charset="0"/>
                <a:ea typeface="微软雅黑" panose="020B0503020204020204" pitchFamily="34" charset="-122"/>
              </a:rPr>
              <a:t>FiQA-SA </a:t>
            </a:r>
            <a:r>
              <a:rPr lang="zh-CN" altLang="en-US" sz="1800">
                <a:latin typeface="Arial" panose="020B0604020202020204" pitchFamily="34" charset="0"/>
                <a:ea typeface="微软雅黑" panose="020B0503020204020204" pitchFamily="34" charset="-122"/>
              </a:rPr>
              <a:t>是一个</a:t>
            </a:r>
            <a:r>
              <a:rPr lang="zh-CN" altLang="en-US" sz="1800" b="1">
                <a:solidFill>
                  <a:schemeClr val="accent5">
                    <a:lumMod val="75000"/>
                  </a:schemeClr>
                </a:solidFill>
                <a:latin typeface="Arial" panose="020B0604020202020204" pitchFamily="34" charset="0"/>
                <a:ea typeface="微软雅黑" panose="020B0503020204020204" pitchFamily="34" charset="-122"/>
              </a:rPr>
              <a:t>规模较大、来源多样</a:t>
            </a:r>
            <a:r>
              <a:rPr lang="zh-CN" altLang="en-US" sz="1800">
                <a:latin typeface="Arial" panose="020B0604020202020204" pitchFamily="34" charset="0"/>
                <a:ea typeface="微软雅黑" panose="020B0503020204020204" pitchFamily="34" charset="-122"/>
              </a:rPr>
              <a:t>的金融情感数据集。它结合了金融新闻和微型博客头条的文本，用于执行三分类情感分析任务。该数据集有助于</a:t>
            </a:r>
            <a:r>
              <a:rPr lang="zh-CN" altLang="en-US" sz="1800" b="1">
                <a:solidFill>
                  <a:schemeClr val="accent5">
                    <a:lumMod val="75000"/>
                  </a:schemeClr>
                </a:solidFill>
                <a:latin typeface="Arial" panose="020B0604020202020204" pitchFamily="34" charset="0"/>
                <a:ea typeface="微软雅黑" panose="020B0503020204020204" pitchFamily="34" charset="-122"/>
              </a:rPr>
              <a:t>评估模型在处理不同金融文本风格</a:t>
            </a:r>
            <a:r>
              <a:rPr lang="zh-CN" altLang="en-US" sz="1800">
                <a:latin typeface="Arial" panose="020B0604020202020204" pitchFamily="34" charset="0"/>
                <a:ea typeface="微软雅黑" panose="020B0503020204020204" pitchFamily="34" charset="-122"/>
              </a:rPr>
              <a:t>（正式与非正式）时的泛化能力。</a:t>
            </a:r>
            <a:endParaRPr lang="zh-CN" altLang="en-US" sz="1800">
              <a:latin typeface="Arial" panose="020B0604020202020204" pitchFamily="34" charset="0"/>
              <a:ea typeface="微软雅黑" panose="020B0503020204020204" pitchFamily="34" charset="-122"/>
            </a:endParaRPr>
          </a:p>
          <a:p>
            <a:pPr algn="l"/>
            <a:endParaRPr lang="en-US" altLang="zh-CN" sz="1800">
              <a:latin typeface="Arial" panose="020B0604020202020204" pitchFamily="34" charset="0"/>
              <a:ea typeface="微软雅黑" panose="020B0503020204020204" pitchFamily="34" charset="-122"/>
            </a:endParaRPr>
          </a:p>
          <a:p>
            <a:pPr marL="285750" indent="-285750" algn="l">
              <a:buFont typeface="Wingdings" panose="05000000000000000000" charset="0"/>
              <a:buChar char="ü"/>
            </a:pPr>
            <a:r>
              <a:rPr lang="en-US" altLang="zh-CN" sz="1800" b="1">
                <a:latin typeface="Arial" panose="020B0604020202020204" pitchFamily="34" charset="0"/>
                <a:ea typeface="微软雅黑" panose="020B0503020204020204" pitchFamily="34" charset="-122"/>
              </a:rPr>
              <a:t>NWGI</a:t>
            </a:r>
            <a:endParaRPr lang="en-US" altLang="zh-CN" sz="1800" b="1">
              <a:latin typeface="Arial" panose="020B0604020202020204" pitchFamily="34" charset="0"/>
              <a:ea typeface="微软雅黑" panose="020B0503020204020204" pitchFamily="34" charset="-122"/>
            </a:endParaRPr>
          </a:p>
          <a:p>
            <a:pPr indent="457200" algn="l"/>
            <a:r>
              <a:rPr lang="en-US" altLang="zh-CN" sz="1800">
                <a:latin typeface="Arial" panose="020B0604020202020204" pitchFamily="34" charset="0"/>
                <a:ea typeface="微软雅黑" panose="020B0503020204020204" pitchFamily="34" charset="-122"/>
              </a:rPr>
              <a:t>NWGI </a:t>
            </a:r>
            <a:r>
              <a:rPr lang="zh-CN" altLang="en-US" sz="1800">
                <a:latin typeface="Arial" panose="020B0604020202020204" pitchFamily="34" charset="0"/>
                <a:ea typeface="微软雅黑" panose="020B0503020204020204" pitchFamily="34" charset="-122"/>
              </a:rPr>
              <a:t>的独特之处在于其标签和推理理由是由大型语言模型（如</a:t>
            </a:r>
            <a:r>
              <a:rPr lang="en-US" altLang="zh-CN" sz="1800">
                <a:latin typeface="Arial" panose="020B0604020202020204" pitchFamily="34" charset="0"/>
                <a:ea typeface="微软雅黑" panose="020B0503020204020204" pitchFamily="34" charset="-122"/>
              </a:rPr>
              <a:t> GPT</a:t>
            </a:r>
            <a:r>
              <a:rPr lang="zh-CN" altLang="en-US" sz="1800">
                <a:latin typeface="Arial" panose="020B0604020202020204" pitchFamily="34" charset="0"/>
                <a:ea typeface="微软雅黑" panose="020B0503020204020204" pitchFamily="34" charset="-122"/>
              </a:rPr>
              <a:t>）生成的。它专注于新闻文本，提供比传统三分类更详细的</a:t>
            </a:r>
            <a:r>
              <a:rPr lang="en-US" altLang="zh-CN" sz="1800">
                <a:latin typeface="Arial" panose="020B0604020202020204" pitchFamily="34" charset="0"/>
                <a:ea typeface="微软雅黑" panose="020B0503020204020204" pitchFamily="34" charset="-122"/>
              </a:rPr>
              <a:t>7</a:t>
            </a:r>
            <a:r>
              <a:rPr lang="zh-CN" altLang="en-US" sz="1800">
                <a:latin typeface="Arial" panose="020B0604020202020204" pitchFamily="34" charset="0"/>
                <a:ea typeface="微软雅黑" panose="020B0503020204020204" pitchFamily="34" charset="-122"/>
              </a:rPr>
              <a:t>级情感强度标签。</a:t>
            </a:r>
            <a:r>
              <a:rPr lang="en-US" altLang="zh-CN" sz="1800">
                <a:latin typeface="Arial" panose="020B0604020202020204" pitchFamily="34" charset="0"/>
                <a:ea typeface="微软雅黑" panose="020B0503020204020204" pitchFamily="34" charset="-122"/>
              </a:rPr>
              <a:t>NWGI </a:t>
            </a:r>
            <a:r>
              <a:rPr lang="zh-CN" altLang="en-US" sz="1800">
                <a:latin typeface="Arial" panose="020B0604020202020204" pitchFamily="34" charset="0"/>
                <a:ea typeface="微软雅黑" panose="020B0503020204020204" pitchFamily="34" charset="-122"/>
              </a:rPr>
              <a:t>特别适合用于指令微调，以</a:t>
            </a:r>
            <a:r>
              <a:rPr lang="zh-CN" altLang="en-US" sz="1800" b="1">
                <a:solidFill>
                  <a:schemeClr val="accent5">
                    <a:lumMod val="75000"/>
                  </a:schemeClr>
                </a:solidFill>
                <a:latin typeface="Arial" panose="020B0604020202020204" pitchFamily="34" charset="0"/>
                <a:ea typeface="微软雅黑" panose="020B0503020204020204" pitchFamily="34" charset="-122"/>
              </a:rPr>
              <a:t>提高金融</a:t>
            </a:r>
            <a:r>
              <a:rPr lang="en-US" altLang="zh-CN" sz="1800" b="1">
                <a:solidFill>
                  <a:schemeClr val="accent5">
                    <a:lumMod val="75000"/>
                  </a:schemeClr>
                </a:solidFill>
                <a:latin typeface="Arial" panose="020B0604020202020204" pitchFamily="34" charset="0"/>
                <a:ea typeface="微软雅黑" panose="020B0503020204020204" pitchFamily="34" charset="-122"/>
              </a:rPr>
              <a:t> LLM </a:t>
            </a:r>
            <a:r>
              <a:rPr lang="zh-CN" altLang="en-US" sz="1800" b="1">
                <a:solidFill>
                  <a:schemeClr val="accent5">
                    <a:lumMod val="75000"/>
                  </a:schemeClr>
                </a:solidFill>
                <a:latin typeface="Arial" panose="020B0604020202020204" pitchFamily="34" charset="0"/>
                <a:ea typeface="微软雅黑" panose="020B0503020204020204" pitchFamily="34" charset="-122"/>
              </a:rPr>
              <a:t>的解释性和精细情感判断能力</a:t>
            </a:r>
            <a:r>
              <a:rPr lang="zh-CN" altLang="en-US" sz="1800">
                <a:latin typeface="Arial" panose="020B0604020202020204" pitchFamily="34" charset="0"/>
                <a:ea typeface="微软雅黑" panose="020B0503020204020204" pitchFamily="34" charset="-122"/>
              </a:rPr>
              <a:t>。</a:t>
            </a:r>
            <a:endParaRPr lang="zh-CN" altLang="en-US" sz="180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6161"/>
    </mc:Choice>
    <mc:Fallback>
      <p:transition advTm="616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1152000" y="288000"/>
            <a:ext cx="2492990"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超参数实验</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2287244" y="1269733"/>
            <a:ext cx="7616815" cy="922020"/>
          </a:xfrm>
          <a:prstGeom prst="rect">
            <a:avLst/>
          </a:prstGeom>
          <a:noFill/>
        </p:spPr>
        <p:txBody>
          <a:bodyPr wrap="square">
            <a:spAutoFit/>
          </a:bodyPr>
          <a:lstStyle/>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mn-ea"/>
                <a:sym typeface="+mn-ea"/>
              </a:rPr>
              <a:t>在</a:t>
            </a:r>
            <a:r>
              <a:rPr lang="en-US" altLang="zh-CN" b="1" dirty="0" err="1">
                <a:solidFill>
                  <a:srgbClr val="00539E"/>
                </a:solidFill>
                <a:latin typeface="微软雅黑" panose="020B0503020204020204" pitchFamily="34" charset="-122"/>
                <a:ea typeface="微软雅黑" panose="020B0503020204020204" pitchFamily="34" charset="-122"/>
                <a:cs typeface="+mn-ea"/>
                <a:sym typeface="+mn-ea"/>
              </a:rPr>
              <a:t>colab</a:t>
            </a:r>
            <a:r>
              <a:rPr lang="zh-CN" altLang="en-US" b="1" dirty="0">
                <a:solidFill>
                  <a:srgbClr val="00539E"/>
                </a:solidFill>
                <a:latin typeface="微软雅黑" panose="020B0503020204020204" pitchFamily="34" charset="-122"/>
                <a:ea typeface="微软雅黑" panose="020B0503020204020204" pitchFamily="34" charset="-122"/>
                <a:cs typeface="+mn-ea"/>
                <a:sym typeface="+mn-ea"/>
              </a:rPr>
              <a:t>云平台</a:t>
            </a:r>
            <a:r>
              <a:rPr lang="zh-CN" altLang="en-US" dirty="0">
                <a:solidFill>
                  <a:srgbClr val="000000"/>
                </a:solidFill>
                <a:latin typeface="微软雅黑" panose="020B0503020204020204" pitchFamily="34" charset="-122"/>
                <a:ea typeface="微软雅黑" panose="020B0503020204020204" pitchFamily="34" charset="-122"/>
                <a:cs typeface="+mn-ea"/>
                <a:sym typeface="+mn-ea"/>
              </a:rPr>
              <a:t>上部署</a:t>
            </a:r>
            <a:r>
              <a:rPr lang="en-US" altLang="zh-CN" dirty="0">
                <a:solidFill>
                  <a:srgbClr val="000000"/>
                </a:solidFill>
                <a:latin typeface="微软雅黑" panose="020B0503020204020204" pitchFamily="34" charset="-122"/>
                <a:ea typeface="微软雅黑" panose="020B0503020204020204" pitchFamily="34" charset="-122"/>
                <a:cs typeface="+mn-ea"/>
                <a:sym typeface="+mn-ea"/>
              </a:rPr>
              <a:t>ChatGLM2-6B</a:t>
            </a:r>
            <a:r>
              <a:rPr lang="zh-CN" altLang="en-US" dirty="0">
                <a:solidFill>
                  <a:srgbClr val="000000"/>
                </a:solidFill>
                <a:latin typeface="微软雅黑" panose="020B0503020204020204" pitchFamily="34" charset="-122"/>
                <a:ea typeface="微软雅黑" panose="020B0503020204020204" pitchFamily="34" charset="-122"/>
                <a:cs typeface="+mn-ea"/>
                <a:sym typeface="+mn-ea"/>
              </a:rPr>
              <a:t>模型，使用</a:t>
            </a:r>
            <a:r>
              <a:rPr lang="en-US" altLang="zh-CN" b="1" dirty="0">
                <a:solidFill>
                  <a:srgbClr val="00539E"/>
                </a:solidFill>
                <a:latin typeface="微软雅黑" panose="020B0503020204020204" pitchFamily="34" charset="-122"/>
                <a:ea typeface="微软雅黑" panose="020B0503020204020204" pitchFamily="34" charset="-122"/>
                <a:cs typeface="+mn-ea"/>
                <a:sym typeface="+mn-ea"/>
              </a:rPr>
              <a:t>A100</a:t>
            </a:r>
            <a:r>
              <a:rPr lang="zh-CN" altLang="en-US" b="1" dirty="0">
                <a:solidFill>
                  <a:srgbClr val="00539E"/>
                </a:solidFill>
                <a:latin typeface="微软雅黑" panose="020B0503020204020204" pitchFamily="34" charset="-122"/>
                <a:ea typeface="微软雅黑" panose="020B0503020204020204" pitchFamily="34" charset="-122"/>
                <a:cs typeface="+mn-ea"/>
                <a:sym typeface="+mn-ea"/>
              </a:rPr>
              <a:t>显卡</a:t>
            </a:r>
            <a:r>
              <a:rPr lang="zh-CN" altLang="en-US" dirty="0">
                <a:solidFill>
                  <a:srgbClr val="000000"/>
                </a:solidFill>
                <a:latin typeface="微软雅黑" panose="020B0503020204020204" pitchFamily="34" charset="-122"/>
                <a:ea typeface="微软雅黑" panose="020B0503020204020204" pitchFamily="34" charset="-122"/>
                <a:cs typeface="+mn-ea"/>
                <a:sym typeface="+mn-ea"/>
              </a:rPr>
              <a:t>进行微调</a:t>
            </a:r>
            <a:endParaRPr lang="en-US" altLang="zh-CN" dirty="0">
              <a:solidFill>
                <a:srgbClr val="000000"/>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mn-ea"/>
                <a:sym typeface="+mn-ea"/>
              </a:rPr>
              <a:t>在以下数据集上进行测试评估性能，从而确定超参数</a:t>
            </a:r>
            <a:endParaRPr lang="zh-CN" altLang="en-US" dirty="0">
              <a:solidFill>
                <a:srgbClr val="000000"/>
              </a:solidFill>
              <a:latin typeface="微软雅黑" panose="020B0503020204020204" pitchFamily="34" charset="-122"/>
              <a:ea typeface="微软雅黑" panose="020B0503020204020204" pitchFamily="34" charset="-122"/>
              <a:cs typeface="+mn-ea"/>
              <a:sym typeface="+mn-ea"/>
            </a:endParaRPr>
          </a:p>
        </p:txBody>
      </p:sp>
      <p:pic>
        <p:nvPicPr>
          <p:cNvPr id="6" name="图片 5"/>
          <p:cNvPicPr/>
          <p:nvPr/>
        </p:nvPicPr>
        <p:blipFill>
          <a:blip r:embed="rId1"/>
          <a:stretch>
            <a:fillRect/>
          </a:stretch>
        </p:blipFill>
        <p:spPr>
          <a:xfrm>
            <a:off x="3015615" y="2713355"/>
            <a:ext cx="5931535" cy="31057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Tm="6161"/>
    </mc:Choice>
    <mc:Fallback>
      <p:transition advTm="616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koppt-连接线"/>
          <p:cNvCxnSpPr/>
          <p:nvPr/>
        </p:nvCxnSpPr>
        <p:spPr>
          <a:xfrm>
            <a:off x="568206" y="5567131"/>
            <a:ext cx="10989612" cy="0"/>
          </a:xfrm>
          <a:prstGeom prst="line">
            <a:avLst/>
          </a:prstGeom>
          <a:ln w="28575">
            <a:solidFill>
              <a:srgbClr val="C0C0C0"/>
            </a:solidFill>
            <a:prstDash val="dash"/>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568206" y="5722537"/>
            <a:ext cx="11315780" cy="662554"/>
          </a:xfrm>
          <a:prstGeom prst="rect">
            <a:avLst/>
          </a:prstGeom>
          <a:noFill/>
        </p:spPr>
        <p:txBody>
          <a:bodyPr wrap="square" rtlCol="0">
            <a:spAutoFit/>
          </a:bodyPr>
          <a:lstStyle/>
          <a:p>
            <a:pPr algn="ctr">
              <a:lnSpc>
                <a:spcPct val="150000"/>
              </a:lnSpc>
            </a:pPr>
            <a:r>
              <a:rPr lang="zh-CN" altLang="en-US" sz="2800" b="1" kern="100" dirty="0">
                <a:solidFill>
                  <a:schemeClr val="tx1">
                    <a:lumMod val="95000"/>
                    <a:lumOff val="5000"/>
                  </a:schemeClr>
                </a:solidFill>
                <a:latin typeface="微软雅黑" panose="020B0503020204020204" pitchFamily="34" charset="-122"/>
                <a:ea typeface="微软雅黑" panose="020B0503020204020204" pitchFamily="34" charset="-122"/>
              </a:rPr>
              <a:t>超参数实验结果</a:t>
            </a:r>
            <a:endParaRPr lang="zh-CN" altLang="en-US" b="1" kern="100" dirty="0">
              <a:solidFill>
                <a:srgbClr val="001729"/>
              </a:solidFill>
              <a:latin typeface="微软雅黑" panose="020B0503020204020204" pitchFamily="34" charset="-122"/>
              <a:ea typeface="微软雅黑" panose="020B0503020204020204" pitchFamily="34" charset="-122"/>
            </a:endParaRPr>
          </a:p>
        </p:txBody>
      </p:sp>
      <p:grpSp>
        <p:nvGrpSpPr>
          <p:cNvPr id="60" name="组合 59"/>
          <p:cNvGrpSpPr/>
          <p:nvPr/>
        </p:nvGrpSpPr>
        <p:grpSpPr>
          <a:xfrm>
            <a:off x="534337" y="1598777"/>
            <a:ext cx="11123326" cy="3890653"/>
            <a:chOff x="538809" y="1258228"/>
            <a:chExt cx="11123326" cy="3890653"/>
          </a:xfrm>
        </p:grpSpPr>
        <p:sp>
          <p:nvSpPr>
            <p:cNvPr id="6" name="Round Same Side Corner Rectangle 70"/>
            <p:cNvSpPr/>
            <p:nvPr/>
          </p:nvSpPr>
          <p:spPr>
            <a:xfrm>
              <a:off x="538815" y="1258228"/>
              <a:ext cx="1887242"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9" name="组合 8"/>
            <p:cNvGrpSpPr>
              <a:grpSpLocks noChangeAspect="1"/>
            </p:cNvGrpSpPr>
            <p:nvPr/>
          </p:nvGrpSpPr>
          <p:grpSpPr>
            <a:xfrm>
              <a:off x="1032429" y="1404982"/>
              <a:ext cx="900002" cy="900000"/>
              <a:chOff x="915597" y="1423240"/>
              <a:chExt cx="1133678" cy="1133676"/>
            </a:xfrm>
          </p:grpSpPr>
          <p:sp>
            <p:nvSpPr>
              <p:cNvPr id="10" name="Oval 29"/>
              <p:cNvSpPr/>
              <p:nvPr/>
            </p:nvSpPr>
            <p:spPr>
              <a:xfrm>
                <a:off x="915597"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 name="Freeform 412"/>
              <p:cNvSpPr/>
              <p:nvPr/>
            </p:nvSpPr>
            <p:spPr bwMode="auto">
              <a:xfrm>
                <a:off x="1410371" y="1638607"/>
                <a:ext cx="144129" cy="144128"/>
              </a:xfrm>
              <a:custGeom>
                <a:avLst/>
                <a:gdLst>
                  <a:gd name="T0" fmla="*/ 343 w 686"/>
                  <a:gd name="T1" fmla="*/ 0 h 686"/>
                  <a:gd name="T2" fmla="*/ 390 w 686"/>
                  <a:gd name="T3" fmla="*/ 3 h 686"/>
                  <a:gd name="T4" fmla="*/ 435 w 686"/>
                  <a:gd name="T5" fmla="*/ 12 h 686"/>
                  <a:gd name="T6" fmla="*/ 477 w 686"/>
                  <a:gd name="T7" fmla="*/ 27 h 686"/>
                  <a:gd name="T8" fmla="*/ 517 w 686"/>
                  <a:gd name="T9" fmla="*/ 46 h 686"/>
                  <a:gd name="T10" fmla="*/ 553 w 686"/>
                  <a:gd name="T11" fmla="*/ 71 h 686"/>
                  <a:gd name="T12" fmla="*/ 586 w 686"/>
                  <a:gd name="T13" fmla="*/ 100 h 686"/>
                  <a:gd name="T14" fmla="*/ 615 w 686"/>
                  <a:gd name="T15" fmla="*/ 133 h 686"/>
                  <a:gd name="T16" fmla="*/ 640 w 686"/>
                  <a:gd name="T17" fmla="*/ 169 h 686"/>
                  <a:gd name="T18" fmla="*/ 659 w 686"/>
                  <a:gd name="T19" fmla="*/ 209 h 686"/>
                  <a:gd name="T20" fmla="*/ 674 w 686"/>
                  <a:gd name="T21" fmla="*/ 251 h 686"/>
                  <a:gd name="T22" fmla="*/ 683 w 686"/>
                  <a:gd name="T23" fmla="*/ 296 h 686"/>
                  <a:gd name="T24" fmla="*/ 686 w 686"/>
                  <a:gd name="T25" fmla="*/ 342 h 686"/>
                  <a:gd name="T26" fmla="*/ 683 w 686"/>
                  <a:gd name="T27" fmla="*/ 389 h 686"/>
                  <a:gd name="T28" fmla="*/ 674 w 686"/>
                  <a:gd name="T29" fmla="*/ 434 h 686"/>
                  <a:gd name="T30" fmla="*/ 659 w 686"/>
                  <a:gd name="T31" fmla="*/ 476 h 686"/>
                  <a:gd name="T32" fmla="*/ 640 w 686"/>
                  <a:gd name="T33" fmla="*/ 516 h 686"/>
                  <a:gd name="T34" fmla="*/ 615 w 686"/>
                  <a:gd name="T35" fmla="*/ 552 h 686"/>
                  <a:gd name="T36" fmla="*/ 586 w 686"/>
                  <a:gd name="T37" fmla="*/ 585 h 686"/>
                  <a:gd name="T38" fmla="*/ 553 w 686"/>
                  <a:gd name="T39" fmla="*/ 614 h 686"/>
                  <a:gd name="T40" fmla="*/ 517 w 686"/>
                  <a:gd name="T41" fmla="*/ 639 h 686"/>
                  <a:gd name="T42" fmla="*/ 477 w 686"/>
                  <a:gd name="T43" fmla="*/ 659 h 686"/>
                  <a:gd name="T44" fmla="*/ 435 w 686"/>
                  <a:gd name="T45" fmla="*/ 674 h 686"/>
                  <a:gd name="T46" fmla="*/ 390 w 686"/>
                  <a:gd name="T47" fmla="*/ 682 h 686"/>
                  <a:gd name="T48" fmla="*/ 343 w 686"/>
                  <a:gd name="T49" fmla="*/ 686 h 686"/>
                  <a:gd name="T50" fmla="*/ 296 w 686"/>
                  <a:gd name="T51" fmla="*/ 682 h 686"/>
                  <a:gd name="T52" fmla="*/ 252 w 686"/>
                  <a:gd name="T53" fmla="*/ 674 h 686"/>
                  <a:gd name="T54" fmla="*/ 210 w 686"/>
                  <a:gd name="T55" fmla="*/ 659 h 686"/>
                  <a:gd name="T56" fmla="*/ 170 w 686"/>
                  <a:gd name="T57" fmla="*/ 639 h 686"/>
                  <a:gd name="T58" fmla="*/ 134 w 686"/>
                  <a:gd name="T59" fmla="*/ 614 h 686"/>
                  <a:gd name="T60" fmla="*/ 101 w 686"/>
                  <a:gd name="T61" fmla="*/ 585 h 686"/>
                  <a:gd name="T62" fmla="*/ 72 w 686"/>
                  <a:gd name="T63" fmla="*/ 552 h 686"/>
                  <a:gd name="T64" fmla="*/ 48 w 686"/>
                  <a:gd name="T65" fmla="*/ 516 h 686"/>
                  <a:gd name="T66" fmla="*/ 27 w 686"/>
                  <a:gd name="T67" fmla="*/ 476 h 686"/>
                  <a:gd name="T68" fmla="*/ 13 w 686"/>
                  <a:gd name="T69" fmla="*/ 434 h 686"/>
                  <a:gd name="T70" fmla="*/ 4 w 686"/>
                  <a:gd name="T71" fmla="*/ 389 h 686"/>
                  <a:gd name="T72" fmla="*/ 0 w 686"/>
                  <a:gd name="T73" fmla="*/ 342 h 686"/>
                  <a:gd name="T74" fmla="*/ 4 w 686"/>
                  <a:gd name="T75" fmla="*/ 296 h 686"/>
                  <a:gd name="T76" fmla="*/ 13 w 686"/>
                  <a:gd name="T77" fmla="*/ 251 h 686"/>
                  <a:gd name="T78" fmla="*/ 27 w 686"/>
                  <a:gd name="T79" fmla="*/ 209 h 686"/>
                  <a:gd name="T80" fmla="*/ 48 w 686"/>
                  <a:gd name="T81" fmla="*/ 169 h 686"/>
                  <a:gd name="T82" fmla="*/ 72 w 686"/>
                  <a:gd name="T83" fmla="*/ 133 h 686"/>
                  <a:gd name="T84" fmla="*/ 101 w 686"/>
                  <a:gd name="T85" fmla="*/ 100 h 686"/>
                  <a:gd name="T86" fmla="*/ 134 w 686"/>
                  <a:gd name="T87" fmla="*/ 71 h 686"/>
                  <a:gd name="T88" fmla="*/ 170 w 686"/>
                  <a:gd name="T89" fmla="*/ 46 h 686"/>
                  <a:gd name="T90" fmla="*/ 210 w 686"/>
                  <a:gd name="T91" fmla="*/ 27 h 686"/>
                  <a:gd name="T92" fmla="*/ 252 w 686"/>
                  <a:gd name="T93" fmla="*/ 12 h 686"/>
                  <a:gd name="T94" fmla="*/ 296 w 686"/>
                  <a:gd name="T95" fmla="*/ 3 h 686"/>
                  <a:gd name="T96" fmla="*/ 343 w 686"/>
                  <a:gd name="T97" fmla="*/ 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686">
                    <a:moveTo>
                      <a:pt x="343" y="0"/>
                    </a:moveTo>
                    <a:lnTo>
                      <a:pt x="390" y="3"/>
                    </a:lnTo>
                    <a:lnTo>
                      <a:pt x="435" y="12"/>
                    </a:lnTo>
                    <a:lnTo>
                      <a:pt x="477" y="27"/>
                    </a:lnTo>
                    <a:lnTo>
                      <a:pt x="517" y="46"/>
                    </a:lnTo>
                    <a:lnTo>
                      <a:pt x="553" y="71"/>
                    </a:lnTo>
                    <a:lnTo>
                      <a:pt x="586" y="100"/>
                    </a:lnTo>
                    <a:lnTo>
                      <a:pt x="615" y="133"/>
                    </a:lnTo>
                    <a:lnTo>
                      <a:pt x="640" y="169"/>
                    </a:lnTo>
                    <a:lnTo>
                      <a:pt x="659" y="209"/>
                    </a:lnTo>
                    <a:lnTo>
                      <a:pt x="674" y="251"/>
                    </a:lnTo>
                    <a:lnTo>
                      <a:pt x="683" y="296"/>
                    </a:lnTo>
                    <a:lnTo>
                      <a:pt x="686" y="342"/>
                    </a:lnTo>
                    <a:lnTo>
                      <a:pt x="683" y="389"/>
                    </a:lnTo>
                    <a:lnTo>
                      <a:pt x="674" y="434"/>
                    </a:lnTo>
                    <a:lnTo>
                      <a:pt x="659" y="476"/>
                    </a:lnTo>
                    <a:lnTo>
                      <a:pt x="640" y="516"/>
                    </a:lnTo>
                    <a:lnTo>
                      <a:pt x="615" y="552"/>
                    </a:lnTo>
                    <a:lnTo>
                      <a:pt x="586" y="585"/>
                    </a:lnTo>
                    <a:lnTo>
                      <a:pt x="553" y="614"/>
                    </a:lnTo>
                    <a:lnTo>
                      <a:pt x="517" y="639"/>
                    </a:lnTo>
                    <a:lnTo>
                      <a:pt x="477" y="659"/>
                    </a:lnTo>
                    <a:lnTo>
                      <a:pt x="435" y="674"/>
                    </a:lnTo>
                    <a:lnTo>
                      <a:pt x="390" y="682"/>
                    </a:lnTo>
                    <a:lnTo>
                      <a:pt x="343" y="686"/>
                    </a:lnTo>
                    <a:lnTo>
                      <a:pt x="296" y="682"/>
                    </a:lnTo>
                    <a:lnTo>
                      <a:pt x="252" y="674"/>
                    </a:lnTo>
                    <a:lnTo>
                      <a:pt x="210" y="659"/>
                    </a:lnTo>
                    <a:lnTo>
                      <a:pt x="170" y="639"/>
                    </a:lnTo>
                    <a:lnTo>
                      <a:pt x="134" y="614"/>
                    </a:lnTo>
                    <a:lnTo>
                      <a:pt x="101" y="585"/>
                    </a:lnTo>
                    <a:lnTo>
                      <a:pt x="72" y="552"/>
                    </a:lnTo>
                    <a:lnTo>
                      <a:pt x="48" y="516"/>
                    </a:lnTo>
                    <a:lnTo>
                      <a:pt x="27" y="476"/>
                    </a:lnTo>
                    <a:lnTo>
                      <a:pt x="13" y="434"/>
                    </a:lnTo>
                    <a:lnTo>
                      <a:pt x="4" y="389"/>
                    </a:lnTo>
                    <a:lnTo>
                      <a:pt x="0" y="342"/>
                    </a:lnTo>
                    <a:lnTo>
                      <a:pt x="4" y="296"/>
                    </a:lnTo>
                    <a:lnTo>
                      <a:pt x="13" y="251"/>
                    </a:lnTo>
                    <a:lnTo>
                      <a:pt x="27" y="209"/>
                    </a:lnTo>
                    <a:lnTo>
                      <a:pt x="48" y="169"/>
                    </a:lnTo>
                    <a:lnTo>
                      <a:pt x="72" y="133"/>
                    </a:lnTo>
                    <a:lnTo>
                      <a:pt x="101" y="100"/>
                    </a:lnTo>
                    <a:lnTo>
                      <a:pt x="134" y="71"/>
                    </a:lnTo>
                    <a:lnTo>
                      <a:pt x="170" y="46"/>
                    </a:lnTo>
                    <a:lnTo>
                      <a:pt x="210" y="27"/>
                    </a:lnTo>
                    <a:lnTo>
                      <a:pt x="252" y="12"/>
                    </a:lnTo>
                    <a:lnTo>
                      <a:pt x="296" y="3"/>
                    </a:lnTo>
                    <a:lnTo>
                      <a:pt x="343"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2" name="Freeform 413"/>
              <p:cNvSpPr/>
              <p:nvPr/>
            </p:nvSpPr>
            <p:spPr bwMode="auto">
              <a:xfrm>
                <a:off x="1369914" y="1792849"/>
                <a:ext cx="225043" cy="548700"/>
              </a:xfrm>
              <a:custGeom>
                <a:avLst/>
                <a:gdLst>
                  <a:gd name="T0" fmla="*/ 925 w 1073"/>
                  <a:gd name="T1" fmla="*/ 1 h 2605"/>
                  <a:gd name="T2" fmla="*/ 982 w 1073"/>
                  <a:gd name="T3" fmla="*/ 12 h 2605"/>
                  <a:gd name="T4" fmla="*/ 1029 w 1073"/>
                  <a:gd name="T5" fmla="*/ 45 h 2605"/>
                  <a:gd name="T6" fmla="*/ 1061 w 1073"/>
                  <a:gd name="T7" fmla="*/ 91 h 2605"/>
                  <a:gd name="T8" fmla="*/ 1073 w 1073"/>
                  <a:gd name="T9" fmla="*/ 149 h 2605"/>
                  <a:gd name="T10" fmla="*/ 1069 w 1073"/>
                  <a:gd name="T11" fmla="*/ 1419 h 2605"/>
                  <a:gd name="T12" fmla="*/ 1048 w 1073"/>
                  <a:gd name="T13" fmla="*/ 1472 h 2605"/>
                  <a:gd name="T14" fmla="*/ 1007 w 1073"/>
                  <a:gd name="T15" fmla="*/ 1512 h 2605"/>
                  <a:gd name="T16" fmla="*/ 954 w 1073"/>
                  <a:gd name="T17" fmla="*/ 1535 h 2605"/>
                  <a:gd name="T18" fmla="*/ 900 w 1073"/>
                  <a:gd name="T19" fmla="*/ 1536 h 2605"/>
                  <a:gd name="T20" fmla="*/ 854 w 1073"/>
                  <a:gd name="T21" fmla="*/ 1520 h 2605"/>
                  <a:gd name="T22" fmla="*/ 835 w 1073"/>
                  <a:gd name="T23" fmla="*/ 2456 h 2605"/>
                  <a:gd name="T24" fmla="*/ 824 w 1073"/>
                  <a:gd name="T25" fmla="*/ 2515 h 2605"/>
                  <a:gd name="T26" fmla="*/ 792 w 1073"/>
                  <a:gd name="T27" fmla="*/ 2561 h 2605"/>
                  <a:gd name="T28" fmla="*/ 744 w 1073"/>
                  <a:gd name="T29" fmla="*/ 2593 h 2605"/>
                  <a:gd name="T30" fmla="*/ 687 w 1073"/>
                  <a:gd name="T31" fmla="*/ 2605 h 2605"/>
                  <a:gd name="T32" fmla="*/ 629 w 1073"/>
                  <a:gd name="T33" fmla="*/ 2593 h 2605"/>
                  <a:gd name="T34" fmla="*/ 582 w 1073"/>
                  <a:gd name="T35" fmla="*/ 2561 h 2605"/>
                  <a:gd name="T36" fmla="*/ 551 w 1073"/>
                  <a:gd name="T37" fmla="*/ 2515 h 2605"/>
                  <a:gd name="T38" fmla="*/ 539 w 1073"/>
                  <a:gd name="T39" fmla="*/ 2456 h 2605"/>
                  <a:gd name="T40" fmla="*/ 532 w 1073"/>
                  <a:gd name="T41" fmla="*/ 2486 h 2605"/>
                  <a:gd name="T42" fmla="*/ 509 w 1073"/>
                  <a:gd name="T43" fmla="*/ 2539 h 2605"/>
                  <a:gd name="T44" fmla="*/ 469 w 1073"/>
                  <a:gd name="T45" fmla="*/ 2579 h 2605"/>
                  <a:gd name="T46" fmla="*/ 416 w 1073"/>
                  <a:gd name="T47" fmla="*/ 2602 h 2605"/>
                  <a:gd name="T48" fmla="*/ 357 w 1073"/>
                  <a:gd name="T49" fmla="*/ 2602 h 2605"/>
                  <a:gd name="T50" fmla="*/ 304 w 1073"/>
                  <a:gd name="T51" fmla="*/ 2579 h 2605"/>
                  <a:gd name="T52" fmla="*/ 263 w 1073"/>
                  <a:gd name="T53" fmla="*/ 2539 h 2605"/>
                  <a:gd name="T54" fmla="*/ 241 w 1073"/>
                  <a:gd name="T55" fmla="*/ 2486 h 2605"/>
                  <a:gd name="T56" fmla="*/ 238 w 1073"/>
                  <a:gd name="T57" fmla="*/ 1507 h 2605"/>
                  <a:gd name="T58" fmla="*/ 197 w 1073"/>
                  <a:gd name="T59" fmla="*/ 1530 h 2605"/>
                  <a:gd name="T60" fmla="*/ 148 w 1073"/>
                  <a:gd name="T61" fmla="*/ 1538 h 2605"/>
                  <a:gd name="T62" fmla="*/ 91 w 1073"/>
                  <a:gd name="T63" fmla="*/ 1526 h 2605"/>
                  <a:gd name="T64" fmla="*/ 43 w 1073"/>
                  <a:gd name="T65" fmla="*/ 1495 h 2605"/>
                  <a:gd name="T66" fmla="*/ 12 w 1073"/>
                  <a:gd name="T67" fmla="*/ 1447 h 2605"/>
                  <a:gd name="T68" fmla="*/ 0 w 1073"/>
                  <a:gd name="T69" fmla="*/ 1389 h 2605"/>
                  <a:gd name="T70" fmla="*/ 3 w 1073"/>
                  <a:gd name="T71" fmla="*/ 119 h 2605"/>
                  <a:gd name="T72" fmla="*/ 25 w 1073"/>
                  <a:gd name="T73" fmla="*/ 67 h 2605"/>
                  <a:gd name="T74" fmla="*/ 64 w 1073"/>
                  <a:gd name="T75" fmla="*/ 27 h 2605"/>
                  <a:gd name="T76" fmla="*/ 116 w 1073"/>
                  <a:gd name="T77" fmla="*/ 5 h 2605"/>
                  <a:gd name="T78" fmla="*/ 145 w 1073"/>
                  <a:gd name="T79" fmla="*/ 0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73" h="2605">
                    <a:moveTo>
                      <a:pt x="145" y="0"/>
                    </a:moveTo>
                    <a:lnTo>
                      <a:pt x="925" y="1"/>
                    </a:lnTo>
                    <a:lnTo>
                      <a:pt x="954" y="4"/>
                    </a:lnTo>
                    <a:lnTo>
                      <a:pt x="982" y="12"/>
                    </a:lnTo>
                    <a:lnTo>
                      <a:pt x="1007" y="26"/>
                    </a:lnTo>
                    <a:lnTo>
                      <a:pt x="1029" y="45"/>
                    </a:lnTo>
                    <a:lnTo>
                      <a:pt x="1048" y="66"/>
                    </a:lnTo>
                    <a:lnTo>
                      <a:pt x="1061" y="91"/>
                    </a:lnTo>
                    <a:lnTo>
                      <a:pt x="1069" y="119"/>
                    </a:lnTo>
                    <a:lnTo>
                      <a:pt x="1073" y="149"/>
                    </a:lnTo>
                    <a:lnTo>
                      <a:pt x="1073" y="1389"/>
                    </a:lnTo>
                    <a:lnTo>
                      <a:pt x="1069" y="1419"/>
                    </a:lnTo>
                    <a:lnTo>
                      <a:pt x="1061" y="1447"/>
                    </a:lnTo>
                    <a:lnTo>
                      <a:pt x="1048" y="1472"/>
                    </a:lnTo>
                    <a:lnTo>
                      <a:pt x="1029" y="1495"/>
                    </a:lnTo>
                    <a:lnTo>
                      <a:pt x="1007" y="1512"/>
                    </a:lnTo>
                    <a:lnTo>
                      <a:pt x="982" y="1526"/>
                    </a:lnTo>
                    <a:lnTo>
                      <a:pt x="954" y="1535"/>
                    </a:lnTo>
                    <a:lnTo>
                      <a:pt x="925" y="1538"/>
                    </a:lnTo>
                    <a:lnTo>
                      <a:pt x="900" y="1536"/>
                    </a:lnTo>
                    <a:lnTo>
                      <a:pt x="876" y="1530"/>
                    </a:lnTo>
                    <a:lnTo>
                      <a:pt x="854" y="1520"/>
                    </a:lnTo>
                    <a:lnTo>
                      <a:pt x="835" y="1508"/>
                    </a:lnTo>
                    <a:lnTo>
                      <a:pt x="835" y="2456"/>
                    </a:lnTo>
                    <a:lnTo>
                      <a:pt x="833" y="2486"/>
                    </a:lnTo>
                    <a:lnTo>
                      <a:pt x="824" y="2515"/>
                    </a:lnTo>
                    <a:lnTo>
                      <a:pt x="810" y="2539"/>
                    </a:lnTo>
                    <a:lnTo>
                      <a:pt x="792" y="2561"/>
                    </a:lnTo>
                    <a:lnTo>
                      <a:pt x="770" y="2579"/>
                    </a:lnTo>
                    <a:lnTo>
                      <a:pt x="744" y="2593"/>
                    </a:lnTo>
                    <a:lnTo>
                      <a:pt x="717" y="2602"/>
                    </a:lnTo>
                    <a:lnTo>
                      <a:pt x="687" y="2605"/>
                    </a:lnTo>
                    <a:lnTo>
                      <a:pt x="657" y="2602"/>
                    </a:lnTo>
                    <a:lnTo>
                      <a:pt x="629" y="2593"/>
                    </a:lnTo>
                    <a:lnTo>
                      <a:pt x="604" y="2579"/>
                    </a:lnTo>
                    <a:lnTo>
                      <a:pt x="582" y="2561"/>
                    </a:lnTo>
                    <a:lnTo>
                      <a:pt x="564" y="2539"/>
                    </a:lnTo>
                    <a:lnTo>
                      <a:pt x="551" y="2515"/>
                    </a:lnTo>
                    <a:lnTo>
                      <a:pt x="542" y="2486"/>
                    </a:lnTo>
                    <a:lnTo>
                      <a:pt x="539" y="2456"/>
                    </a:lnTo>
                    <a:lnTo>
                      <a:pt x="535" y="2456"/>
                    </a:lnTo>
                    <a:lnTo>
                      <a:pt x="532" y="2486"/>
                    </a:lnTo>
                    <a:lnTo>
                      <a:pt x="523" y="2515"/>
                    </a:lnTo>
                    <a:lnTo>
                      <a:pt x="509" y="2539"/>
                    </a:lnTo>
                    <a:lnTo>
                      <a:pt x="492" y="2561"/>
                    </a:lnTo>
                    <a:lnTo>
                      <a:pt x="469" y="2579"/>
                    </a:lnTo>
                    <a:lnTo>
                      <a:pt x="444" y="2593"/>
                    </a:lnTo>
                    <a:lnTo>
                      <a:pt x="416" y="2602"/>
                    </a:lnTo>
                    <a:lnTo>
                      <a:pt x="386" y="2605"/>
                    </a:lnTo>
                    <a:lnTo>
                      <a:pt x="357" y="2602"/>
                    </a:lnTo>
                    <a:lnTo>
                      <a:pt x="328" y="2593"/>
                    </a:lnTo>
                    <a:lnTo>
                      <a:pt x="304" y="2579"/>
                    </a:lnTo>
                    <a:lnTo>
                      <a:pt x="281" y="2561"/>
                    </a:lnTo>
                    <a:lnTo>
                      <a:pt x="263" y="2539"/>
                    </a:lnTo>
                    <a:lnTo>
                      <a:pt x="250" y="2515"/>
                    </a:lnTo>
                    <a:lnTo>
                      <a:pt x="241" y="2486"/>
                    </a:lnTo>
                    <a:lnTo>
                      <a:pt x="238" y="2456"/>
                    </a:lnTo>
                    <a:lnTo>
                      <a:pt x="238" y="1507"/>
                    </a:lnTo>
                    <a:lnTo>
                      <a:pt x="218" y="1520"/>
                    </a:lnTo>
                    <a:lnTo>
                      <a:pt x="197" y="1530"/>
                    </a:lnTo>
                    <a:lnTo>
                      <a:pt x="173" y="1536"/>
                    </a:lnTo>
                    <a:lnTo>
                      <a:pt x="148" y="1538"/>
                    </a:lnTo>
                    <a:lnTo>
                      <a:pt x="119" y="1535"/>
                    </a:lnTo>
                    <a:lnTo>
                      <a:pt x="91" y="1526"/>
                    </a:lnTo>
                    <a:lnTo>
                      <a:pt x="66" y="1512"/>
                    </a:lnTo>
                    <a:lnTo>
                      <a:pt x="43" y="1495"/>
                    </a:lnTo>
                    <a:lnTo>
                      <a:pt x="25" y="1472"/>
                    </a:lnTo>
                    <a:lnTo>
                      <a:pt x="12" y="1447"/>
                    </a:lnTo>
                    <a:lnTo>
                      <a:pt x="3" y="1419"/>
                    </a:lnTo>
                    <a:lnTo>
                      <a:pt x="0" y="1389"/>
                    </a:lnTo>
                    <a:lnTo>
                      <a:pt x="0" y="149"/>
                    </a:lnTo>
                    <a:lnTo>
                      <a:pt x="3" y="119"/>
                    </a:lnTo>
                    <a:lnTo>
                      <a:pt x="11" y="92"/>
                    </a:lnTo>
                    <a:lnTo>
                      <a:pt x="25" y="67"/>
                    </a:lnTo>
                    <a:lnTo>
                      <a:pt x="42" y="46"/>
                    </a:lnTo>
                    <a:lnTo>
                      <a:pt x="64" y="27"/>
                    </a:lnTo>
                    <a:lnTo>
                      <a:pt x="89" y="13"/>
                    </a:lnTo>
                    <a:lnTo>
                      <a:pt x="116" y="5"/>
                    </a:lnTo>
                    <a:lnTo>
                      <a:pt x="145" y="1"/>
                    </a:lnTo>
                    <a:lnTo>
                      <a:pt x="145"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3" name="Freeform 414"/>
              <p:cNvSpPr/>
              <p:nvPr/>
            </p:nvSpPr>
            <p:spPr bwMode="auto">
              <a:xfrm>
                <a:off x="1281415" y="1638607"/>
                <a:ext cx="118843" cy="131486"/>
              </a:xfrm>
              <a:custGeom>
                <a:avLst/>
                <a:gdLst>
                  <a:gd name="T0" fmla="*/ 314 w 565"/>
                  <a:gd name="T1" fmla="*/ 0 h 629"/>
                  <a:gd name="T2" fmla="*/ 358 w 565"/>
                  <a:gd name="T3" fmla="*/ 3 h 629"/>
                  <a:gd name="T4" fmla="*/ 400 w 565"/>
                  <a:gd name="T5" fmla="*/ 12 h 629"/>
                  <a:gd name="T6" fmla="*/ 439 w 565"/>
                  <a:gd name="T7" fmla="*/ 25 h 629"/>
                  <a:gd name="T8" fmla="*/ 474 w 565"/>
                  <a:gd name="T9" fmla="*/ 44 h 629"/>
                  <a:gd name="T10" fmla="*/ 508 w 565"/>
                  <a:gd name="T11" fmla="*/ 67 h 629"/>
                  <a:gd name="T12" fmla="*/ 538 w 565"/>
                  <a:gd name="T13" fmla="*/ 94 h 629"/>
                  <a:gd name="T14" fmla="*/ 565 w 565"/>
                  <a:gd name="T15" fmla="*/ 125 h 629"/>
                  <a:gd name="T16" fmla="*/ 545 w 565"/>
                  <a:gd name="T17" fmla="*/ 165 h 629"/>
                  <a:gd name="T18" fmla="*/ 528 w 565"/>
                  <a:gd name="T19" fmla="*/ 206 h 629"/>
                  <a:gd name="T20" fmla="*/ 516 w 565"/>
                  <a:gd name="T21" fmla="*/ 250 h 629"/>
                  <a:gd name="T22" fmla="*/ 509 w 565"/>
                  <a:gd name="T23" fmla="*/ 296 h 629"/>
                  <a:gd name="T24" fmla="*/ 507 w 565"/>
                  <a:gd name="T25" fmla="*/ 342 h 629"/>
                  <a:gd name="T26" fmla="*/ 509 w 565"/>
                  <a:gd name="T27" fmla="*/ 391 h 629"/>
                  <a:gd name="T28" fmla="*/ 518 w 565"/>
                  <a:gd name="T29" fmla="*/ 437 h 629"/>
                  <a:gd name="T30" fmla="*/ 530 w 565"/>
                  <a:gd name="T31" fmla="*/ 483 h 629"/>
                  <a:gd name="T32" fmla="*/ 548 w 565"/>
                  <a:gd name="T33" fmla="*/ 525 h 629"/>
                  <a:gd name="T34" fmla="*/ 518 w 565"/>
                  <a:gd name="T35" fmla="*/ 555 h 629"/>
                  <a:gd name="T36" fmla="*/ 483 w 565"/>
                  <a:gd name="T37" fmla="*/ 581 h 629"/>
                  <a:gd name="T38" fmla="*/ 445 w 565"/>
                  <a:gd name="T39" fmla="*/ 601 h 629"/>
                  <a:gd name="T40" fmla="*/ 404 w 565"/>
                  <a:gd name="T41" fmla="*/ 616 h 629"/>
                  <a:gd name="T42" fmla="*/ 361 w 565"/>
                  <a:gd name="T43" fmla="*/ 626 h 629"/>
                  <a:gd name="T44" fmla="*/ 314 w 565"/>
                  <a:gd name="T45" fmla="*/ 629 h 629"/>
                  <a:gd name="T46" fmla="*/ 272 w 565"/>
                  <a:gd name="T47" fmla="*/ 627 h 629"/>
                  <a:gd name="T48" fmla="*/ 231 w 565"/>
                  <a:gd name="T49" fmla="*/ 619 h 629"/>
                  <a:gd name="T50" fmla="*/ 192 w 565"/>
                  <a:gd name="T51" fmla="*/ 605 h 629"/>
                  <a:gd name="T52" fmla="*/ 156 w 565"/>
                  <a:gd name="T53" fmla="*/ 587 h 629"/>
                  <a:gd name="T54" fmla="*/ 122 w 565"/>
                  <a:gd name="T55" fmla="*/ 565 h 629"/>
                  <a:gd name="T56" fmla="*/ 92 w 565"/>
                  <a:gd name="T57" fmla="*/ 538 h 629"/>
                  <a:gd name="T58" fmla="*/ 66 w 565"/>
                  <a:gd name="T59" fmla="*/ 507 h 629"/>
                  <a:gd name="T60" fmla="*/ 43 w 565"/>
                  <a:gd name="T61" fmla="*/ 474 h 629"/>
                  <a:gd name="T62" fmla="*/ 25 w 565"/>
                  <a:gd name="T63" fmla="*/ 437 h 629"/>
                  <a:gd name="T64" fmla="*/ 11 w 565"/>
                  <a:gd name="T65" fmla="*/ 398 h 629"/>
                  <a:gd name="T66" fmla="*/ 2 w 565"/>
                  <a:gd name="T67" fmla="*/ 357 h 629"/>
                  <a:gd name="T68" fmla="*/ 0 w 565"/>
                  <a:gd name="T69" fmla="*/ 315 h 629"/>
                  <a:gd name="T70" fmla="*/ 3 w 565"/>
                  <a:gd name="T71" fmla="*/ 269 h 629"/>
                  <a:gd name="T72" fmla="*/ 13 w 565"/>
                  <a:gd name="T73" fmla="*/ 223 h 629"/>
                  <a:gd name="T74" fmla="*/ 29 w 565"/>
                  <a:gd name="T75" fmla="*/ 182 h 629"/>
                  <a:gd name="T76" fmla="*/ 51 w 565"/>
                  <a:gd name="T77" fmla="*/ 143 h 629"/>
                  <a:gd name="T78" fmla="*/ 77 w 565"/>
                  <a:gd name="T79" fmla="*/ 108 h 629"/>
                  <a:gd name="T80" fmla="*/ 108 w 565"/>
                  <a:gd name="T81" fmla="*/ 76 h 629"/>
                  <a:gd name="T82" fmla="*/ 144 w 565"/>
                  <a:gd name="T83" fmla="*/ 51 h 629"/>
                  <a:gd name="T84" fmla="*/ 183 w 565"/>
                  <a:gd name="T85" fmla="*/ 29 h 629"/>
                  <a:gd name="T86" fmla="*/ 224 w 565"/>
                  <a:gd name="T87" fmla="*/ 13 h 629"/>
                  <a:gd name="T88" fmla="*/ 268 w 565"/>
                  <a:gd name="T89" fmla="*/ 3 h 629"/>
                  <a:gd name="T90" fmla="*/ 314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314" y="0"/>
                    </a:moveTo>
                    <a:lnTo>
                      <a:pt x="358" y="3"/>
                    </a:lnTo>
                    <a:lnTo>
                      <a:pt x="400" y="12"/>
                    </a:lnTo>
                    <a:lnTo>
                      <a:pt x="439" y="25"/>
                    </a:lnTo>
                    <a:lnTo>
                      <a:pt x="474" y="44"/>
                    </a:lnTo>
                    <a:lnTo>
                      <a:pt x="508" y="67"/>
                    </a:lnTo>
                    <a:lnTo>
                      <a:pt x="538" y="94"/>
                    </a:lnTo>
                    <a:lnTo>
                      <a:pt x="565" y="125"/>
                    </a:lnTo>
                    <a:lnTo>
                      <a:pt x="545" y="165"/>
                    </a:lnTo>
                    <a:lnTo>
                      <a:pt x="528" y="206"/>
                    </a:lnTo>
                    <a:lnTo>
                      <a:pt x="516" y="250"/>
                    </a:lnTo>
                    <a:lnTo>
                      <a:pt x="509" y="296"/>
                    </a:lnTo>
                    <a:lnTo>
                      <a:pt x="507" y="342"/>
                    </a:lnTo>
                    <a:lnTo>
                      <a:pt x="509" y="391"/>
                    </a:lnTo>
                    <a:lnTo>
                      <a:pt x="518" y="437"/>
                    </a:lnTo>
                    <a:lnTo>
                      <a:pt x="530" y="483"/>
                    </a:lnTo>
                    <a:lnTo>
                      <a:pt x="548" y="525"/>
                    </a:lnTo>
                    <a:lnTo>
                      <a:pt x="518" y="555"/>
                    </a:lnTo>
                    <a:lnTo>
                      <a:pt x="483" y="581"/>
                    </a:lnTo>
                    <a:lnTo>
                      <a:pt x="445" y="601"/>
                    </a:lnTo>
                    <a:lnTo>
                      <a:pt x="404" y="616"/>
                    </a:lnTo>
                    <a:lnTo>
                      <a:pt x="361" y="626"/>
                    </a:lnTo>
                    <a:lnTo>
                      <a:pt x="314" y="629"/>
                    </a:lnTo>
                    <a:lnTo>
                      <a:pt x="272" y="627"/>
                    </a:lnTo>
                    <a:lnTo>
                      <a:pt x="231" y="619"/>
                    </a:lnTo>
                    <a:lnTo>
                      <a:pt x="192" y="605"/>
                    </a:lnTo>
                    <a:lnTo>
                      <a:pt x="156" y="587"/>
                    </a:lnTo>
                    <a:lnTo>
                      <a:pt x="122" y="565"/>
                    </a:lnTo>
                    <a:lnTo>
                      <a:pt x="92" y="538"/>
                    </a:lnTo>
                    <a:lnTo>
                      <a:pt x="66" y="507"/>
                    </a:lnTo>
                    <a:lnTo>
                      <a:pt x="43" y="474"/>
                    </a:lnTo>
                    <a:lnTo>
                      <a:pt x="25" y="437"/>
                    </a:lnTo>
                    <a:lnTo>
                      <a:pt x="11" y="398"/>
                    </a:lnTo>
                    <a:lnTo>
                      <a:pt x="2" y="357"/>
                    </a:lnTo>
                    <a:lnTo>
                      <a:pt x="0" y="315"/>
                    </a:lnTo>
                    <a:lnTo>
                      <a:pt x="3" y="269"/>
                    </a:lnTo>
                    <a:lnTo>
                      <a:pt x="13" y="223"/>
                    </a:lnTo>
                    <a:lnTo>
                      <a:pt x="29" y="182"/>
                    </a:lnTo>
                    <a:lnTo>
                      <a:pt x="51" y="143"/>
                    </a:lnTo>
                    <a:lnTo>
                      <a:pt x="77" y="108"/>
                    </a:lnTo>
                    <a:lnTo>
                      <a:pt x="108" y="76"/>
                    </a:lnTo>
                    <a:lnTo>
                      <a:pt x="144" y="51"/>
                    </a:lnTo>
                    <a:lnTo>
                      <a:pt x="183" y="29"/>
                    </a:lnTo>
                    <a:lnTo>
                      <a:pt x="224" y="13"/>
                    </a:lnTo>
                    <a:lnTo>
                      <a:pt x="268" y="3"/>
                    </a:lnTo>
                    <a:lnTo>
                      <a:pt x="314"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4" name="Freeform 415"/>
              <p:cNvSpPr/>
              <p:nvPr/>
            </p:nvSpPr>
            <p:spPr bwMode="auto">
              <a:xfrm>
                <a:off x="1243486" y="1780207"/>
                <a:ext cx="154243" cy="505715"/>
              </a:xfrm>
              <a:custGeom>
                <a:avLst/>
                <a:gdLst>
                  <a:gd name="T0" fmla="*/ 373 w 729"/>
                  <a:gd name="T1" fmla="*/ 0 h 2394"/>
                  <a:gd name="T2" fmla="*/ 510 w 729"/>
                  <a:gd name="T3" fmla="*/ 0 h 2394"/>
                  <a:gd name="T4" fmla="*/ 600 w 729"/>
                  <a:gd name="T5" fmla="*/ 0 h 2394"/>
                  <a:gd name="T6" fmla="*/ 550 w 729"/>
                  <a:gd name="T7" fmla="*/ 46 h 2394"/>
                  <a:gd name="T8" fmla="*/ 513 w 729"/>
                  <a:gd name="T9" fmla="*/ 105 h 2394"/>
                  <a:gd name="T10" fmla="*/ 494 w 729"/>
                  <a:gd name="T11" fmla="*/ 172 h 2394"/>
                  <a:gd name="T12" fmla="*/ 490 w 729"/>
                  <a:gd name="T13" fmla="*/ 1448 h 2394"/>
                  <a:gd name="T14" fmla="*/ 502 w 729"/>
                  <a:gd name="T15" fmla="*/ 1526 h 2394"/>
                  <a:gd name="T16" fmla="*/ 536 w 729"/>
                  <a:gd name="T17" fmla="*/ 1594 h 2394"/>
                  <a:gd name="T18" fmla="*/ 588 w 729"/>
                  <a:gd name="T19" fmla="*/ 1648 h 2394"/>
                  <a:gd name="T20" fmla="*/ 652 w 729"/>
                  <a:gd name="T21" fmla="*/ 1685 h 2394"/>
                  <a:gd name="T22" fmla="*/ 729 w 729"/>
                  <a:gd name="T23" fmla="*/ 1702 h 2394"/>
                  <a:gd name="T24" fmla="*/ 708 w 729"/>
                  <a:gd name="T25" fmla="*/ 2370 h 2394"/>
                  <a:gd name="T26" fmla="*/ 659 w 729"/>
                  <a:gd name="T27" fmla="*/ 2392 h 2394"/>
                  <a:gd name="T28" fmla="*/ 604 w 729"/>
                  <a:gd name="T29" fmla="*/ 2392 h 2394"/>
                  <a:gd name="T30" fmla="*/ 555 w 729"/>
                  <a:gd name="T31" fmla="*/ 2372 h 2394"/>
                  <a:gd name="T32" fmla="*/ 518 w 729"/>
                  <a:gd name="T33" fmla="*/ 2335 h 2394"/>
                  <a:gd name="T34" fmla="*/ 498 w 729"/>
                  <a:gd name="T35" fmla="*/ 2285 h 2394"/>
                  <a:gd name="T36" fmla="*/ 491 w 729"/>
                  <a:gd name="T37" fmla="*/ 2258 h 2394"/>
                  <a:gd name="T38" fmla="*/ 481 w 729"/>
                  <a:gd name="T39" fmla="*/ 2311 h 2394"/>
                  <a:gd name="T40" fmla="*/ 451 w 729"/>
                  <a:gd name="T41" fmla="*/ 2354 h 2394"/>
                  <a:gd name="T42" fmla="*/ 408 w 729"/>
                  <a:gd name="T43" fmla="*/ 2383 h 2394"/>
                  <a:gd name="T44" fmla="*/ 355 w 729"/>
                  <a:gd name="T45" fmla="*/ 2394 h 2394"/>
                  <a:gd name="T46" fmla="*/ 301 w 729"/>
                  <a:gd name="T47" fmla="*/ 2383 h 2394"/>
                  <a:gd name="T48" fmla="*/ 258 w 729"/>
                  <a:gd name="T49" fmla="*/ 2354 h 2394"/>
                  <a:gd name="T50" fmla="*/ 229 w 729"/>
                  <a:gd name="T51" fmla="*/ 2311 h 2394"/>
                  <a:gd name="T52" fmla="*/ 218 w 729"/>
                  <a:gd name="T53" fmla="*/ 2258 h 2394"/>
                  <a:gd name="T54" fmla="*/ 201 w 729"/>
                  <a:gd name="T55" fmla="*/ 1397 h 2394"/>
                  <a:gd name="T56" fmla="*/ 159 w 729"/>
                  <a:gd name="T57" fmla="*/ 1411 h 2394"/>
                  <a:gd name="T58" fmla="*/ 109 w 729"/>
                  <a:gd name="T59" fmla="*/ 1410 h 2394"/>
                  <a:gd name="T60" fmla="*/ 60 w 729"/>
                  <a:gd name="T61" fmla="*/ 1390 h 2394"/>
                  <a:gd name="T62" fmla="*/ 24 w 729"/>
                  <a:gd name="T63" fmla="*/ 1353 h 2394"/>
                  <a:gd name="T64" fmla="*/ 3 w 729"/>
                  <a:gd name="T65" fmla="*/ 1305 h 2394"/>
                  <a:gd name="T66" fmla="*/ 0 w 729"/>
                  <a:gd name="T67" fmla="*/ 137 h 2394"/>
                  <a:gd name="T68" fmla="*/ 11 w 729"/>
                  <a:gd name="T69" fmla="*/ 84 h 2394"/>
                  <a:gd name="T70" fmla="*/ 39 w 729"/>
                  <a:gd name="T71" fmla="*/ 42 h 2394"/>
                  <a:gd name="T72" fmla="*/ 81 w 729"/>
                  <a:gd name="T73" fmla="*/ 12 h 2394"/>
                  <a:gd name="T74" fmla="*/ 133 w 729"/>
                  <a:gd name="T75" fmla="*/ 1 h 2394"/>
                  <a:gd name="T76" fmla="*/ 289 w 729"/>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9" h="2394">
                    <a:moveTo>
                      <a:pt x="329" y="0"/>
                    </a:moveTo>
                    <a:lnTo>
                      <a:pt x="373" y="0"/>
                    </a:lnTo>
                    <a:lnTo>
                      <a:pt x="463" y="0"/>
                    </a:lnTo>
                    <a:lnTo>
                      <a:pt x="510" y="0"/>
                    </a:lnTo>
                    <a:lnTo>
                      <a:pt x="556" y="0"/>
                    </a:lnTo>
                    <a:lnTo>
                      <a:pt x="600" y="0"/>
                    </a:lnTo>
                    <a:lnTo>
                      <a:pt x="573" y="21"/>
                    </a:lnTo>
                    <a:lnTo>
                      <a:pt x="550" y="46"/>
                    </a:lnTo>
                    <a:lnTo>
                      <a:pt x="529" y="74"/>
                    </a:lnTo>
                    <a:lnTo>
                      <a:pt x="513" y="105"/>
                    </a:lnTo>
                    <a:lnTo>
                      <a:pt x="501" y="137"/>
                    </a:lnTo>
                    <a:lnTo>
                      <a:pt x="494" y="172"/>
                    </a:lnTo>
                    <a:lnTo>
                      <a:pt x="490" y="208"/>
                    </a:lnTo>
                    <a:lnTo>
                      <a:pt x="490" y="1448"/>
                    </a:lnTo>
                    <a:lnTo>
                      <a:pt x="494" y="1488"/>
                    </a:lnTo>
                    <a:lnTo>
                      <a:pt x="502" y="1526"/>
                    </a:lnTo>
                    <a:lnTo>
                      <a:pt x="516" y="1562"/>
                    </a:lnTo>
                    <a:lnTo>
                      <a:pt x="536" y="1594"/>
                    </a:lnTo>
                    <a:lnTo>
                      <a:pt x="559" y="1622"/>
                    </a:lnTo>
                    <a:lnTo>
                      <a:pt x="588" y="1648"/>
                    </a:lnTo>
                    <a:lnTo>
                      <a:pt x="619" y="1668"/>
                    </a:lnTo>
                    <a:lnTo>
                      <a:pt x="652" y="1685"/>
                    </a:lnTo>
                    <a:lnTo>
                      <a:pt x="690" y="1697"/>
                    </a:lnTo>
                    <a:lnTo>
                      <a:pt x="729" y="1702"/>
                    </a:lnTo>
                    <a:lnTo>
                      <a:pt x="729" y="2354"/>
                    </a:lnTo>
                    <a:lnTo>
                      <a:pt x="708" y="2370"/>
                    </a:lnTo>
                    <a:lnTo>
                      <a:pt x="685" y="2383"/>
                    </a:lnTo>
                    <a:lnTo>
                      <a:pt x="659" y="2392"/>
                    </a:lnTo>
                    <a:lnTo>
                      <a:pt x="632" y="2394"/>
                    </a:lnTo>
                    <a:lnTo>
                      <a:pt x="604" y="2392"/>
                    </a:lnTo>
                    <a:lnTo>
                      <a:pt x="579" y="2383"/>
                    </a:lnTo>
                    <a:lnTo>
                      <a:pt x="555" y="2372"/>
                    </a:lnTo>
                    <a:lnTo>
                      <a:pt x="535" y="2354"/>
                    </a:lnTo>
                    <a:lnTo>
                      <a:pt x="518" y="2335"/>
                    </a:lnTo>
                    <a:lnTo>
                      <a:pt x="505" y="2311"/>
                    </a:lnTo>
                    <a:lnTo>
                      <a:pt x="498" y="2285"/>
                    </a:lnTo>
                    <a:lnTo>
                      <a:pt x="495" y="2258"/>
                    </a:lnTo>
                    <a:lnTo>
                      <a:pt x="491" y="2258"/>
                    </a:lnTo>
                    <a:lnTo>
                      <a:pt x="488" y="2285"/>
                    </a:lnTo>
                    <a:lnTo>
                      <a:pt x="481" y="2311"/>
                    </a:lnTo>
                    <a:lnTo>
                      <a:pt x="469" y="2335"/>
                    </a:lnTo>
                    <a:lnTo>
                      <a:pt x="451" y="2354"/>
                    </a:lnTo>
                    <a:lnTo>
                      <a:pt x="431" y="2372"/>
                    </a:lnTo>
                    <a:lnTo>
                      <a:pt x="408" y="2383"/>
                    </a:lnTo>
                    <a:lnTo>
                      <a:pt x="382" y="2392"/>
                    </a:lnTo>
                    <a:lnTo>
                      <a:pt x="355" y="2394"/>
                    </a:lnTo>
                    <a:lnTo>
                      <a:pt x="327" y="2392"/>
                    </a:lnTo>
                    <a:lnTo>
                      <a:pt x="301" y="2383"/>
                    </a:lnTo>
                    <a:lnTo>
                      <a:pt x="279" y="2372"/>
                    </a:lnTo>
                    <a:lnTo>
                      <a:pt x="258" y="2354"/>
                    </a:lnTo>
                    <a:lnTo>
                      <a:pt x="242" y="2335"/>
                    </a:lnTo>
                    <a:lnTo>
                      <a:pt x="229" y="2311"/>
                    </a:lnTo>
                    <a:lnTo>
                      <a:pt x="221" y="2285"/>
                    </a:lnTo>
                    <a:lnTo>
                      <a:pt x="218" y="2258"/>
                    </a:lnTo>
                    <a:lnTo>
                      <a:pt x="218" y="1386"/>
                    </a:lnTo>
                    <a:lnTo>
                      <a:pt x="201" y="1397"/>
                    </a:lnTo>
                    <a:lnTo>
                      <a:pt x="180" y="1406"/>
                    </a:lnTo>
                    <a:lnTo>
                      <a:pt x="159" y="1411"/>
                    </a:lnTo>
                    <a:lnTo>
                      <a:pt x="137" y="1414"/>
                    </a:lnTo>
                    <a:lnTo>
                      <a:pt x="109" y="1410"/>
                    </a:lnTo>
                    <a:lnTo>
                      <a:pt x="83" y="1403"/>
                    </a:lnTo>
                    <a:lnTo>
                      <a:pt x="60" y="1390"/>
                    </a:lnTo>
                    <a:lnTo>
                      <a:pt x="40" y="1374"/>
                    </a:lnTo>
                    <a:lnTo>
                      <a:pt x="24" y="1353"/>
                    </a:lnTo>
                    <a:lnTo>
                      <a:pt x="11" y="1330"/>
                    </a:lnTo>
                    <a:lnTo>
                      <a:pt x="3" y="1305"/>
                    </a:lnTo>
                    <a:lnTo>
                      <a:pt x="0" y="1276"/>
                    </a:lnTo>
                    <a:lnTo>
                      <a:pt x="0" y="137"/>
                    </a:lnTo>
                    <a:lnTo>
                      <a:pt x="2" y="110"/>
                    </a:lnTo>
                    <a:lnTo>
                      <a:pt x="11" y="84"/>
                    </a:lnTo>
                    <a:lnTo>
                      <a:pt x="23" y="61"/>
                    </a:lnTo>
                    <a:lnTo>
                      <a:pt x="39" y="42"/>
                    </a:lnTo>
                    <a:lnTo>
                      <a:pt x="58" y="25"/>
                    </a:lnTo>
                    <a:lnTo>
                      <a:pt x="81" y="12"/>
                    </a:lnTo>
                    <a:lnTo>
                      <a:pt x="106" y="4"/>
                    </a:lnTo>
                    <a:lnTo>
                      <a:pt x="133" y="1"/>
                    </a:lnTo>
                    <a:lnTo>
                      <a:pt x="133" y="0"/>
                    </a:lnTo>
                    <a:lnTo>
                      <a:pt x="289" y="0"/>
                    </a:lnTo>
                    <a:lnTo>
                      <a:pt x="329"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5" name="Freeform 416"/>
              <p:cNvSpPr/>
              <p:nvPr/>
            </p:nvSpPr>
            <p:spPr bwMode="auto">
              <a:xfrm>
                <a:off x="1564615" y="1638607"/>
                <a:ext cx="118843" cy="131486"/>
              </a:xfrm>
              <a:custGeom>
                <a:avLst/>
                <a:gdLst>
                  <a:gd name="T0" fmla="*/ 249 w 565"/>
                  <a:gd name="T1" fmla="*/ 0 h 629"/>
                  <a:gd name="T2" fmla="*/ 297 w 565"/>
                  <a:gd name="T3" fmla="*/ 3 h 629"/>
                  <a:gd name="T4" fmla="*/ 341 w 565"/>
                  <a:gd name="T5" fmla="*/ 13 h 629"/>
                  <a:gd name="T6" fmla="*/ 382 w 565"/>
                  <a:gd name="T7" fmla="*/ 29 h 629"/>
                  <a:gd name="T8" fmla="*/ 421 w 565"/>
                  <a:gd name="T9" fmla="*/ 51 h 629"/>
                  <a:gd name="T10" fmla="*/ 457 w 565"/>
                  <a:gd name="T11" fmla="*/ 76 h 629"/>
                  <a:gd name="T12" fmla="*/ 488 w 565"/>
                  <a:gd name="T13" fmla="*/ 108 h 629"/>
                  <a:gd name="T14" fmla="*/ 514 w 565"/>
                  <a:gd name="T15" fmla="*/ 143 h 629"/>
                  <a:gd name="T16" fmla="*/ 535 w 565"/>
                  <a:gd name="T17" fmla="*/ 182 h 629"/>
                  <a:gd name="T18" fmla="*/ 552 w 565"/>
                  <a:gd name="T19" fmla="*/ 223 h 629"/>
                  <a:gd name="T20" fmla="*/ 561 w 565"/>
                  <a:gd name="T21" fmla="*/ 269 h 629"/>
                  <a:gd name="T22" fmla="*/ 565 w 565"/>
                  <a:gd name="T23" fmla="*/ 315 h 629"/>
                  <a:gd name="T24" fmla="*/ 562 w 565"/>
                  <a:gd name="T25" fmla="*/ 357 h 629"/>
                  <a:gd name="T26" fmla="*/ 554 w 565"/>
                  <a:gd name="T27" fmla="*/ 398 h 629"/>
                  <a:gd name="T28" fmla="*/ 540 w 565"/>
                  <a:gd name="T29" fmla="*/ 437 h 629"/>
                  <a:gd name="T30" fmla="*/ 521 w 565"/>
                  <a:gd name="T31" fmla="*/ 474 h 629"/>
                  <a:gd name="T32" fmla="*/ 499 w 565"/>
                  <a:gd name="T33" fmla="*/ 507 h 629"/>
                  <a:gd name="T34" fmla="*/ 473 w 565"/>
                  <a:gd name="T35" fmla="*/ 538 h 629"/>
                  <a:gd name="T36" fmla="*/ 443 w 565"/>
                  <a:gd name="T37" fmla="*/ 565 h 629"/>
                  <a:gd name="T38" fmla="*/ 409 w 565"/>
                  <a:gd name="T39" fmla="*/ 587 h 629"/>
                  <a:gd name="T40" fmla="*/ 372 w 565"/>
                  <a:gd name="T41" fmla="*/ 605 h 629"/>
                  <a:gd name="T42" fmla="*/ 333 w 565"/>
                  <a:gd name="T43" fmla="*/ 619 h 629"/>
                  <a:gd name="T44" fmla="*/ 292 w 565"/>
                  <a:gd name="T45" fmla="*/ 627 h 629"/>
                  <a:gd name="T46" fmla="*/ 249 w 565"/>
                  <a:gd name="T47" fmla="*/ 629 h 629"/>
                  <a:gd name="T48" fmla="*/ 204 w 565"/>
                  <a:gd name="T49" fmla="*/ 626 h 629"/>
                  <a:gd name="T50" fmla="*/ 161 w 565"/>
                  <a:gd name="T51" fmla="*/ 616 h 629"/>
                  <a:gd name="T52" fmla="*/ 120 w 565"/>
                  <a:gd name="T53" fmla="*/ 601 h 629"/>
                  <a:gd name="T54" fmla="*/ 82 w 565"/>
                  <a:gd name="T55" fmla="*/ 581 h 629"/>
                  <a:gd name="T56" fmla="*/ 47 w 565"/>
                  <a:gd name="T57" fmla="*/ 555 h 629"/>
                  <a:gd name="T58" fmla="*/ 17 w 565"/>
                  <a:gd name="T59" fmla="*/ 526 h 629"/>
                  <a:gd name="T60" fmla="*/ 34 w 565"/>
                  <a:gd name="T61" fmla="*/ 483 h 629"/>
                  <a:gd name="T62" fmla="*/ 47 w 565"/>
                  <a:gd name="T63" fmla="*/ 438 h 629"/>
                  <a:gd name="T64" fmla="*/ 56 w 565"/>
                  <a:gd name="T65" fmla="*/ 391 h 629"/>
                  <a:gd name="T66" fmla="*/ 59 w 565"/>
                  <a:gd name="T67" fmla="*/ 342 h 629"/>
                  <a:gd name="T68" fmla="*/ 56 w 565"/>
                  <a:gd name="T69" fmla="*/ 296 h 629"/>
                  <a:gd name="T70" fmla="*/ 48 w 565"/>
                  <a:gd name="T71" fmla="*/ 250 h 629"/>
                  <a:gd name="T72" fmla="*/ 36 w 565"/>
                  <a:gd name="T73" fmla="*/ 206 h 629"/>
                  <a:gd name="T74" fmla="*/ 20 w 565"/>
                  <a:gd name="T75" fmla="*/ 164 h 629"/>
                  <a:gd name="T76" fmla="*/ 0 w 565"/>
                  <a:gd name="T77" fmla="*/ 124 h 629"/>
                  <a:gd name="T78" fmla="*/ 27 w 565"/>
                  <a:gd name="T79" fmla="*/ 94 h 629"/>
                  <a:gd name="T80" fmla="*/ 57 w 565"/>
                  <a:gd name="T81" fmla="*/ 67 h 629"/>
                  <a:gd name="T82" fmla="*/ 90 w 565"/>
                  <a:gd name="T83" fmla="*/ 44 h 629"/>
                  <a:gd name="T84" fmla="*/ 126 w 565"/>
                  <a:gd name="T85" fmla="*/ 25 h 629"/>
                  <a:gd name="T86" fmla="*/ 165 w 565"/>
                  <a:gd name="T87" fmla="*/ 12 h 629"/>
                  <a:gd name="T88" fmla="*/ 207 w 565"/>
                  <a:gd name="T89" fmla="*/ 3 h 629"/>
                  <a:gd name="T90" fmla="*/ 249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249" y="0"/>
                    </a:moveTo>
                    <a:lnTo>
                      <a:pt x="297" y="3"/>
                    </a:lnTo>
                    <a:lnTo>
                      <a:pt x="341" y="13"/>
                    </a:lnTo>
                    <a:lnTo>
                      <a:pt x="382" y="29"/>
                    </a:lnTo>
                    <a:lnTo>
                      <a:pt x="421" y="51"/>
                    </a:lnTo>
                    <a:lnTo>
                      <a:pt x="457" y="76"/>
                    </a:lnTo>
                    <a:lnTo>
                      <a:pt x="488" y="108"/>
                    </a:lnTo>
                    <a:lnTo>
                      <a:pt x="514" y="143"/>
                    </a:lnTo>
                    <a:lnTo>
                      <a:pt x="535" y="182"/>
                    </a:lnTo>
                    <a:lnTo>
                      <a:pt x="552" y="223"/>
                    </a:lnTo>
                    <a:lnTo>
                      <a:pt x="561" y="269"/>
                    </a:lnTo>
                    <a:lnTo>
                      <a:pt x="565" y="315"/>
                    </a:lnTo>
                    <a:lnTo>
                      <a:pt x="562" y="357"/>
                    </a:lnTo>
                    <a:lnTo>
                      <a:pt x="554" y="398"/>
                    </a:lnTo>
                    <a:lnTo>
                      <a:pt x="540" y="437"/>
                    </a:lnTo>
                    <a:lnTo>
                      <a:pt x="521" y="474"/>
                    </a:lnTo>
                    <a:lnTo>
                      <a:pt x="499" y="507"/>
                    </a:lnTo>
                    <a:lnTo>
                      <a:pt x="473" y="538"/>
                    </a:lnTo>
                    <a:lnTo>
                      <a:pt x="443" y="565"/>
                    </a:lnTo>
                    <a:lnTo>
                      <a:pt x="409" y="587"/>
                    </a:lnTo>
                    <a:lnTo>
                      <a:pt x="372" y="605"/>
                    </a:lnTo>
                    <a:lnTo>
                      <a:pt x="333" y="619"/>
                    </a:lnTo>
                    <a:lnTo>
                      <a:pt x="292" y="627"/>
                    </a:lnTo>
                    <a:lnTo>
                      <a:pt x="249" y="629"/>
                    </a:lnTo>
                    <a:lnTo>
                      <a:pt x="204" y="626"/>
                    </a:lnTo>
                    <a:lnTo>
                      <a:pt x="161" y="616"/>
                    </a:lnTo>
                    <a:lnTo>
                      <a:pt x="120" y="601"/>
                    </a:lnTo>
                    <a:lnTo>
                      <a:pt x="82" y="581"/>
                    </a:lnTo>
                    <a:lnTo>
                      <a:pt x="47" y="555"/>
                    </a:lnTo>
                    <a:lnTo>
                      <a:pt x="17" y="526"/>
                    </a:lnTo>
                    <a:lnTo>
                      <a:pt x="34" y="483"/>
                    </a:lnTo>
                    <a:lnTo>
                      <a:pt x="47" y="438"/>
                    </a:lnTo>
                    <a:lnTo>
                      <a:pt x="56" y="391"/>
                    </a:lnTo>
                    <a:lnTo>
                      <a:pt x="59" y="342"/>
                    </a:lnTo>
                    <a:lnTo>
                      <a:pt x="56" y="296"/>
                    </a:lnTo>
                    <a:lnTo>
                      <a:pt x="48" y="250"/>
                    </a:lnTo>
                    <a:lnTo>
                      <a:pt x="36" y="206"/>
                    </a:lnTo>
                    <a:lnTo>
                      <a:pt x="20" y="164"/>
                    </a:lnTo>
                    <a:lnTo>
                      <a:pt x="0" y="124"/>
                    </a:lnTo>
                    <a:lnTo>
                      <a:pt x="27" y="94"/>
                    </a:lnTo>
                    <a:lnTo>
                      <a:pt x="57" y="67"/>
                    </a:lnTo>
                    <a:lnTo>
                      <a:pt x="90" y="44"/>
                    </a:lnTo>
                    <a:lnTo>
                      <a:pt x="126" y="25"/>
                    </a:lnTo>
                    <a:lnTo>
                      <a:pt x="165" y="12"/>
                    </a:lnTo>
                    <a:lnTo>
                      <a:pt x="207" y="3"/>
                    </a:lnTo>
                    <a:lnTo>
                      <a:pt x="249"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16" name="Freeform 417"/>
              <p:cNvSpPr/>
              <p:nvPr/>
            </p:nvSpPr>
            <p:spPr bwMode="auto">
              <a:xfrm>
                <a:off x="1567143" y="1780207"/>
                <a:ext cx="154243" cy="505715"/>
              </a:xfrm>
              <a:custGeom>
                <a:avLst/>
                <a:gdLst>
                  <a:gd name="T0" fmla="*/ 510 w 728"/>
                  <a:gd name="T1" fmla="*/ 0 h 2394"/>
                  <a:gd name="T2" fmla="*/ 579 w 728"/>
                  <a:gd name="T3" fmla="*/ 0 h 2394"/>
                  <a:gd name="T4" fmla="*/ 594 w 728"/>
                  <a:gd name="T5" fmla="*/ 0 h 2394"/>
                  <a:gd name="T6" fmla="*/ 621 w 728"/>
                  <a:gd name="T7" fmla="*/ 4 h 2394"/>
                  <a:gd name="T8" fmla="*/ 669 w 728"/>
                  <a:gd name="T9" fmla="*/ 25 h 2394"/>
                  <a:gd name="T10" fmla="*/ 705 w 728"/>
                  <a:gd name="T11" fmla="*/ 61 h 2394"/>
                  <a:gd name="T12" fmla="*/ 725 w 728"/>
                  <a:gd name="T13" fmla="*/ 110 h 2394"/>
                  <a:gd name="T14" fmla="*/ 728 w 728"/>
                  <a:gd name="T15" fmla="*/ 1276 h 2394"/>
                  <a:gd name="T16" fmla="*/ 717 w 728"/>
                  <a:gd name="T17" fmla="*/ 1330 h 2394"/>
                  <a:gd name="T18" fmla="*/ 688 w 728"/>
                  <a:gd name="T19" fmla="*/ 1374 h 2394"/>
                  <a:gd name="T20" fmla="*/ 645 w 728"/>
                  <a:gd name="T21" fmla="*/ 1403 h 2394"/>
                  <a:gd name="T22" fmla="*/ 592 w 728"/>
                  <a:gd name="T23" fmla="*/ 1414 h 2394"/>
                  <a:gd name="T24" fmla="*/ 547 w 728"/>
                  <a:gd name="T25" fmla="*/ 1406 h 2394"/>
                  <a:gd name="T26" fmla="*/ 509 w 728"/>
                  <a:gd name="T27" fmla="*/ 1386 h 2394"/>
                  <a:gd name="T28" fmla="*/ 506 w 728"/>
                  <a:gd name="T29" fmla="*/ 2285 h 2394"/>
                  <a:gd name="T30" fmla="*/ 486 w 728"/>
                  <a:gd name="T31" fmla="*/ 2335 h 2394"/>
                  <a:gd name="T32" fmla="*/ 449 w 728"/>
                  <a:gd name="T33" fmla="*/ 2372 h 2394"/>
                  <a:gd name="T34" fmla="*/ 401 w 728"/>
                  <a:gd name="T35" fmla="*/ 2392 h 2394"/>
                  <a:gd name="T36" fmla="*/ 345 w 728"/>
                  <a:gd name="T37" fmla="*/ 2392 h 2394"/>
                  <a:gd name="T38" fmla="*/ 297 w 728"/>
                  <a:gd name="T39" fmla="*/ 2372 h 2394"/>
                  <a:gd name="T40" fmla="*/ 260 w 728"/>
                  <a:gd name="T41" fmla="*/ 2335 h 2394"/>
                  <a:gd name="T42" fmla="*/ 240 w 728"/>
                  <a:gd name="T43" fmla="*/ 2285 h 2394"/>
                  <a:gd name="T44" fmla="*/ 233 w 728"/>
                  <a:gd name="T45" fmla="*/ 2258 h 2394"/>
                  <a:gd name="T46" fmla="*/ 222 w 728"/>
                  <a:gd name="T47" fmla="*/ 2311 h 2394"/>
                  <a:gd name="T48" fmla="*/ 192 w 728"/>
                  <a:gd name="T49" fmla="*/ 2354 h 2394"/>
                  <a:gd name="T50" fmla="*/ 149 w 728"/>
                  <a:gd name="T51" fmla="*/ 2383 h 2394"/>
                  <a:gd name="T52" fmla="*/ 96 w 728"/>
                  <a:gd name="T53" fmla="*/ 2394 h 2394"/>
                  <a:gd name="T54" fmla="*/ 43 w 728"/>
                  <a:gd name="T55" fmla="*/ 2383 h 2394"/>
                  <a:gd name="T56" fmla="*/ 0 w 728"/>
                  <a:gd name="T57" fmla="*/ 2354 h 2394"/>
                  <a:gd name="T58" fmla="*/ 39 w 728"/>
                  <a:gd name="T59" fmla="*/ 1697 h 2394"/>
                  <a:gd name="T60" fmla="*/ 109 w 728"/>
                  <a:gd name="T61" fmla="*/ 1668 h 2394"/>
                  <a:gd name="T62" fmla="*/ 168 w 728"/>
                  <a:gd name="T63" fmla="*/ 1622 h 2394"/>
                  <a:gd name="T64" fmla="*/ 210 w 728"/>
                  <a:gd name="T65" fmla="*/ 1560 h 2394"/>
                  <a:gd name="T66" fmla="*/ 234 w 728"/>
                  <a:gd name="T67" fmla="*/ 1488 h 2394"/>
                  <a:gd name="T68" fmla="*/ 236 w 728"/>
                  <a:gd name="T69" fmla="*/ 208 h 2394"/>
                  <a:gd name="T70" fmla="*/ 227 w 728"/>
                  <a:gd name="T71" fmla="*/ 137 h 2394"/>
                  <a:gd name="T72" fmla="*/ 199 w 728"/>
                  <a:gd name="T73" fmla="*/ 74 h 2394"/>
                  <a:gd name="T74" fmla="*/ 155 w 728"/>
                  <a:gd name="T75" fmla="*/ 21 h 2394"/>
                  <a:gd name="T76" fmla="*/ 438 w 728"/>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8" h="2394">
                    <a:moveTo>
                      <a:pt x="476" y="0"/>
                    </a:moveTo>
                    <a:lnTo>
                      <a:pt x="510" y="0"/>
                    </a:lnTo>
                    <a:lnTo>
                      <a:pt x="561" y="0"/>
                    </a:lnTo>
                    <a:lnTo>
                      <a:pt x="579" y="0"/>
                    </a:lnTo>
                    <a:lnTo>
                      <a:pt x="591" y="0"/>
                    </a:lnTo>
                    <a:lnTo>
                      <a:pt x="594" y="0"/>
                    </a:lnTo>
                    <a:lnTo>
                      <a:pt x="594" y="1"/>
                    </a:lnTo>
                    <a:lnTo>
                      <a:pt x="621" y="4"/>
                    </a:lnTo>
                    <a:lnTo>
                      <a:pt x="647" y="12"/>
                    </a:lnTo>
                    <a:lnTo>
                      <a:pt x="669" y="25"/>
                    </a:lnTo>
                    <a:lnTo>
                      <a:pt x="689" y="42"/>
                    </a:lnTo>
                    <a:lnTo>
                      <a:pt x="705" y="61"/>
                    </a:lnTo>
                    <a:lnTo>
                      <a:pt x="717" y="84"/>
                    </a:lnTo>
                    <a:lnTo>
                      <a:pt x="725" y="110"/>
                    </a:lnTo>
                    <a:lnTo>
                      <a:pt x="728" y="137"/>
                    </a:lnTo>
                    <a:lnTo>
                      <a:pt x="728" y="1276"/>
                    </a:lnTo>
                    <a:lnTo>
                      <a:pt x="725" y="1305"/>
                    </a:lnTo>
                    <a:lnTo>
                      <a:pt x="717" y="1330"/>
                    </a:lnTo>
                    <a:lnTo>
                      <a:pt x="704" y="1353"/>
                    </a:lnTo>
                    <a:lnTo>
                      <a:pt x="688" y="1374"/>
                    </a:lnTo>
                    <a:lnTo>
                      <a:pt x="667" y="1390"/>
                    </a:lnTo>
                    <a:lnTo>
                      <a:pt x="645" y="1403"/>
                    </a:lnTo>
                    <a:lnTo>
                      <a:pt x="619" y="1410"/>
                    </a:lnTo>
                    <a:lnTo>
                      <a:pt x="592" y="1414"/>
                    </a:lnTo>
                    <a:lnTo>
                      <a:pt x="569" y="1411"/>
                    </a:lnTo>
                    <a:lnTo>
                      <a:pt x="547" y="1406"/>
                    </a:lnTo>
                    <a:lnTo>
                      <a:pt x="527" y="1397"/>
                    </a:lnTo>
                    <a:lnTo>
                      <a:pt x="509" y="1386"/>
                    </a:lnTo>
                    <a:lnTo>
                      <a:pt x="509" y="2258"/>
                    </a:lnTo>
                    <a:lnTo>
                      <a:pt x="506" y="2285"/>
                    </a:lnTo>
                    <a:lnTo>
                      <a:pt x="499" y="2311"/>
                    </a:lnTo>
                    <a:lnTo>
                      <a:pt x="486" y="2335"/>
                    </a:lnTo>
                    <a:lnTo>
                      <a:pt x="470" y="2354"/>
                    </a:lnTo>
                    <a:lnTo>
                      <a:pt x="449" y="2372"/>
                    </a:lnTo>
                    <a:lnTo>
                      <a:pt x="426" y="2383"/>
                    </a:lnTo>
                    <a:lnTo>
                      <a:pt x="401" y="2392"/>
                    </a:lnTo>
                    <a:lnTo>
                      <a:pt x="372" y="2394"/>
                    </a:lnTo>
                    <a:lnTo>
                      <a:pt x="345" y="2392"/>
                    </a:lnTo>
                    <a:lnTo>
                      <a:pt x="320" y="2383"/>
                    </a:lnTo>
                    <a:lnTo>
                      <a:pt x="297" y="2372"/>
                    </a:lnTo>
                    <a:lnTo>
                      <a:pt x="276" y="2354"/>
                    </a:lnTo>
                    <a:lnTo>
                      <a:pt x="260" y="2335"/>
                    </a:lnTo>
                    <a:lnTo>
                      <a:pt x="247" y="2311"/>
                    </a:lnTo>
                    <a:lnTo>
                      <a:pt x="240" y="2285"/>
                    </a:lnTo>
                    <a:lnTo>
                      <a:pt x="236" y="2258"/>
                    </a:lnTo>
                    <a:lnTo>
                      <a:pt x="233" y="2258"/>
                    </a:lnTo>
                    <a:lnTo>
                      <a:pt x="230" y="2285"/>
                    </a:lnTo>
                    <a:lnTo>
                      <a:pt x="222" y="2311"/>
                    </a:lnTo>
                    <a:lnTo>
                      <a:pt x="209" y="2335"/>
                    </a:lnTo>
                    <a:lnTo>
                      <a:pt x="192" y="2354"/>
                    </a:lnTo>
                    <a:lnTo>
                      <a:pt x="173" y="2372"/>
                    </a:lnTo>
                    <a:lnTo>
                      <a:pt x="149" y="2383"/>
                    </a:lnTo>
                    <a:lnTo>
                      <a:pt x="123" y="2392"/>
                    </a:lnTo>
                    <a:lnTo>
                      <a:pt x="96" y="2394"/>
                    </a:lnTo>
                    <a:lnTo>
                      <a:pt x="69" y="2392"/>
                    </a:lnTo>
                    <a:lnTo>
                      <a:pt x="43" y="2383"/>
                    </a:lnTo>
                    <a:lnTo>
                      <a:pt x="19" y="2372"/>
                    </a:lnTo>
                    <a:lnTo>
                      <a:pt x="0" y="2354"/>
                    </a:lnTo>
                    <a:lnTo>
                      <a:pt x="0" y="1702"/>
                    </a:lnTo>
                    <a:lnTo>
                      <a:pt x="39" y="1697"/>
                    </a:lnTo>
                    <a:lnTo>
                      <a:pt x="75" y="1685"/>
                    </a:lnTo>
                    <a:lnTo>
                      <a:pt x="109" y="1668"/>
                    </a:lnTo>
                    <a:lnTo>
                      <a:pt x="140" y="1648"/>
                    </a:lnTo>
                    <a:lnTo>
                      <a:pt x="168" y="1622"/>
                    </a:lnTo>
                    <a:lnTo>
                      <a:pt x="191" y="1593"/>
                    </a:lnTo>
                    <a:lnTo>
                      <a:pt x="210" y="1560"/>
                    </a:lnTo>
                    <a:lnTo>
                      <a:pt x="224" y="1526"/>
                    </a:lnTo>
                    <a:lnTo>
                      <a:pt x="234" y="1488"/>
                    </a:lnTo>
                    <a:lnTo>
                      <a:pt x="236" y="1448"/>
                    </a:lnTo>
                    <a:lnTo>
                      <a:pt x="236" y="208"/>
                    </a:lnTo>
                    <a:lnTo>
                      <a:pt x="234" y="172"/>
                    </a:lnTo>
                    <a:lnTo>
                      <a:pt x="227" y="137"/>
                    </a:lnTo>
                    <a:lnTo>
                      <a:pt x="215" y="105"/>
                    </a:lnTo>
                    <a:lnTo>
                      <a:pt x="199" y="74"/>
                    </a:lnTo>
                    <a:lnTo>
                      <a:pt x="178" y="46"/>
                    </a:lnTo>
                    <a:lnTo>
                      <a:pt x="155" y="21"/>
                    </a:lnTo>
                    <a:lnTo>
                      <a:pt x="128" y="0"/>
                    </a:lnTo>
                    <a:lnTo>
                      <a:pt x="438" y="0"/>
                    </a:lnTo>
                    <a:lnTo>
                      <a:pt x="476"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grpSp>
        <p:sp>
          <p:nvSpPr>
            <p:cNvPr id="17" name="Round Same Side Corner Rectangle 66"/>
            <p:cNvSpPr/>
            <p:nvPr/>
          </p:nvSpPr>
          <p:spPr>
            <a:xfrm>
              <a:off x="2845597" y="1258228"/>
              <a:ext cx="1887242" cy="2690534"/>
            </a:xfrm>
            <a:prstGeom prst="round2SameRect">
              <a:avLst>
                <a:gd name="adj1" fmla="val 50000"/>
                <a:gd name="adj2" fmla="val 0"/>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8" name="Round Same Side Corner Rectangle 104"/>
            <p:cNvSpPr/>
            <p:nvPr/>
          </p:nvSpPr>
          <p:spPr>
            <a:xfrm>
              <a:off x="5152379" y="1258228"/>
              <a:ext cx="1887242"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9" name="Round Same Side Corner Rectangle 117"/>
            <p:cNvSpPr/>
            <p:nvPr/>
          </p:nvSpPr>
          <p:spPr>
            <a:xfrm>
              <a:off x="7449233" y="1258228"/>
              <a:ext cx="1908000" cy="2690534"/>
            </a:xfrm>
            <a:prstGeom prst="round2SameRect">
              <a:avLst>
                <a:gd name="adj1" fmla="val 50000"/>
                <a:gd name="adj2" fmla="val 0"/>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0" name="组合 19"/>
            <p:cNvGrpSpPr>
              <a:grpSpLocks noChangeAspect="1"/>
            </p:cNvGrpSpPr>
            <p:nvPr/>
          </p:nvGrpSpPr>
          <p:grpSpPr>
            <a:xfrm>
              <a:off x="7952780" y="1423240"/>
              <a:ext cx="900002" cy="900000"/>
              <a:chOff x="7835943" y="1423240"/>
              <a:chExt cx="1133678" cy="1133676"/>
            </a:xfrm>
          </p:grpSpPr>
          <p:sp>
            <p:nvSpPr>
              <p:cNvPr id="21" name="Oval 121"/>
              <p:cNvSpPr/>
              <p:nvPr/>
            </p:nvSpPr>
            <p:spPr>
              <a:xfrm>
                <a:off x="7835943"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2" name="Freeform 66"/>
              <p:cNvSpPr>
                <a:spLocks noEditPoints="1"/>
              </p:cNvSpPr>
              <p:nvPr/>
            </p:nvSpPr>
            <p:spPr bwMode="auto">
              <a:xfrm>
                <a:off x="8079492" y="1680664"/>
                <a:ext cx="646580" cy="644254"/>
              </a:xfrm>
              <a:custGeom>
                <a:avLst/>
                <a:gdLst>
                  <a:gd name="T0" fmla="*/ 3130 w 3331"/>
                  <a:gd name="T1" fmla="*/ 1290 h 3328"/>
                  <a:gd name="T2" fmla="*/ 3082 w 3331"/>
                  <a:gd name="T3" fmla="*/ 1039 h 3328"/>
                  <a:gd name="T4" fmla="*/ 2984 w 3331"/>
                  <a:gd name="T5" fmla="*/ 809 h 3328"/>
                  <a:gd name="T6" fmla="*/ 2841 w 3331"/>
                  <a:gd name="T7" fmla="*/ 606 h 3328"/>
                  <a:gd name="T8" fmla="*/ 2661 w 3331"/>
                  <a:gd name="T9" fmla="*/ 438 h 3328"/>
                  <a:gd name="T10" fmla="*/ 2449 w 3331"/>
                  <a:gd name="T11" fmla="*/ 310 h 3328"/>
                  <a:gd name="T12" fmla="*/ 2210 w 3331"/>
                  <a:gd name="T13" fmla="*/ 227 h 3328"/>
                  <a:gd name="T14" fmla="*/ 1571 w 3331"/>
                  <a:gd name="T15" fmla="*/ 185 h 3328"/>
                  <a:gd name="T16" fmla="*/ 1632 w 3331"/>
                  <a:gd name="T17" fmla="*/ 207 h 3328"/>
                  <a:gd name="T18" fmla="*/ 1666 w 3331"/>
                  <a:gd name="T19" fmla="*/ 261 h 3328"/>
                  <a:gd name="T20" fmla="*/ 1672 w 3331"/>
                  <a:gd name="T21" fmla="*/ 1578 h 3328"/>
                  <a:gd name="T22" fmla="*/ 1708 w 3331"/>
                  <a:gd name="T23" fmla="*/ 1635 h 3328"/>
                  <a:gd name="T24" fmla="*/ 1773 w 3331"/>
                  <a:gd name="T25" fmla="*/ 1659 h 3328"/>
                  <a:gd name="T26" fmla="*/ 3087 w 3331"/>
                  <a:gd name="T27" fmla="*/ 1669 h 3328"/>
                  <a:gd name="T28" fmla="*/ 3132 w 3331"/>
                  <a:gd name="T29" fmla="*/ 1714 h 3328"/>
                  <a:gd name="T30" fmla="*/ 3139 w 3331"/>
                  <a:gd name="T31" fmla="*/ 1846 h 3328"/>
                  <a:gd name="T32" fmla="*/ 3103 w 3331"/>
                  <a:gd name="T33" fmla="*/ 2109 h 3328"/>
                  <a:gd name="T34" fmla="*/ 3023 w 3331"/>
                  <a:gd name="T35" fmla="*/ 2358 h 3328"/>
                  <a:gd name="T36" fmla="*/ 2903 w 3331"/>
                  <a:gd name="T37" fmla="*/ 2590 h 3328"/>
                  <a:gd name="T38" fmla="*/ 2743 w 3331"/>
                  <a:gd name="T39" fmla="*/ 2802 h 3328"/>
                  <a:gd name="T40" fmla="*/ 2549 w 3331"/>
                  <a:gd name="T41" fmla="*/ 2986 h 3328"/>
                  <a:gd name="T42" fmla="*/ 2330 w 3331"/>
                  <a:gd name="T43" fmla="*/ 3133 h 3328"/>
                  <a:gd name="T44" fmla="*/ 2091 w 3331"/>
                  <a:gd name="T45" fmla="*/ 3240 h 3328"/>
                  <a:gd name="T46" fmla="*/ 1837 w 3331"/>
                  <a:gd name="T47" fmla="*/ 3305 h 3328"/>
                  <a:gd name="T48" fmla="*/ 1571 w 3331"/>
                  <a:gd name="T49" fmla="*/ 3328 h 3328"/>
                  <a:gd name="T50" fmla="*/ 1440 w 3331"/>
                  <a:gd name="T51" fmla="*/ 3322 h 3328"/>
                  <a:gd name="T52" fmla="*/ 1169 w 3331"/>
                  <a:gd name="T53" fmla="*/ 3276 h 3328"/>
                  <a:gd name="T54" fmla="*/ 912 w 3331"/>
                  <a:gd name="T55" fmla="*/ 3182 h 3328"/>
                  <a:gd name="T56" fmla="*/ 674 w 3331"/>
                  <a:gd name="T57" fmla="*/ 3046 h 3328"/>
                  <a:gd name="T58" fmla="*/ 460 w 3331"/>
                  <a:gd name="T59" fmla="*/ 2866 h 3328"/>
                  <a:gd name="T60" fmla="*/ 281 w 3331"/>
                  <a:gd name="T61" fmla="*/ 2653 h 3328"/>
                  <a:gd name="T62" fmla="*/ 145 w 3331"/>
                  <a:gd name="T63" fmla="*/ 2415 h 3328"/>
                  <a:gd name="T64" fmla="*/ 51 w 3331"/>
                  <a:gd name="T65" fmla="*/ 2158 h 3328"/>
                  <a:gd name="T66" fmla="*/ 4 w 3331"/>
                  <a:gd name="T67" fmla="*/ 1887 h 3328"/>
                  <a:gd name="T68" fmla="*/ 5 w 3331"/>
                  <a:gd name="T69" fmla="*/ 1613 h 3328"/>
                  <a:gd name="T70" fmla="*/ 52 w 3331"/>
                  <a:gd name="T71" fmla="*/ 1349 h 3328"/>
                  <a:gd name="T72" fmla="*/ 142 w 3331"/>
                  <a:gd name="T73" fmla="*/ 1100 h 3328"/>
                  <a:gd name="T74" fmla="*/ 274 w 3331"/>
                  <a:gd name="T75" fmla="*/ 868 h 3328"/>
                  <a:gd name="T76" fmla="*/ 446 w 3331"/>
                  <a:gd name="T77" fmla="*/ 659 h 3328"/>
                  <a:gd name="T78" fmla="*/ 651 w 3331"/>
                  <a:gd name="T79" fmla="*/ 482 h 3328"/>
                  <a:gd name="T80" fmla="*/ 880 w 3331"/>
                  <a:gd name="T81" fmla="*/ 344 h 3328"/>
                  <a:gd name="T82" fmla="*/ 1128 w 3331"/>
                  <a:gd name="T83" fmla="*/ 249 h 3328"/>
                  <a:gd name="T84" fmla="*/ 1389 w 3331"/>
                  <a:gd name="T85" fmla="*/ 196 h 3328"/>
                  <a:gd name="T86" fmla="*/ 1943 w 3331"/>
                  <a:gd name="T87" fmla="*/ 0 h 3328"/>
                  <a:gd name="T88" fmla="*/ 2222 w 3331"/>
                  <a:gd name="T89" fmla="*/ 29 h 3328"/>
                  <a:gd name="T90" fmla="*/ 2482 w 3331"/>
                  <a:gd name="T91" fmla="*/ 109 h 3328"/>
                  <a:gd name="T92" fmla="*/ 2718 w 3331"/>
                  <a:gd name="T93" fmla="*/ 237 h 3328"/>
                  <a:gd name="T94" fmla="*/ 2923 w 3331"/>
                  <a:gd name="T95" fmla="*/ 407 h 3328"/>
                  <a:gd name="T96" fmla="*/ 3094 w 3331"/>
                  <a:gd name="T97" fmla="*/ 613 h 3328"/>
                  <a:gd name="T98" fmla="*/ 3222 w 3331"/>
                  <a:gd name="T99" fmla="*/ 848 h 3328"/>
                  <a:gd name="T100" fmla="*/ 3302 w 3331"/>
                  <a:gd name="T101" fmla="*/ 1109 h 3328"/>
                  <a:gd name="T102" fmla="*/ 3331 w 3331"/>
                  <a:gd name="T103" fmla="*/ 1388 h 3328"/>
                  <a:gd name="T104" fmla="*/ 3310 w 3331"/>
                  <a:gd name="T105" fmla="*/ 1449 h 3328"/>
                  <a:gd name="T106" fmla="*/ 3256 w 3331"/>
                  <a:gd name="T107" fmla="*/ 1484 h 3328"/>
                  <a:gd name="T108" fmla="*/ 1920 w 3331"/>
                  <a:gd name="T109" fmla="*/ 1484 h 3328"/>
                  <a:gd name="T110" fmla="*/ 1866 w 3331"/>
                  <a:gd name="T111" fmla="*/ 1449 h 3328"/>
                  <a:gd name="T112" fmla="*/ 1844 w 3331"/>
                  <a:gd name="T113" fmla="*/ 1388 h 3328"/>
                  <a:gd name="T114" fmla="*/ 1854 w 3331"/>
                  <a:gd name="T115" fmla="*/ 55 h 3328"/>
                  <a:gd name="T116" fmla="*/ 1899 w 3331"/>
                  <a:gd name="T117" fmla="*/ 10 h 3328"/>
                  <a:gd name="T118" fmla="*/ 1943 w 3331"/>
                  <a:gd name="T119" fmla="*/ 0 h 3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31" h="3328">
                    <a:moveTo>
                      <a:pt x="2040" y="201"/>
                    </a:moveTo>
                    <a:lnTo>
                      <a:pt x="2040" y="1290"/>
                    </a:lnTo>
                    <a:lnTo>
                      <a:pt x="3130" y="1290"/>
                    </a:lnTo>
                    <a:lnTo>
                      <a:pt x="3120" y="1204"/>
                    </a:lnTo>
                    <a:lnTo>
                      <a:pt x="3104" y="1120"/>
                    </a:lnTo>
                    <a:lnTo>
                      <a:pt x="3082" y="1039"/>
                    </a:lnTo>
                    <a:lnTo>
                      <a:pt x="3055" y="959"/>
                    </a:lnTo>
                    <a:lnTo>
                      <a:pt x="3021" y="882"/>
                    </a:lnTo>
                    <a:lnTo>
                      <a:pt x="2984" y="809"/>
                    </a:lnTo>
                    <a:lnTo>
                      <a:pt x="2941" y="737"/>
                    </a:lnTo>
                    <a:lnTo>
                      <a:pt x="2893" y="670"/>
                    </a:lnTo>
                    <a:lnTo>
                      <a:pt x="2841" y="606"/>
                    </a:lnTo>
                    <a:lnTo>
                      <a:pt x="2785" y="546"/>
                    </a:lnTo>
                    <a:lnTo>
                      <a:pt x="2725" y="490"/>
                    </a:lnTo>
                    <a:lnTo>
                      <a:pt x="2661" y="438"/>
                    </a:lnTo>
                    <a:lnTo>
                      <a:pt x="2593" y="390"/>
                    </a:lnTo>
                    <a:lnTo>
                      <a:pt x="2522" y="347"/>
                    </a:lnTo>
                    <a:lnTo>
                      <a:pt x="2449" y="310"/>
                    </a:lnTo>
                    <a:lnTo>
                      <a:pt x="2371" y="276"/>
                    </a:lnTo>
                    <a:lnTo>
                      <a:pt x="2292" y="249"/>
                    </a:lnTo>
                    <a:lnTo>
                      <a:pt x="2210" y="227"/>
                    </a:lnTo>
                    <a:lnTo>
                      <a:pt x="2127" y="211"/>
                    </a:lnTo>
                    <a:lnTo>
                      <a:pt x="2040" y="201"/>
                    </a:lnTo>
                    <a:close/>
                    <a:moveTo>
                      <a:pt x="1571" y="185"/>
                    </a:moveTo>
                    <a:lnTo>
                      <a:pt x="1593" y="189"/>
                    </a:lnTo>
                    <a:lnTo>
                      <a:pt x="1614" y="196"/>
                    </a:lnTo>
                    <a:lnTo>
                      <a:pt x="1632" y="207"/>
                    </a:lnTo>
                    <a:lnTo>
                      <a:pt x="1647" y="222"/>
                    </a:lnTo>
                    <a:lnTo>
                      <a:pt x="1658" y="240"/>
                    </a:lnTo>
                    <a:lnTo>
                      <a:pt x="1666" y="261"/>
                    </a:lnTo>
                    <a:lnTo>
                      <a:pt x="1669" y="284"/>
                    </a:lnTo>
                    <a:lnTo>
                      <a:pt x="1669" y="1555"/>
                    </a:lnTo>
                    <a:lnTo>
                      <a:pt x="1672" y="1578"/>
                    </a:lnTo>
                    <a:lnTo>
                      <a:pt x="1680" y="1600"/>
                    </a:lnTo>
                    <a:lnTo>
                      <a:pt x="1692" y="1619"/>
                    </a:lnTo>
                    <a:lnTo>
                      <a:pt x="1708" y="1635"/>
                    </a:lnTo>
                    <a:lnTo>
                      <a:pt x="1728" y="1648"/>
                    </a:lnTo>
                    <a:lnTo>
                      <a:pt x="1749" y="1656"/>
                    </a:lnTo>
                    <a:lnTo>
                      <a:pt x="1773" y="1659"/>
                    </a:lnTo>
                    <a:lnTo>
                      <a:pt x="3044" y="1659"/>
                    </a:lnTo>
                    <a:lnTo>
                      <a:pt x="3067" y="1661"/>
                    </a:lnTo>
                    <a:lnTo>
                      <a:pt x="3087" y="1669"/>
                    </a:lnTo>
                    <a:lnTo>
                      <a:pt x="3106" y="1680"/>
                    </a:lnTo>
                    <a:lnTo>
                      <a:pt x="3121" y="1695"/>
                    </a:lnTo>
                    <a:lnTo>
                      <a:pt x="3132" y="1714"/>
                    </a:lnTo>
                    <a:lnTo>
                      <a:pt x="3139" y="1734"/>
                    </a:lnTo>
                    <a:lnTo>
                      <a:pt x="3142" y="1757"/>
                    </a:lnTo>
                    <a:lnTo>
                      <a:pt x="3139" y="1846"/>
                    </a:lnTo>
                    <a:lnTo>
                      <a:pt x="3132" y="1935"/>
                    </a:lnTo>
                    <a:lnTo>
                      <a:pt x="3120" y="2022"/>
                    </a:lnTo>
                    <a:lnTo>
                      <a:pt x="3103" y="2109"/>
                    </a:lnTo>
                    <a:lnTo>
                      <a:pt x="3081" y="2193"/>
                    </a:lnTo>
                    <a:lnTo>
                      <a:pt x="3055" y="2277"/>
                    </a:lnTo>
                    <a:lnTo>
                      <a:pt x="3023" y="2358"/>
                    </a:lnTo>
                    <a:lnTo>
                      <a:pt x="2988" y="2438"/>
                    </a:lnTo>
                    <a:lnTo>
                      <a:pt x="2948" y="2515"/>
                    </a:lnTo>
                    <a:lnTo>
                      <a:pt x="2903" y="2590"/>
                    </a:lnTo>
                    <a:lnTo>
                      <a:pt x="2854" y="2664"/>
                    </a:lnTo>
                    <a:lnTo>
                      <a:pt x="2801" y="2734"/>
                    </a:lnTo>
                    <a:lnTo>
                      <a:pt x="2743" y="2802"/>
                    </a:lnTo>
                    <a:lnTo>
                      <a:pt x="2682" y="2867"/>
                    </a:lnTo>
                    <a:lnTo>
                      <a:pt x="2617" y="2928"/>
                    </a:lnTo>
                    <a:lnTo>
                      <a:pt x="2549" y="2986"/>
                    </a:lnTo>
                    <a:lnTo>
                      <a:pt x="2478" y="3039"/>
                    </a:lnTo>
                    <a:lnTo>
                      <a:pt x="2405" y="3088"/>
                    </a:lnTo>
                    <a:lnTo>
                      <a:pt x="2330" y="3133"/>
                    </a:lnTo>
                    <a:lnTo>
                      <a:pt x="2252" y="3173"/>
                    </a:lnTo>
                    <a:lnTo>
                      <a:pt x="2173" y="3208"/>
                    </a:lnTo>
                    <a:lnTo>
                      <a:pt x="2091" y="3240"/>
                    </a:lnTo>
                    <a:lnTo>
                      <a:pt x="2008" y="3266"/>
                    </a:lnTo>
                    <a:lnTo>
                      <a:pt x="1922" y="3288"/>
                    </a:lnTo>
                    <a:lnTo>
                      <a:pt x="1837" y="3305"/>
                    </a:lnTo>
                    <a:lnTo>
                      <a:pt x="1749" y="3317"/>
                    </a:lnTo>
                    <a:lnTo>
                      <a:pt x="1660" y="3325"/>
                    </a:lnTo>
                    <a:lnTo>
                      <a:pt x="1571" y="3328"/>
                    </a:lnTo>
                    <a:lnTo>
                      <a:pt x="1571" y="3328"/>
                    </a:lnTo>
                    <a:lnTo>
                      <a:pt x="1533" y="3328"/>
                    </a:lnTo>
                    <a:lnTo>
                      <a:pt x="1440" y="3322"/>
                    </a:lnTo>
                    <a:lnTo>
                      <a:pt x="1349" y="3312"/>
                    </a:lnTo>
                    <a:lnTo>
                      <a:pt x="1258" y="3296"/>
                    </a:lnTo>
                    <a:lnTo>
                      <a:pt x="1169" y="3276"/>
                    </a:lnTo>
                    <a:lnTo>
                      <a:pt x="1082" y="3249"/>
                    </a:lnTo>
                    <a:lnTo>
                      <a:pt x="995" y="3219"/>
                    </a:lnTo>
                    <a:lnTo>
                      <a:pt x="912" y="3182"/>
                    </a:lnTo>
                    <a:lnTo>
                      <a:pt x="830" y="3141"/>
                    </a:lnTo>
                    <a:lnTo>
                      <a:pt x="751" y="3095"/>
                    </a:lnTo>
                    <a:lnTo>
                      <a:pt x="674" y="3046"/>
                    </a:lnTo>
                    <a:lnTo>
                      <a:pt x="600" y="2990"/>
                    </a:lnTo>
                    <a:lnTo>
                      <a:pt x="529" y="2930"/>
                    </a:lnTo>
                    <a:lnTo>
                      <a:pt x="460" y="2866"/>
                    </a:lnTo>
                    <a:lnTo>
                      <a:pt x="396" y="2798"/>
                    </a:lnTo>
                    <a:lnTo>
                      <a:pt x="337" y="2727"/>
                    </a:lnTo>
                    <a:lnTo>
                      <a:pt x="281" y="2653"/>
                    </a:lnTo>
                    <a:lnTo>
                      <a:pt x="231" y="2576"/>
                    </a:lnTo>
                    <a:lnTo>
                      <a:pt x="185" y="2497"/>
                    </a:lnTo>
                    <a:lnTo>
                      <a:pt x="145" y="2415"/>
                    </a:lnTo>
                    <a:lnTo>
                      <a:pt x="108" y="2332"/>
                    </a:lnTo>
                    <a:lnTo>
                      <a:pt x="77" y="2245"/>
                    </a:lnTo>
                    <a:lnTo>
                      <a:pt x="51" y="2158"/>
                    </a:lnTo>
                    <a:lnTo>
                      <a:pt x="31" y="2069"/>
                    </a:lnTo>
                    <a:lnTo>
                      <a:pt x="14" y="1978"/>
                    </a:lnTo>
                    <a:lnTo>
                      <a:pt x="4" y="1887"/>
                    </a:lnTo>
                    <a:lnTo>
                      <a:pt x="0" y="1794"/>
                    </a:lnTo>
                    <a:lnTo>
                      <a:pt x="0" y="1704"/>
                    </a:lnTo>
                    <a:lnTo>
                      <a:pt x="5" y="1613"/>
                    </a:lnTo>
                    <a:lnTo>
                      <a:pt x="16" y="1524"/>
                    </a:lnTo>
                    <a:lnTo>
                      <a:pt x="32" y="1436"/>
                    </a:lnTo>
                    <a:lnTo>
                      <a:pt x="52" y="1349"/>
                    </a:lnTo>
                    <a:lnTo>
                      <a:pt x="77" y="1265"/>
                    </a:lnTo>
                    <a:lnTo>
                      <a:pt x="107" y="1181"/>
                    </a:lnTo>
                    <a:lnTo>
                      <a:pt x="142" y="1100"/>
                    </a:lnTo>
                    <a:lnTo>
                      <a:pt x="181" y="1020"/>
                    </a:lnTo>
                    <a:lnTo>
                      <a:pt x="225" y="943"/>
                    </a:lnTo>
                    <a:lnTo>
                      <a:pt x="274" y="868"/>
                    </a:lnTo>
                    <a:lnTo>
                      <a:pt x="327" y="795"/>
                    </a:lnTo>
                    <a:lnTo>
                      <a:pt x="384" y="726"/>
                    </a:lnTo>
                    <a:lnTo>
                      <a:pt x="446" y="659"/>
                    </a:lnTo>
                    <a:lnTo>
                      <a:pt x="511" y="596"/>
                    </a:lnTo>
                    <a:lnTo>
                      <a:pt x="580" y="537"/>
                    </a:lnTo>
                    <a:lnTo>
                      <a:pt x="651" y="482"/>
                    </a:lnTo>
                    <a:lnTo>
                      <a:pt x="725" y="432"/>
                    </a:lnTo>
                    <a:lnTo>
                      <a:pt x="801" y="386"/>
                    </a:lnTo>
                    <a:lnTo>
                      <a:pt x="880" y="344"/>
                    </a:lnTo>
                    <a:lnTo>
                      <a:pt x="961" y="308"/>
                    </a:lnTo>
                    <a:lnTo>
                      <a:pt x="1043" y="276"/>
                    </a:lnTo>
                    <a:lnTo>
                      <a:pt x="1128" y="249"/>
                    </a:lnTo>
                    <a:lnTo>
                      <a:pt x="1213" y="226"/>
                    </a:lnTo>
                    <a:lnTo>
                      <a:pt x="1301" y="209"/>
                    </a:lnTo>
                    <a:lnTo>
                      <a:pt x="1389" y="196"/>
                    </a:lnTo>
                    <a:lnTo>
                      <a:pt x="1480" y="189"/>
                    </a:lnTo>
                    <a:lnTo>
                      <a:pt x="1571" y="185"/>
                    </a:lnTo>
                    <a:close/>
                    <a:moveTo>
                      <a:pt x="1943" y="0"/>
                    </a:moveTo>
                    <a:lnTo>
                      <a:pt x="2037" y="3"/>
                    </a:lnTo>
                    <a:lnTo>
                      <a:pt x="2130" y="13"/>
                    </a:lnTo>
                    <a:lnTo>
                      <a:pt x="2222" y="29"/>
                    </a:lnTo>
                    <a:lnTo>
                      <a:pt x="2311" y="50"/>
                    </a:lnTo>
                    <a:lnTo>
                      <a:pt x="2398" y="77"/>
                    </a:lnTo>
                    <a:lnTo>
                      <a:pt x="2482" y="109"/>
                    </a:lnTo>
                    <a:lnTo>
                      <a:pt x="2564" y="147"/>
                    </a:lnTo>
                    <a:lnTo>
                      <a:pt x="2642" y="190"/>
                    </a:lnTo>
                    <a:lnTo>
                      <a:pt x="2718" y="237"/>
                    </a:lnTo>
                    <a:lnTo>
                      <a:pt x="2790" y="289"/>
                    </a:lnTo>
                    <a:lnTo>
                      <a:pt x="2858" y="346"/>
                    </a:lnTo>
                    <a:lnTo>
                      <a:pt x="2923" y="407"/>
                    </a:lnTo>
                    <a:lnTo>
                      <a:pt x="2985" y="472"/>
                    </a:lnTo>
                    <a:lnTo>
                      <a:pt x="3041" y="541"/>
                    </a:lnTo>
                    <a:lnTo>
                      <a:pt x="3094" y="613"/>
                    </a:lnTo>
                    <a:lnTo>
                      <a:pt x="3140" y="688"/>
                    </a:lnTo>
                    <a:lnTo>
                      <a:pt x="3183" y="767"/>
                    </a:lnTo>
                    <a:lnTo>
                      <a:pt x="3222" y="848"/>
                    </a:lnTo>
                    <a:lnTo>
                      <a:pt x="3253" y="933"/>
                    </a:lnTo>
                    <a:lnTo>
                      <a:pt x="3281" y="1019"/>
                    </a:lnTo>
                    <a:lnTo>
                      <a:pt x="3302" y="1109"/>
                    </a:lnTo>
                    <a:lnTo>
                      <a:pt x="3318" y="1200"/>
                    </a:lnTo>
                    <a:lnTo>
                      <a:pt x="3328" y="1293"/>
                    </a:lnTo>
                    <a:lnTo>
                      <a:pt x="3331" y="1388"/>
                    </a:lnTo>
                    <a:lnTo>
                      <a:pt x="3328" y="1410"/>
                    </a:lnTo>
                    <a:lnTo>
                      <a:pt x="3321" y="1431"/>
                    </a:lnTo>
                    <a:lnTo>
                      <a:pt x="3310" y="1449"/>
                    </a:lnTo>
                    <a:lnTo>
                      <a:pt x="3294" y="1464"/>
                    </a:lnTo>
                    <a:lnTo>
                      <a:pt x="3276" y="1477"/>
                    </a:lnTo>
                    <a:lnTo>
                      <a:pt x="3256" y="1484"/>
                    </a:lnTo>
                    <a:lnTo>
                      <a:pt x="3232" y="1486"/>
                    </a:lnTo>
                    <a:lnTo>
                      <a:pt x="1943" y="1486"/>
                    </a:lnTo>
                    <a:lnTo>
                      <a:pt x="1920" y="1484"/>
                    </a:lnTo>
                    <a:lnTo>
                      <a:pt x="1899" y="1477"/>
                    </a:lnTo>
                    <a:lnTo>
                      <a:pt x="1881" y="1464"/>
                    </a:lnTo>
                    <a:lnTo>
                      <a:pt x="1866" y="1449"/>
                    </a:lnTo>
                    <a:lnTo>
                      <a:pt x="1854" y="1431"/>
                    </a:lnTo>
                    <a:lnTo>
                      <a:pt x="1847" y="1410"/>
                    </a:lnTo>
                    <a:lnTo>
                      <a:pt x="1844" y="1388"/>
                    </a:lnTo>
                    <a:lnTo>
                      <a:pt x="1844" y="98"/>
                    </a:lnTo>
                    <a:lnTo>
                      <a:pt x="1847" y="75"/>
                    </a:lnTo>
                    <a:lnTo>
                      <a:pt x="1854" y="55"/>
                    </a:lnTo>
                    <a:lnTo>
                      <a:pt x="1866" y="37"/>
                    </a:lnTo>
                    <a:lnTo>
                      <a:pt x="1881" y="22"/>
                    </a:lnTo>
                    <a:lnTo>
                      <a:pt x="1899" y="10"/>
                    </a:lnTo>
                    <a:lnTo>
                      <a:pt x="1920" y="3"/>
                    </a:lnTo>
                    <a:lnTo>
                      <a:pt x="1943" y="0"/>
                    </a:lnTo>
                    <a:lnTo>
                      <a:pt x="1943" y="0"/>
                    </a:lnTo>
                    <a:close/>
                  </a:path>
                </a:pathLst>
              </a:custGeom>
              <a:solidFill>
                <a:srgbClr val="039ACF"/>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p:txBody>
          </p:sp>
        </p:grpSp>
        <p:sp>
          <p:nvSpPr>
            <p:cNvPr id="23" name="Round Same Side Corner Rectangle 130"/>
            <p:cNvSpPr/>
            <p:nvPr/>
          </p:nvSpPr>
          <p:spPr>
            <a:xfrm>
              <a:off x="9754135" y="1258228"/>
              <a:ext cx="1908000" cy="2690534"/>
            </a:xfrm>
            <a:prstGeom prst="round2SameRect">
              <a:avLst>
                <a:gd name="adj1" fmla="val 50000"/>
                <a:gd name="adj2" fmla="val 0"/>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4" name="组合 23"/>
            <p:cNvGrpSpPr/>
            <p:nvPr/>
          </p:nvGrpSpPr>
          <p:grpSpPr>
            <a:xfrm>
              <a:off x="10264024" y="1491116"/>
              <a:ext cx="900000" cy="900000"/>
              <a:chOff x="10142726" y="1423240"/>
              <a:chExt cx="1133678" cy="1133676"/>
            </a:xfrm>
          </p:grpSpPr>
          <p:sp>
            <p:nvSpPr>
              <p:cNvPr id="25" name="Oval 134"/>
              <p:cNvSpPr/>
              <p:nvPr/>
            </p:nvSpPr>
            <p:spPr>
              <a:xfrm>
                <a:off x="10142726"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6" name="Freeform 290"/>
              <p:cNvSpPr>
                <a:spLocks noEditPoints="1"/>
              </p:cNvSpPr>
              <p:nvPr/>
            </p:nvSpPr>
            <p:spPr bwMode="auto">
              <a:xfrm>
                <a:off x="10684245" y="1963702"/>
                <a:ext cx="320724" cy="318615"/>
              </a:xfrm>
              <a:custGeom>
                <a:avLst/>
                <a:gdLst>
                  <a:gd name="T0" fmla="*/ 582 w 1676"/>
                  <a:gd name="T1" fmla="*/ 282 h 1813"/>
                  <a:gd name="T2" fmla="*/ 453 w 1676"/>
                  <a:gd name="T3" fmla="*/ 343 h 1813"/>
                  <a:gd name="T4" fmla="*/ 344 w 1676"/>
                  <a:gd name="T5" fmla="*/ 449 h 1813"/>
                  <a:gd name="T6" fmla="*/ 274 w 1676"/>
                  <a:gd name="T7" fmla="*/ 582 h 1813"/>
                  <a:gd name="T8" fmla="*/ 246 w 1676"/>
                  <a:gd name="T9" fmla="*/ 729 h 1813"/>
                  <a:gd name="T10" fmla="*/ 260 w 1676"/>
                  <a:gd name="T11" fmla="*/ 878 h 1813"/>
                  <a:gd name="T12" fmla="*/ 316 w 1676"/>
                  <a:gd name="T13" fmla="*/ 1018 h 1813"/>
                  <a:gd name="T14" fmla="*/ 414 w 1676"/>
                  <a:gd name="T15" fmla="*/ 1136 h 1813"/>
                  <a:gd name="T16" fmla="*/ 538 w 1676"/>
                  <a:gd name="T17" fmla="*/ 1212 h 1813"/>
                  <a:gd name="T18" fmla="*/ 673 w 1676"/>
                  <a:gd name="T19" fmla="*/ 1242 h 1813"/>
                  <a:gd name="T20" fmla="*/ 811 w 1676"/>
                  <a:gd name="T21" fmla="*/ 1227 h 1813"/>
                  <a:gd name="T22" fmla="*/ 941 w 1676"/>
                  <a:gd name="T23" fmla="*/ 1166 h 1813"/>
                  <a:gd name="T24" fmla="*/ 1049 w 1676"/>
                  <a:gd name="T25" fmla="*/ 1061 h 1813"/>
                  <a:gd name="T26" fmla="*/ 1119 w 1676"/>
                  <a:gd name="T27" fmla="*/ 927 h 1813"/>
                  <a:gd name="T28" fmla="*/ 1147 w 1676"/>
                  <a:gd name="T29" fmla="*/ 779 h 1813"/>
                  <a:gd name="T30" fmla="*/ 1133 w 1676"/>
                  <a:gd name="T31" fmla="*/ 630 h 1813"/>
                  <a:gd name="T32" fmla="*/ 1077 w 1676"/>
                  <a:gd name="T33" fmla="*/ 491 h 1813"/>
                  <a:gd name="T34" fmla="*/ 980 w 1676"/>
                  <a:gd name="T35" fmla="*/ 374 h 1813"/>
                  <a:gd name="T36" fmla="*/ 855 w 1676"/>
                  <a:gd name="T37" fmla="*/ 298 h 1813"/>
                  <a:gd name="T38" fmla="*/ 720 w 1676"/>
                  <a:gd name="T39" fmla="*/ 267 h 1813"/>
                  <a:gd name="T40" fmla="*/ 781 w 1676"/>
                  <a:gd name="T41" fmla="*/ 5 h 1813"/>
                  <a:gd name="T42" fmla="*/ 946 w 1676"/>
                  <a:gd name="T43" fmla="*/ 49 h 1813"/>
                  <a:gd name="T44" fmla="*/ 1099 w 1676"/>
                  <a:gd name="T45" fmla="*/ 137 h 1813"/>
                  <a:gd name="T46" fmla="*/ 1230 w 1676"/>
                  <a:gd name="T47" fmla="*/ 267 h 1813"/>
                  <a:gd name="T48" fmla="*/ 1324 w 1676"/>
                  <a:gd name="T49" fmla="*/ 424 h 1813"/>
                  <a:gd name="T50" fmla="*/ 1378 w 1676"/>
                  <a:gd name="T51" fmla="*/ 596 h 1813"/>
                  <a:gd name="T52" fmla="*/ 1393 w 1676"/>
                  <a:gd name="T53" fmla="*/ 775 h 1813"/>
                  <a:gd name="T54" fmla="*/ 1368 w 1676"/>
                  <a:gd name="T55" fmla="*/ 953 h 1813"/>
                  <a:gd name="T56" fmla="*/ 1603 w 1676"/>
                  <a:gd name="T57" fmla="*/ 1363 h 1813"/>
                  <a:gd name="T58" fmla="*/ 1656 w 1676"/>
                  <a:gd name="T59" fmla="*/ 1449 h 1813"/>
                  <a:gd name="T60" fmla="*/ 1676 w 1676"/>
                  <a:gd name="T61" fmla="*/ 1550 h 1813"/>
                  <a:gd name="T62" fmla="*/ 1656 w 1676"/>
                  <a:gd name="T63" fmla="*/ 1651 h 1813"/>
                  <a:gd name="T64" fmla="*/ 1603 w 1676"/>
                  <a:gd name="T65" fmla="*/ 1737 h 1813"/>
                  <a:gd name="T66" fmla="*/ 1515 w 1676"/>
                  <a:gd name="T67" fmla="*/ 1798 h 1813"/>
                  <a:gd name="T68" fmla="*/ 1414 w 1676"/>
                  <a:gd name="T69" fmla="*/ 1813 h 1813"/>
                  <a:gd name="T70" fmla="*/ 1316 w 1676"/>
                  <a:gd name="T71" fmla="*/ 1783 h 1813"/>
                  <a:gd name="T72" fmla="*/ 986 w 1676"/>
                  <a:gd name="T73" fmla="*/ 1441 h 1813"/>
                  <a:gd name="T74" fmla="*/ 826 w 1676"/>
                  <a:gd name="T75" fmla="*/ 1496 h 1813"/>
                  <a:gd name="T76" fmla="*/ 660 w 1676"/>
                  <a:gd name="T77" fmla="*/ 1508 h 1813"/>
                  <a:gd name="T78" fmla="*/ 496 w 1676"/>
                  <a:gd name="T79" fmla="*/ 1477 h 1813"/>
                  <a:gd name="T80" fmla="*/ 341 w 1676"/>
                  <a:gd name="T81" fmla="*/ 1404 h 1813"/>
                  <a:gd name="T82" fmla="*/ 204 w 1676"/>
                  <a:gd name="T83" fmla="*/ 1289 h 1813"/>
                  <a:gd name="T84" fmla="*/ 95 w 1676"/>
                  <a:gd name="T85" fmla="*/ 1137 h 1813"/>
                  <a:gd name="T86" fmla="*/ 27 w 1676"/>
                  <a:gd name="T87" fmla="*/ 966 h 1813"/>
                  <a:gd name="T88" fmla="*/ 0 w 1676"/>
                  <a:gd name="T89" fmla="*/ 785 h 1813"/>
                  <a:gd name="T90" fmla="*/ 13 w 1676"/>
                  <a:gd name="T91" fmla="*/ 602 h 1813"/>
                  <a:gd name="T92" fmla="*/ 67 w 1676"/>
                  <a:gd name="T93" fmla="*/ 427 h 1813"/>
                  <a:gd name="T94" fmla="*/ 162 w 1676"/>
                  <a:gd name="T95" fmla="*/ 268 h 1813"/>
                  <a:gd name="T96" fmla="*/ 294 w 1676"/>
                  <a:gd name="T97" fmla="*/ 137 h 1813"/>
                  <a:gd name="T98" fmla="*/ 447 w 1676"/>
                  <a:gd name="T99" fmla="*/ 49 h 1813"/>
                  <a:gd name="T100" fmla="*/ 612 w 1676"/>
                  <a:gd name="T101" fmla="*/ 5 h 1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76" h="1813">
                    <a:moveTo>
                      <a:pt x="673" y="267"/>
                    </a:moveTo>
                    <a:lnTo>
                      <a:pt x="627" y="272"/>
                    </a:lnTo>
                    <a:lnTo>
                      <a:pt x="582" y="282"/>
                    </a:lnTo>
                    <a:lnTo>
                      <a:pt x="538" y="298"/>
                    </a:lnTo>
                    <a:lnTo>
                      <a:pt x="495" y="317"/>
                    </a:lnTo>
                    <a:lnTo>
                      <a:pt x="453" y="343"/>
                    </a:lnTo>
                    <a:lnTo>
                      <a:pt x="414" y="374"/>
                    </a:lnTo>
                    <a:lnTo>
                      <a:pt x="377" y="409"/>
                    </a:lnTo>
                    <a:lnTo>
                      <a:pt x="344" y="449"/>
                    </a:lnTo>
                    <a:lnTo>
                      <a:pt x="316" y="491"/>
                    </a:lnTo>
                    <a:lnTo>
                      <a:pt x="293" y="536"/>
                    </a:lnTo>
                    <a:lnTo>
                      <a:pt x="274" y="582"/>
                    </a:lnTo>
                    <a:lnTo>
                      <a:pt x="260" y="630"/>
                    </a:lnTo>
                    <a:lnTo>
                      <a:pt x="251" y="679"/>
                    </a:lnTo>
                    <a:lnTo>
                      <a:pt x="246" y="729"/>
                    </a:lnTo>
                    <a:lnTo>
                      <a:pt x="246" y="779"/>
                    </a:lnTo>
                    <a:lnTo>
                      <a:pt x="251" y="829"/>
                    </a:lnTo>
                    <a:lnTo>
                      <a:pt x="260" y="878"/>
                    </a:lnTo>
                    <a:lnTo>
                      <a:pt x="274" y="927"/>
                    </a:lnTo>
                    <a:lnTo>
                      <a:pt x="293" y="974"/>
                    </a:lnTo>
                    <a:lnTo>
                      <a:pt x="316" y="1018"/>
                    </a:lnTo>
                    <a:lnTo>
                      <a:pt x="344" y="1061"/>
                    </a:lnTo>
                    <a:lnTo>
                      <a:pt x="377" y="1100"/>
                    </a:lnTo>
                    <a:lnTo>
                      <a:pt x="414" y="1136"/>
                    </a:lnTo>
                    <a:lnTo>
                      <a:pt x="453" y="1166"/>
                    </a:lnTo>
                    <a:lnTo>
                      <a:pt x="495" y="1191"/>
                    </a:lnTo>
                    <a:lnTo>
                      <a:pt x="538" y="1212"/>
                    </a:lnTo>
                    <a:lnTo>
                      <a:pt x="582" y="1227"/>
                    </a:lnTo>
                    <a:lnTo>
                      <a:pt x="627" y="1237"/>
                    </a:lnTo>
                    <a:lnTo>
                      <a:pt x="673" y="1242"/>
                    </a:lnTo>
                    <a:lnTo>
                      <a:pt x="720" y="1242"/>
                    </a:lnTo>
                    <a:lnTo>
                      <a:pt x="766" y="1237"/>
                    </a:lnTo>
                    <a:lnTo>
                      <a:pt x="811" y="1227"/>
                    </a:lnTo>
                    <a:lnTo>
                      <a:pt x="855" y="1212"/>
                    </a:lnTo>
                    <a:lnTo>
                      <a:pt x="898" y="1191"/>
                    </a:lnTo>
                    <a:lnTo>
                      <a:pt x="941" y="1166"/>
                    </a:lnTo>
                    <a:lnTo>
                      <a:pt x="980" y="1136"/>
                    </a:lnTo>
                    <a:lnTo>
                      <a:pt x="1016" y="1100"/>
                    </a:lnTo>
                    <a:lnTo>
                      <a:pt x="1049" y="1061"/>
                    </a:lnTo>
                    <a:lnTo>
                      <a:pt x="1077" y="1018"/>
                    </a:lnTo>
                    <a:lnTo>
                      <a:pt x="1100" y="974"/>
                    </a:lnTo>
                    <a:lnTo>
                      <a:pt x="1119" y="927"/>
                    </a:lnTo>
                    <a:lnTo>
                      <a:pt x="1133" y="878"/>
                    </a:lnTo>
                    <a:lnTo>
                      <a:pt x="1142" y="829"/>
                    </a:lnTo>
                    <a:lnTo>
                      <a:pt x="1147" y="779"/>
                    </a:lnTo>
                    <a:lnTo>
                      <a:pt x="1147" y="729"/>
                    </a:lnTo>
                    <a:lnTo>
                      <a:pt x="1142" y="679"/>
                    </a:lnTo>
                    <a:lnTo>
                      <a:pt x="1133" y="630"/>
                    </a:lnTo>
                    <a:lnTo>
                      <a:pt x="1119" y="582"/>
                    </a:lnTo>
                    <a:lnTo>
                      <a:pt x="1100" y="536"/>
                    </a:lnTo>
                    <a:lnTo>
                      <a:pt x="1077" y="491"/>
                    </a:lnTo>
                    <a:lnTo>
                      <a:pt x="1049" y="449"/>
                    </a:lnTo>
                    <a:lnTo>
                      <a:pt x="1016" y="409"/>
                    </a:lnTo>
                    <a:lnTo>
                      <a:pt x="980" y="374"/>
                    </a:lnTo>
                    <a:lnTo>
                      <a:pt x="941" y="343"/>
                    </a:lnTo>
                    <a:lnTo>
                      <a:pt x="898" y="317"/>
                    </a:lnTo>
                    <a:lnTo>
                      <a:pt x="855" y="298"/>
                    </a:lnTo>
                    <a:lnTo>
                      <a:pt x="811" y="282"/>
                    </a:lnTo>
                    <a:lnTo>
                      <a:pt x="766" y="272"/>
                    </a:lnTo>
                    <a:lnTo>
                      <a:pt x="720" y="267"/>
                    </a:lnTo>
                    <a:lnTo>
                      <a:pt x="673" y="267"/>
                    </a:lnTo>
                    <a:close/>
                    <a:moveTo>
                      <a:pt x="725" y="0"/>
                    </a:moveTo>
                    <a:lnTo>
                      <a:pt x="781" y="5"/>
                    </a:lnTo>
                    <a:lnTo>
                      <a:pt x="837" y="15"/>
                    </a:lnTo>
                    <a:lnTo>
                      <a:pt x="892" y="29"/>
                    </a:lnTo>
                    <a:lnTo>
                      <a:pt x="946" y="49"/>
                    </a:lnTo>
                    <a:lnTo>
                      <a:pt x="999" y="74"/>
                    </a:lnTo>
                    <a:lnTo>
                      <a:pt x="1050" y="103"/>
                    </a:lnTo>
                    <a:lnTo>
                      <a:pt x="1099" y="137"/>
                    </a:lnTo>
                    <a:lnTo>
                      <a:pt x="1145" y="176"/>
                    </a:lnTo>
                    <a:lnTo>
                      <a:pt x="1190" y="219"/>
                    </a:lnTo>
                    <a:lnTo>
                      <a:pt x="1230" y="267"/>
                    </a:lnTo>
                    <a:lnTo>
                      <a:pt x="1266" y="317"/>
                    </a:lnTo>
                    <a:lnTo>
                      <a:pt x="1297" y="369"/>
                    </a:lnTo>
                    <a:lnTo>
                      <a:pt x="1324" y="424"/>
                    </a:lnTo>
                    <a:lnTo>
                      <a:pt x="1346" y="479"/>
                    </a:lnTo>
                    <a:lnTo>
                      <a:pt x="1364" y="537"/>
                    </a:lnTo>
                    <a:lnTo>
                      <a:pt x="1378" y="596"/>
                    </a:lnTo>
                    <a:lnTo>
                      <a:pt x="1387" y="655"/>
                    </a:lnTo>
                    <a:lnTo>
                      <a:pt x="1392" y="715"/>
                    </a:lnTo>
                    <a:lnTo>
                      <a:pt x="1393" y="775"/>
                    </a:lnTo>
                    <a:lnTo>
                      <a:pt x="1389" y="835"/>
                    </a:lnTo>
                    <a:lnTo>
                      <a:pt x="1381" y="895"/>
                    </a:lnTo>
                    <a:lnTo>
                      <a:pt x="1368" y="953"/>
                    </a:lnTo>
                    <a:lnTo>
                      <a:pt x="1351" y="1011"/>
                    </a:lnTo>
                    <a:lnTo>
                      <a:pt x="1330" y="1067"/>
                    </a:lnTo>
                    <a:lnTo>
                      <a:pt x="1603" y="1363"/>
                    </a:lnTo>
                    <a:lnTo>
                      <a:pt x="1625" y="1389"/>
                    </a:lnTo>
                    <a:lnTo>
                      <a:pt x="1642" y="1419"/>
                    </a:lnTo>
                    <a:lnTo>
                      <a:pt x="1656" y="1449"/>
                    </a:lnTo>
                    <a:lnTo>
                      <a:pt x="1668" y="1482"/>
                    </a:lnTo>
                    <a:lnTo>
                      <a:pt x="1674" y="1515"/>
                    </a:lnTo>
                    <a:lnTo>
                      <a:pt x="1676" y="1550"/>
                    </a:lnTo>
                    <a:lnTo>
                      <a:pt x="1674" y="1585"/>
                    </a:lnTo>
                    <a:lnTo>
                      <a:pt x="1668" y="1619"/>
                    </a:lnTo>
                    <a:lnTo>
                      <a:pt x="1656" y="1651"/>
                    </a:lnTo>
                    <a:lnTo>
                      <a:pt x="1642" y="1682"/>
                    </a:lnTo>
                    <a:lnTo>
                      <a:pt x="1625" y="1711"/>
                    </a:lnTo>
                    <a:lnTo>
                      <a:pt x="1603" y="1737"/>
                    </a:lnTo>
                    <a:lnTo>
                      <a:pt x="1576" y="1762"/>
                    </a:lnTo>
                    <a:lnTo>
                      <a:pt x="1547" y="1783"/>
                    </a:lnTo>
                    <a:lnTo>
                      <a:pt x="1515" y="1798"/>
                    </a:lnTo>
                    <a:lnTo>
                      <a:pt x="1482" y="1809"/>
                    </a:lnTo>
                    <a:lnTo>
                      <a:pt x="1449" y="1813"/>
                    </a:lnTo>
                    <a:lnTo>
                      <a:pt x="1414" y="1813"/>
                    </a:lnTo>
                    <a:lnTo>
                      <a:pt x="1380" y="1809"/>
                    </a:lnTo>
                    <a:lnTo>
                      <a:pt x="1347" y="1798"/>
                    </a:lnTo>
                    <a:lnTo>
                      <a:pt x="1316" y="1783"/>
                    </a:lnTo>
                    <a:lnTo>
                      <a:pt x="1286" y="1762"/>
                    </a:lnTo>
                    <a:lnTo>
                      <a:pt x="1259" y="1737"/>
                    </a:lnTo>
                    <a:lnTo>
                      <a:pt x="986" y="1441"/>
                    </a:lnTo>
                    <a:lnTo>
                      <a:pt x="934" y="1464"/>
                    </a:lnTo>
                    <a:lnTo>
                      <a:pt x="880" y="1483"/>
                    </a:lnTo>
                    <a:lnTo>
                      <a:pt x="826" y="1496"/>
                    </a:lnTo>
                    <a:lnTo>
                      <a:pt x="771" y="1504"/>
                    </a:lnTo>
                    <a:lnTo>
                      <a:pt x="716" y="1509"/>
                    </a:lnTo>
                    <a:lnTo>
                      <a:pt x="660" y="1508"/>
                    </a:lnTo>
                    <a:lnTo>
                      <a:pt x="605" y="1503"/>
                    </a:lnTo>
                    <a:lnTo>
                      <a:pt x="550" y="1493"/>
                    </a:lnTo>
                    <a:lnTo>
                      <a:pt x="496" y="1477"/>
                    </a:lnTo>
                    <a:lnTo>
                      <a:pt x="443" y="1458"/>
                    </a:lnTo>
                    <a:lnTo>
                      <a:pt x="391" y="1434"/>
                    </a:lnTo>
                    <a:lnTo>
                      <a:pt x="341" y="1404"/>
                    </a:lnTo>
                    <a:lnTo>
                      <a:pt x="293" y="1371"/>
                    </a:lnTo>
                    <a:lnTo>
                      <a:pt x="247" y="1332"/>
                    </a:lnTo>
                    <a:lnTo>
                      <a:pt x="204" y="1289"/>
                    </a:lnTo>
                    <a:lnTo>
                      <a:pt x="162" y="1240"/>
                    </a:lnTo>
                    <a:lnTo>
                      <a:pt x="126" y="1190"/>
                    </a:lnTo>
                    <a:lnTo>
                      <a:pt x="95" y="1137"/>
                    </a:lnTo>
                    <a:lnTo>
                      <a:pt x="68" y="1082"/>
                    </a:lnTo>
                    <a:lnTo>
                      <a:pt x="45" y="1024"/>
                    </a:lnTo>
                    <a:lnTo>
                      <a:pt x="27" y="966"/>
                    </a:lnTo>
                    <a:lnTo>
                      <a:pt x="13" y="906"/>
                    </a:lnTo>
                    <a:lnTo>
                      <a:pt x="4" y="846"/>
                    </a:lnTo>
                    <a:lnTo>
                      <a:pt x="0" y="785"/>
                    </a:lnTo>
                    <a:lnTo>
                      <a:pt x="0" y="724"/>
                    </a:lnTo>
                    <a:lnTo>
                      <a:pt x="4" y="663"/>
                    </a:lnTo>
                    <a:lnTo>
                      <a:pt x="13" y="602"/>
                    </a:lnTo>
                    <a:lnTo>
                      <a:pt x="27" y="543"/>
                    </a:lnTo>
                    <a:lnTo>
                      <a:pt x="45" y="485"/>
                    </a:lnTo>
                    <a:lnTo>
                      <a:pt x="67" y="427"/>
                    </a:lnTo>
                    <a:lnTo>
                      <a:pt x="94" y="373"/>
                    </a:lnTo>
                    <a:lnTo>
                      <a:pt x="126" y="319"/>
                    </a:lnTo>
                    <a:lnTo>
                      <a:pt x="162" y="268"/>
                    </a:lnTo>
                    <a:lnTo>
                      <a:pt x="203" y="220"/>
                    </a:lnTo>
                    <a:lnTo>
                      <a:pt x="247" y="176"/>
                    </a:lnTo>
                    <a:lnTo>
                      <a:pt x="294" y="137"/>
                    </a:lnTo>
                    <a:lnTo>
                      <a:pt x="343" y="103"/>
                    </a:lnTo>
                    <a:lnTo>
                      <a:pt x="394" y="74"/>
                    </a:lnTo>
                    <a:lnTo>
                      <a:pt x="447" y="49"/>
                    </a:lnTo>
                    <a:lnTo>
                      <a:pt x="501" y="29"/>
                    </a:lnTo>
                    <a:lnTo>
                      <a:pt x="556" y="15"/>
                    </a:lnTo>
                    <a:lnTo>
                      <a:pt x="612" y="5"/>
                    </a:lnTo>
                    <a:lnTo>
                      <a:pt x="668" y="0"/>
                    </a:lnTo>
                    <a:lnTo>
                      <a:pt x="725"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7" name="Freeform 291"/>
              <p:cNvSpPr/>
              <p:nvPr/>
            </p:nvSpPr>
            <p:spPr bwMode="auto">
              <a:xfrm>
                <a:off x="10711676" y="1756920"/>
                <a:ext cx="289075" cy="365035"/>
              </a:xfrm>
              <a:custGeom>
                <a:avLst/>
                <a:gdLst>
                  <a:gd name="T0" fmla="*/ 459 w 1508"/>
                  <a:gd name="T1" fmla="*/ 30 h 2083"/>
                  <a:gd name="T2" fmla="*/ 619 w 1508"/>
                  <a:gd name="T3" fmla="*/ 254 h 2083"/>
                  <a:gd name="T4" fmla="*/ 841 w 1508"/>
                  <a:gd name="T5" fmla="*/ 542 h 2083"/>
                  <a:gd name="T6" fmla="*/ 960 w 1508"/>
                  <a:gd name="T7" fmla="*/ 441 h 2083"/>
                  <a:gd name="T8" fmla="*/ 1249 w 1508"/>
                  <a:gd name="T9" fmla="*/ 400 h 2083"/>
                  <a:gd name="T10" fmla="*/ 1340 w 1508"/>
                  <a:gd name="T11" fmla="*/ 564 h 2083"/>
                  <a:gd name="T12" fmla="*/ 1411 w 1508"/>
                  <a:gd name="T13" fmla="*/ 741 h 2083"/>
                  <a:gd name="T14" fmla="*/ 1464 w 1508"/>
                  <a:gd name="T15" fmla="*/ 927 h 2083"/>
                  <a:gd name="T16" fmla="*/ 1497 w 1508"/>
                  <a:gd name="T17" fmla="*/ 1121 h 2083"/>
                  <a:gd name="T18" fmla="*/ 1508 w 1508"/>
                  <a:gd name="T19" fmla="*/ 1322 h 2083"/>
                  <a:gd name="T20" fmla="*/ 1497 w 1508"/>
                  <a:gd name="T21" fmla="*/ 1526 h 2083"/>
                  <a:gd name="T22" fmla="*/ 1463 w 1508"/>
                  <a:gd name="T23" fmla="*/ 1720 h 2083"/>
                  <a:gd name="T24" fmla="*/ 1409 w 1508"/>
                  <a:gd name="T25" fmla="*/ 1907 h 2083"/>
                  <a:gd name="T26" fmla="*/ 1337 w 1508"/>
                  <a:gd name="T27" fmla="*/ 2083 h 2083"/>
                  <a:gd name="T28" fmla="*/ 1349 w 1508"/>
                  <a:gd name="T29" fmla="*/ 1945 h 2083"/>
                  <a:gd name="T30" fmla="*/ 1341 w 1508"/>
                  <a:gd name="T31" fmla="*/ 1808 h 2083"/>
                  <a:gd name="T32" fmla="*/ 1313 w 1508"/>
                  <a:gd name="T33" fmla="*/ 1675 h 2083"/>
                  <a:gd name="T34" fmla="*/ 1266 w 1508"/>
                  <a:gd name="T35" fmla="*/ 1547 h 2083"/>
                  <a:gd name="T36" fmla="*/ 1201 w 1508"/>
                  <a:gd name="T37" fmla="*/ 1429 h 2083"/>
                  <a:gd name="T38" fmla="*/ 1117 w 1508"/>
                  <a:gd name="T39" fmla="*/ 1321 h 2083"/>
                  <a:gd name="T40" fmla="*/ 1021 w 1508"/>
                  <a:gd name="T41" fmla="*/ 1233 h 2083"/>
                  <a:gd name="T42" fmla="*/ 915 w 1508"/>
                  <a:gd name="T43" fmla="*/ 1162 h 2083"/>
                  <a:gd name="T44" fmla="*/ 801 w 1508"/>
                  <a:gd name="T45" fmla="*/ 1111 h 2083"/>
                  <a:gd name="T46" fmla="*/ 680 w 1508"/>
                  <a:gd name="T47" fmla="*/ 1080 h 2083"/>
                  <a:gd name="T48" fmla="*/ 554 w 1508"/>
                  <a:gd name="T49" fmla="*/ 1069 h 2083"/>
                  <a:gd name="T50" fmla="*/ 416 w 1508"/>
                  <a:gd name="T51" fmla="*/ 1082 h 2083"/>
                  <a:gd name="T52" fmla="*/ 283 w 1508"/>
                  <a:gd name="T53" fmla="*/ 1120 h 2083"/>
                  <a:gd name="T54" fmla="*/ 160 w 1508"/>
                  <a:gd name="T55" fmla="*/ 1182 h 2083"/>
                  <a:gd name="T56" fmla="*/ 591 w 1508"/>
                  <a:gd name="T57" fmla="*/ 812 h 2083"/>
                  <a:gd name="T58" fmla="*/ 751 w 1508"/>
                  <a:gd name="T59" fmla="*/ 755 h 2083"/>
                  <a:gd name="T60" fmla="*/ 500 w 1508"/>
                  <a:gd name="T61" fmla="*/ 407 h 2083"/>
                  <a:gd name="T62" fmla="*/ 338 w 1508"/>
                  <a:gd name="T63" fmla="*/ 367 h 2083"/>
                  <a:gd name="T64" fmla="*/ 175 w 1508"/>
                  <a:gd name="T65" fmla="*/ 519 h 2083"/>
                  <a:gd name="T66" fmla="*/ 0 w 1508"/>
                  <a:gd name="T67" fmla="*/ 375 h 2083"/>
                  <a:gd name="T68" fmla="*/ 166 w 1508"/>
                  <a:gd name="T69" fmla="*/ 151 h 2083"/>
                  <a:gd name="T70" fmla="*/ 287 w 1508"/>
                  <a:gd name="T71" fmla="*/ 289 h 2083"/>
                  <a:gd name="T72" fmla="*/ 445 w 1508"/>
                  <a:gd name="T73" fmla="*/ 351 h 2083"/>
                  <a:gd name="T74" fmla="*/ 453 w 1508"/>
                  <a:gd name="T75" fmla="*/ 220 h 2083"/>
                  <a:gd name="T76" fmla="*/ 316 w 1508"/>
                  <a:gd name="T77" fmla="*/ 0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08" h="2083">
                    <a:moveTo>
                      <a:pt x="316" y="0"/>
                    </a:moveTo>
                    <a:lnTo>
                      <a:pt x="459" y="30"/>
                    </a:lnTo>
                    <a:lnTo>
                      <a:pt x="582" y="149"/>
                    </a:lnTo>
                    <a:lnTo>
                      <a:pt x="619" y="254"/>
                    </a:lnTo>
                    <a:lnTo>
                      <a:pt x="647" y="352"/>
                    </a:lnTo>
                    <a:lnTo>
                      <a:pt x="841" y="542"/>
                    </a:lnTo>
                    <a:lnTo>
                      <a:pt x="891" y="559"/>
                    </a:lnTo>
                    <a:lnTo>
                      <a:pt x="960" y="441"/>
                    </a:lnTo>
                    <a:lnTo>
                      <a:pt x="1204" y="417"/>
                    </a:lnTo>
                    <a:lnTo>
                      <a:pt x="1249" y="400"/>
                    </a:lnTo>
                    <a:lnTo>
                      <a:pt x="1297" y="481"/>
                    </a:lnTo>
                    <a:lnTo>
                      <a:pt x="1340" y="564"/>
                    </a:lnTo>
                    <a:lnTo>
                      <a:pt x="1378" y="651"/>
                    </a:lnTo>
                    <a:lnTo>
                      <a:pt x="1411" y="741"/>
                    </a:lnTo>
                    <a:lnTo>
                      <a:pt x="1440" y="832"/>
                    </a:lnTo>
                    <a:lnTo>
                      <a:pt x="1464" y="927"/>
                    </a:lnTo>
                    <a:lnTo>
                      <a:pt x="1483" y="1022"/>
                    </a:lnTo>
                    <a:lnTo>
                      <a:pt x="1497" y="1121"/>
                    </a:lnTo>
                    <a:lnTo>
                      <a:pt x="1505" y="1221"/>
                    </a:lnTo>
                    <a:lnTo>
                      <a:pt x="1508" y="1322"/>
                    </a:lnTo>
                    <a:lnTo>
                      <a:pt x="1505" y="1425"/>
                    </a:lnTo>
                    <a:lnTo>
                      <a:pt x="1497" y="1526"/>
                    </a:lnTo>
                    <a:lnTo>
                      <a:pt x="1483" y="1623"/>
                    </a:lnTo>
                    <a:lnTo>
                      <a:pt x="1463" y="1720"/>
                    </a:lnTo>
                    <a:lnTo>
                      <a:pt x="1439" y="1815"/>
                    </a:lnTo>
                    <a:lnTo>
                      <a:pt x="1409" y="1907"/>
                    </a:lnTo>
                    <a:lnTo>
                      <a:pt x="1375" y="1996"/>
                    </a:lnTo>
                    <a:lnTo>
                      <a:pt x="1337" y="2083"/>
                    </a:lnTo>
                    <a:lnTo>
                      <a:pt x="1345" y="2015"/>
                    </a:lnTo>
                    <a:lnTo>
                      <a:pt x="1349" y="1945"/>
                    </a:lnTo>
                    <a:lnTo>
                      <a:pt x="1347" y="1877"/>
                    </a:lnTo>
                    <a:lnTo>
                      <a:pt x="1341" y="1808"/>
                    </a:lnTo>
                    <a:lnTo>
                      <a:pt x="1329" y="1741"/>
                    </a:lnTo>
                    <a:lnTo>
                      <a:pt x="1313" y="1675"/>
                    </a:lnTo>
                    <a:lnTo>
                      <a:pt x="1293" y="1610"/>
                    </a:lnTo>
                    <a:lnTo>
                      <a:pt x="1266" y="1547"/>
                    </a:lnTo>
                    <a:lnTo>
                      <a:pt x="1236" y="1486"/>
                    </a:lnTo>
                    <a:lnTo>
                      <a:pt x="1201" y="1429"/>
                    </a:lnTo>
                    <a:lnTo>
                      <a:pt x="1161" y="1373"/>
                    </a:lnTo>
                    <a:lnTo>
                      <a:pt x="1117" y="1321"/>
                    </a:lnTo>
                    <a:lnTo>
                      <a:pt x="1071" y="1276"/>
                    </a:lnTo>
                    <a:lnTo>
                      <a:pt x="1021" y="1233"/>
                    </a:lnTo>
                    <a:lnTo>
                      <a:pt x="969" y="1195"/>
                    </a:lnTo>
                    <a:lnTo>
                      <a:pt x="915" y="1162"/>
                    </a:lnTo>
                    <a:lnTo>
                      <a:pt x="859" y="1134"/>
                    </a:lnTo>
                    <a:lnTo>
                      <a:pt x="801" y="1111"/>
                    </a:lnTo>
                    <a:lnTo>
                      <a:pt x="741" y="1093"/>
                    </a:lnTo>
                    <a:lnTo>
                      <a:pt x="680" y="1080"/>
                    </a:lnTo>
                    <a:lnTo>
                      <a:pt x="617" y="1072"/>
                    </a:lnTo>
                    <a:lnTo>
                      <a:pt x="554" y="1069"/>
                    </a:lnTo>
                    <a:lnTo>
                      <a:pt x="484" y="1072"/>
                    </a:lnTo>
                    <a:lnTo>
                      <a:pt x="416" y="1082"/>
                    </a:lnTo>
                    <a:lnTo>
                      <a:pt x="349" y="1098"/>
                    </a:lnTo>
                    <a:lnTo>
                      <a:pt x="283" y="1120"/>
                    </a:lnTo>
                    <a:lnTo>
                      <a:pt x="220" y="1148"/>
                    </a:lnTo>
                    <a:lnTo>
                      <a:pt x="160" y="1182"/>
                    </a:lnTo>
                    <a:lnTo>
                      <a:pt x="338" y="952"/>
                    </a:lnTo>
                    <a:lnTo>
                      <a:pt x="591" y="812"/>
                    </a:lnTo>
                    <a:lnTo>
                      <a:pt x="738" y="833"/>
                    </a:lnTo>
                    <a:lnTo>
                      <a:pt x="751" y="755"/>
                    </a:lnTo>
                    <a:lnTo>
                      <a:pt x="570" y="556"/>
                    </a:lnTo>
                    <a:lnTo>
                      <a:pt x="500" y="407"/>
                    </a:lnTo>
                    <a:lnTo>
                      <a:pt x="400" y="407"/>
                    </a:lnTo>
                    <a:lnTo>
                      <a:pt x="338" y="367"/>
                    </a:lnTo>
                    <a:lnTo>
                      <a:pt x="203" y="345"/>
                    </a:lnTo>
                    <a:lnTo>
                      <a:pt x="175" y="519"/>
                    </a:lnTo>
                    <a:lnTo>
                      <a:pt x="12" y="484"/>
                    </a:lnTo>
                    <a:lnTo>
                      <a:pt x="0" y="375"/>
                    </a:lnTo>
                    <a:lnTo>
                      <a:pt x="125" y="345"/>
                    </a:lnTo>
                    <a:lnTo>
                      <a:pt x="166" y="151"/>
                    </a:lnTo>
                    <a:lnTo>
                      <a:pt x="291" y="207"/>
                    </a:lnTo>
                    <a:lnTo>
                      <a:pt x="287" y="289"/>
                    </a:lnTo>
                    <a:lnTo>
                      <a:pt x="382" y="332"/>
                    </a:lnTo>
                    <a:lnTo>
                      <a:pt x="445" y="351"/>
                    </a:lnTo>
                    <a:lnTo>
                      <a:pt x="522" y="308"/>
                    </a:lnTo>
                    <a:lnTo>
                      <a:pt x="453" y="220"/>
                    </a:lnTo>
                    <a:lnTo>
                      <a:pt x="313" y="71"/>
                    </a:lnTo>
                    <a:lnTo>
                      <a:pt x="316"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8" name="Freeform 292"/>
              <p:cNvSpPr/>
              <p:nvPr/>
            </p:nvSpPr>
            <p:spPr bwMode="auto">
              <a:xfrm>
                <a:off x="10677915" y="1972142"/>
                <a:ext cx="40091" cy="35871"/>
              </a:xfrm>
              <a:custGeom>
                <a:avLst/>
                <a:gdLst>
                  <a:gd name="T0" fmla="*/ 118 w 208"/>
                  <a:gd name="T1" fmla="*/ 0 h 197"/>
                  <a:gd name="T2" fmla="*/ 208 w 208"/>
                  <a:gd name="T3" fmla="*/ 45 h 197"/>
                  <a:gd name="T4" fmla="*/ 186 w 208"/>
                  <a:gd name="T5" fmla="*/ 66 h 197"/>
                  <a:gd name="T6" fmla="*/ 165 w 208"/>
                  <a:gd name="T7" fmla="*/ 89 h 197"/>
                  <a:gd name="T8" fmla="*/ 147 w 208"/>
                  <a:gd name="T9" fmla="*/ 109 h 197"/>
                  <a:gd name="T10" fmla="*/ 130 w 208"/>
                  <a:gd name="T11" fmla="*/ 131 h 197"/>
                  <a:gd name="T12" fmla="*/ 81 w 208"/>
                  <a:gd name="T13" fmla="*/ 132 h 197"/>
                  <a:gd name="T14" fmla="*/ 29 w 208"/>
                  <a:gd name="T15" fmla="*/ 197 h 197"/>
                  <a:gd name="T16" fmla="*/ 0 w 208"/>
                  <a:gd name="T17" fmla="*/ 61 h 197"/>
                  <a:gd name="T18" fmla="*/ 118 w 208"/>
                  <a:gd name="T1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197">
                    <a:moveTo>
                      <a:pt x="118" y="0"/>
                    </a:moveTo>
                    <a:lnTo>
                      <a:pt x="208" y="45"/>
                    </a:lnTo>
                    <a:lnTo>
                      <a:pt x="186" y="66"/>
                    </a:lnTo>
                    <a:lnTo>
                      <a:pt x="165" y="89"/>
                    </a:lnTo>
                    <a:lnTo>
                      <a:pt x="147" y="109"/>
                    </a:lnTo>
                    <a:lnTo>
                      <a:pt x="130" y="131"/>
                    </a:lnTo>
                    <a:lnTo>
                      <a:pt x="81" y="132"/>
                    </a:lnTo>
                    <a:lnTo>
                      <a:pt x="29" y="197"/>
                    </a:lnTo>
                    <a:lnTo>
                      <a:pt x="0" y="61"/>
                    </a:lnTo>
                    <a:lnTo>
                      <a:pt x="118"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29" name="Freeform 293"/>
              <p:cNvSpPr/>
              <p:nvPr/>
            </p:nvSpPr>
            <p:spPr bwMode="auto">
              <a:xfrm>
                <a:off x="10777086" y="2244335"/>
                <a:ext cx="69632" cy="27431"/>
              </a:xfrm>
              <a:custGeom>
                <a:avLst/>
                <a:gdLst>
                  <a:gd name="T0" fmla="*/ 368 w 368"/>
                  <a:gd name="T1" fmla="*/ 0 h 153"/>
                  <a:gd name="T2" fmla="*/ 298 w 368"/>
                  <a:gd name="T3" fmla="*/ 38 h 153"/>
                  <a:gd name="T4" fmla="*/ 227 w 368"/>
                  <a:gd name="T5" fmla="*/ 73 h 153"/>
                  <a:gd name="T6" fmla="*/ 152 w 368"/>
                  <a:gd name="T7" fmla="*/ 105 h 153"/>
                  <a:gd name="T8" fmla="*/ 77 w 368"/>
                  <a:gd name="T9" fmla="*/ 131 h 153"/>
                  <a:gd name="T10" fmla="*/ 0 w 368"/>
                  <a:gd name="T11" fmla="*/ 153 h 153"/>
                  <a:gd name="T12" fmla="*/ 28 w 368"/>
                  <a:gd name="T13" fmla="*/ 44 h 153"/>
                  <a:gd name="T14" fmla="*/ 83 w 368"/>
                  <a:gd name="T15" fmla="*/ 5 h 153"/>
                  <a:gd name="T16" fmla="*/ 148 w 368"/>
                  <a:gd name="T17" fmla="*/ 13 h 153"/>
                  <a:gd name="T18" fmla="*/ 215 w 368"/>
                  <a:gd name="T19" fmla="*/ 16 h 153"/>
                  <a:gd name="T20" fmla="*/ 266 w 368"/>
                  <a:gd name="T21" fmla="*/ 14 h 153"/>
                  <a:gd name="T22" fmla="*/ 317 w 368"/>
                  <a:gd name="T23" fmla="*/ 9 h 153"/>
                  <a:gd name="T24" fmla="*/ 368 w 368"/>
                  <a:gd name="T25"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8" h="153">
                    <a:moveTo>
                      <a:pt x="368" y="0"/>
                    </a:moveTo>
                    <a:lnTo>
                      <a:pt x="298" y="38"/>
                    </a:lnTo>
                    <a:lnTo>
                      <a:pt x="227" y="73"/>
                    </a:lnTo>
                    <a:lnTo>
                      <a:pt x="152" y="105"/>
                    </a:lnTo>
                    <a:lnTo>
                      <a:pt x="77" y="131"/>
                    </a:lnTo>
                    <a:lnTo>
                      <a:pt x="0" y="153"/>
                    </a:lnTo>
                    <a:lnTo>
                      <a:pt x="28" y="44"/>
                    </a:lnTo>
                    <a:lnTo>
                      <a:pt x="83" y="5"/>
                    </a:lnTo>
                    <a:lnTo>
                      <a:pt x="148" y="13"/>
                    </a:lnTo>
                    <a:lnTo>
                      <a:pt x="215" y="16"/>
                    </a:lnTo>
                    <a:lnTo>
                      <a:pt x="266" y="14"/>
                    </a:lnTo>
                    <a:lnTo>
                      <a:pt x="317" y="9"/>
                    </a:lnTo>
                    <a:lnTo>
                      <a:pt x="368"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0" name="Freeform 294"/>
              <p:cNvSpPr/>
              <p:nvPr/>
            </p:nvSpPr>
            <p:spPr bwMode="auto">
              <a:xfrm>
                <a:off x="10414161" y="1837101"/>
                <a:ext cx="331275" cy="443106"/>
              </a:xfrm>
              <a:custGeom>
                <a:avLst/>
                <a:gdLst>
                  <a:gd name="T0" fmla="*/ 210 w 1723"/>
                  <a:gd name="T1" fmla="*/ 95 h 2519"/>
                  <a:gd name="T2" fmla="*/ 468 w 1723"/>
                  <a:gd name="T3" fmla="*/ 157 h 2519"/>
                  <a:gd name="T4" fmla="*/ 884 w 1723"/>
                  <a:gd name="T5" fmla="*/ 389 h 2519"/>
                  <a:gd name="T6" fmla="*/ 1103 w 1723"/>
                  <a:gd name="T7" fmla="*/ 976 h 2519"/>
                  <a:gd name="T8" fmla="*/ 1141 w 1723"/>
                  <a:gd name="T9" fmla="*/ 862 h 2519"/>
                  <a:gd name="T10" fmla="*/ 1389 w 1723"/>
                  <a:gd name="T11" fmla="*/ 1094 h 2519"/>
                  <a:gd name="T12" fmla="*/ 1344 w 1723"/>
                  <a:gd name="T13" fmla="*/ 1213 h 2519"/>
                  <a:gd name="T14" fmla="*/ 1316 w 1723"/>
                  <a:gd name="T15" fmla="*/ 1341 h 2519"/>
                  <a:gd name="T16" fmla="*/ 1307 w 1723"/>
                  <a:gd name="T17" fmla="*/ 1472 h 2519"/>
                  <a:gd name="T18" fmla="*/ 1317 w 1723"/>
                  <a:gd name="T19" fmla="*/ 1609 h 2519"/>
                  <a:gd name="T20" fmla="*/ 1346 w 1723"/>
                  <a:gd name="T21" fmla="*/ 1741 h 2519"/>
                  <a:gd name="T22" fmla="*/ 1394 w 1723"/>
                  <a:gd name="T23" fmla="*/ 1865 h 2519"/>
                  <a:gd name="T24" fmla="*/ 1459 w 1723"/>
                  <a:gd name="T25" fmla="*/ 1979 h 2519"/>
                  <a:gd name="T26" fmla="*/ 1541 w 1723"/>
                  <a:gd name="T27" fmla="*/ 2083 h 2519"/>
                  <a:gd name="T28" fmla="*/ 1628 w 1723"/>
                  <a:gd name="T29" fmla="*/ 2165 h 2519"/>
                  <a:gd name="T30" fmla="*/ 1723 w 1723"/>
                  <a:gd name="T31" fmla="*/ 2230 h 2519"/>
                  <a:gd name="T32" fmla="*/ 1714 w 1723"/>
                  <a:gd name="T33" fmla="*/ 2268 h 2519"/>
                  <a:gd name="T34" fmla="*/ 1708 w 1723"/>
                  <a:gd name="T35" fmla="*/ 2294 h 2519"/>
                  <a:gd name="T36" fmla="*/ 1706 w 1723"/>
                  <a:gd name="T37" fmla="*/ 2304 h 2519"/>
                  <a:gd name="T38" fmla="*/ 1659 w 1723"/>
                  <a:gd name="T39" fmla="*/ 2513 h 2519"/>
                  <a:gd name="T40" fmla="*/ 1530 w 1723"/>
                  <a:gd name="T41" fmla="*/ 2519 h 2519"/>
                  <a:gd name="T42" fmla="*/ 1338 w 1723"/>
                  <a:gd name="T43" fmla="*/ 2506 h 2519"/>
                  <a:gd name="T44" fmla="*/ 1154 w 1723"/>
                  <a:gd name="T45" fmla="*/ 2468 h 2519"/>
                  <a:gd name="T46" fmla="*/ 977 w 1723"/>
                  <a:gd name="T47" fmla="*/ 2407 h 2519"/>
                  <a:gd name="T48" fmla="*/ 810 w 1723"/>
                  <a:gd name="T49" fmla="*/ 2325 h 2519"/>
                  <a:gd name="T50" fmla="*/ 656 w 1723"/>
                  <a:gd name="T51" fmla="*/ 2222 h 2519"/>
                  <a:gd name="T52" fmla="*/ 514 w 1723"/>
                  <a:gd name="T53" fmla="*/ 2101 h 2519"/>
                  <a:gd name="T54" fmla="*/ 387 w 1723"/>
                  <a:gd name="T55" fmla="*/ 1963 h 2519"/>
                  <a:gd name="T56" fmla="*/ 274 w 1723"/>
                  <a:gd name="T57" fmla="*/ 1809 h 2519"/>
                  <a:gd name="T58" fmla="*/ 180 w 1723"/>
                  <a:gd name="T59" fmla="*/ 1641 h 2519"/>
                  <a:gd name="T60" fmla="*/ 103 w 1723"/>
                  <a:gd name="T61" fmla="*/ 1461 h 2519"/>
                  <a:gd name="T62" fmla="*/ 47 w 1723"/>
                  <a:gd name="T63" fmla="*/ 1270 h 2519"/>
                  <a:gd name="T64" fmla="*/ 12 w 1723"/>
                  <a:gd name="T65" fmla="*/ 1070 h 2519"/>
                  <a:gd name="T66" fmla="*/ 0 w 1723"/>
                  <a:gd name="T67" fmla="*/ 862 h 2519"/>
                  <a:gd name="T68" fmla="*/ 11 w 1723"/>
                  <a:gd name="T69" fmla="*/ 662 h 2519"/>
                  <a:gd name="T70" fmla="*/ 44 w 1723"/>
                  <a:gd name="T71" fmla="*/ 470 h 2519"/>
                  <a:gd name="T72" fmla="*/ 96 w 1723"/>
                  <a:gd name="T73" fmla="*/ 285 h 2519"/>
                  <a:gd name="T74" fmla="*/ 168 w 1723"/>
                  <a:gd name="T75" fmla="*/ 111 h 2519"/>
                  <a:gd name="T76" fmla="*/ 320 w 1723"/>
                  <a:gd name="T77" fmla="*/ 0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23" h="2519">
                    <a:moveTo>
                      <a:pt x="320" y="0"/>
                    </a:moveTo>
                    <a:lnTo>
                      <a:pt x="210" y="95"/>
                    </a:lnTo>
                    <a:lnTo>
                      <a:pt x="296" y="157"/>
                    </a:lnTo>
                    <a:lnTo>
                      <a:pt x="468" y="157"/>
                    </a:lnTo>
                    <a:lnTo>
                      <a:pt x="724" y="107"/>
                    </a:lnTo>
                    <a:lnTo>
                      <a:pt x="884" y="389"/>
                    </a:lnTo>
                    <a:lnTo>
                      <a:pt x="884" y="655"/>
                    </a:lnTo>
                    <a:lnTo>
                      <a:pt x="1103" y="976"/>
                    </a:lnTo>
                    <a:lnTo>
                      <a:pt x="1141" y="976"/>
                    </a:lnTo>
                    <a:lnTo>
                      <a:pt x="1141" y="862"/>
                    </a:lnTo>
                    <a:lnTo>
                      <a:pt x="1225" y="1054"/>
                    </a:lnTo>
                    <a:lnTo>
                      <a:pt x="1389" y="1094"/>
                    </a:lnTo>
                    <a:lnTo>
                      <a:pt x="1365" y="1153"/>
                    </a:lnTo>
                    <a:lnTo>
                      <a:pt x="1344" y="1213"/>
                    </a:lnTo>
                    <a:lnTo>
                      <a:pt x="1328" y="1277"/>
                    </a:lnTo>
                    <a:lnTo>
                      <a:pt x="1316" y="1341"/>
                    </a:lnTo>
                    <a:lnTo>
                      <a:pt x="1309" y="1406"/>
                    </a:lnTo>
                    <a:lnTo>
                      <a:pt x="1307" y="1472"/>
                    </a:lnTo>
                    <a:lnTo>
                      <a:pt x="1309" y="1542"/>
                    </a:lnTo>
                    <a:lnTo>
                      <a:pt x="1317" y="1609"/>
                    </a:lnTo>
                    <a:lnTo>
                      <a:pt x="1329" y="1676"/>
                    </a:lnTo>
                    <a:lnTo>
                      <a:pt x="1346" y="1741"/>
                    </a:lnTo>
                    <a:lnTo>
                      <a:pt x="1368" y="1803"/>
                    </a:lnTo>
                    <a:lnTo>
                      <a:pt x="1394" y="1865"/>
                    </a:lnTo>
                    <a:lnTo>
                      <a:pt x="1424" y="1923"/>
                    </a:lnTo>
                    <a:lnTo>
                      <a:pt x="1459" y="1979"/>
                    </a:lnTo>
                    <a:lnTo>
                      <a:pt x="1498" y="2032"/>
                    </a:lnTo>
                    <a:lnTo>
                      <a:pt x="1541" y="2083"/>
                    </a:lnTo>
                    <a:lnTo>
                      <a:pt x="1583" y="2126"/>
                    </a:lnTo>
                    <a:lnTo>
                      <a:pt x="1628" y="2165"/>
                    </a:lnTo>
                    <a:lnTo>
                      <a:pt x="1675" y="2200"/>
                    </a:lnTo>
                    <a:lnTo>
                      <a:pt x="1723" y="2230"/>
                    </a:lnTo>
                    <a:lnTo>
                      <a:pt x="1718" y="2251"/>
                    </a:lnTo>
                    <a:lnTo>
                      <a:pt x="1714" y="2268"/>
                    </a:lnTo>
                    <a:lnTo>
                      <a:pt x="1711" y="2283"/>
                    </a:lnTo>
                    <a:lnTo>
                      <a:pt x="1708" y="2294"/>
                    </a:lnTo>
                    <a:lnTo>
                      <a:pt x="1706" y="2302"/>
                    </a:lnTo>
                    <a:lnTo>
                      <a:pt x="1706" y="2304"/>
                    </a:lnTo>
                    <a:lnTo>
                      <a:pt x="1722" y="2505"/>
                    </a:lnTo>
                    <a:lnTo>
                      <a:pt x="1659" y="2513"/>
                    </a:lnTo>
                    <a:lnTo>
                      <a:pt x="1594" y="2517"/>
                    </a:lnTo>
                    <a:lnTo>
                      <a:pt x="1530" y="2519"/>
                    </a:lnTo>
                    <a:lnTo>
                      <a:pt x="1433" y="2516"/>
                    </a:lnTo>
                    <a:lnTo>
                      <a:pt x="1338" y="2506"/>
                    </a:lnTo>
                    <a:lnTo>
                      <a:pt x="1245" y="2490"/>
                    </a:lnTo>
                    <a:lnTo>
                      <a:pt x="1154" y="2468"/>
                    </a:lnTo>
                    <a:lnTo>
                      <a:pt x="1064" y="2441"/>
                    </a:lnTo>
                    <a:lnTo>
                      <a:pt x="977" y="2407"/>
                    </a:lnTo>
                    <a:lnTo>
                      <a:pt x="893" y="2369"/>
                    </a:lnTo>
                    <a:lnTo>
                      <a:pt x="810" y="2325"/>
                    </a:lnTo>
                    <a:lnTo>
                      <a:pt x="732" y="2276"/>
                    </a:lnTo>
                    <a:lnTo>
                      <a:pt x="656" y="2222"/>
                    </a:lnTo>
                    <a:lnTo>
                      <a:pt x="583" y="2164"/>
                    </a:lnTo>
                    <a:lnTo>
                      <a:pt x="514" y="2101"/>
                    </a:lnTo>
                    <a:lnTo>
                      <a:pt x="448" y="2034"/>
                    </a:lnTo>
                    <a:lnTo>
                      <a:pt x="387" y="1963"/>
                    </a:lnTo>
                    <a:lnTo>
                      <a:pt x="328" y="1888"/>
                    </a:lnTo>
                    <a:lnTo>
                      <a:pt x="274" y="1809"/>
                    </a:lnTo>
                    <a:lnTo>
                      <a:pt x="225" y="1727"/>
                    </a:lnTo>
                    <a:lnTo>
                      <a:pt x="180" y="1641"/>
                    </a:lnTo>
                    <a:lnTo>
                      <a:pt x="139" y="1553"/>
                    </a:lnTo>
                    <a:lnTo>
                      <a:pt x="103" y="1461"/>
                    </a:lnTo>
                    <a:lnTo>
                      <a:pt x="72" y="1367"/>
                    </a:lnTo>
                    <a:lnTo>
                      <a:pt x="47" y="1270"/>
                    </a:lnTo>
                    <a:lnTo>
                      <a:pt x="27" y="1171"/>
                    </a:lnTo>
                    <a:lnTo>
                      <a:pt x="12" y="1070"/>
                    </a:lnTo>
                    <a:lnTo>
                      <a:pt x="3" y="968"/>
                    </a:lnTo>
                    <a:lnTo>
                      <a:pt x="0" y="862"/>
                    </a:lnTo>
                    <a:lnTo>
                      <a:pt x="3" y="761"/>
                    </a:lnTo>
                    <a:lnTo>
                      <a:pt x="11" y="662"/>
                    </a:lnTo>
                    <a:lnTo>
                      <a:pt x="25" y="565"/>
                    </a:lnTo>
                    <a:lnTo>
                      <a:pt x="44" y="470"/>
                    </a:lnTo>
                    <a:lnTo>
                      <a:pt x="68" y="376"/>
                    </a:lnTo>
                    <a:lnTo>
                      <a:pt x="96" y="285"/>
                    </a:lnTo>
                    <a:lnTo>
                      <a:pt x="131" y="197"/>
                    </a:lnTo>
                    <a:lnTo>
                      <a:pt x="168" y="111"/>
                    </a:lnTo>
                    <a:lnTo>
                      <a:pt x="210" y="27"/>
                    </a:lnTo>
                    <a:lnTo>
                      <a:pt x="320"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1" name="Freeform 295"/>
              <p:cNvSpPr>
                <a:spLocks noEditPoints="1"/>
              </p:cNvSpPr>
              <p:nvPr/>
            </p:nvSpPr>
            <p:spPr bwMode="auto">
              <a:xfrm>
                <a:off x="10481682" y="1697839"/>
                <a:ext cx="350265" cy="105501"/>
              </a:xfrm>
              <a:custGeom>
                <a:avLst/>
                <a:gdLst>
                  <a:gd name="T0" fmla="*/ 782 w 1831"/>
                  <a:gd name="T1" fmla="*/ 179 h 603"/>
                  <a:gd name="T2" fmla="*/ 779 w 1831"/>
                  <a:gd name="T3" fmla="*/ 185 h 603"/>
                  <a:gd name="T4" fmla="*/ 773 w 1831"/>
                  <a:gd name="T5" fmla="*/ 194 h 603"/>
                  <a:gd name="T6" fmla="*/ 763 w 1831"/>
                  <a:gd name="T7" fmla="*/ 204 h 603"/>
                  <a:gd name="T8" fmla="*/ 750 w 1831"/>
                  <a:gd name="T9" fmla="*/ 214 h 603"/>
                  <a:gd name="T10" fmla="*/ 737 w 1831"/>
                  <a:gd name="T11" fmla="*/ 225 h 603"/>
                  <a:gd name="T12" fmla="*/ 724 w 1831"/>
                  <a:gd name="T13" fmla="*/ 235 h 603"/>
                  <a:gd name="T14" fmla="*/ 711 w 1831"/>
                  <a:gd name="T15" fmla="*/ 246 h 603"/>
                  <a:gd name="T16" fmla="*/ 699 w 1831"/>
                  <a:gd name="T17" fmla="*/ 254 h 603"/>
                  <a:gd name="T18" fmla="*/ 690 w 1831"/>
                  <a:gd name="T19" fmla="*/ 261 h 603"/>
                  <a:gd name="T20" fmla="*/ 683 w 1831"/>
                  <a:gd name="T21" fmla="*/ 266 h 603"/>
                  <a:gd name="T22" fmla="*/ 681 w 1831"/>
                  <a:gd name="T23" fmla="*/ 267 h 603"/>
                  <a:gd name="T24" fmla="*/ 782 w 1831"/>
                  <a:gd name="T25" fmla="*/ 331 h 603"/>
                  <a:gd name="T26" fmla="*/ 990 w 1831"/>
                  <a:gd name="T27" fmla="*/ 271 h 603"/>
                  <a:gd name="T28" fmla="*/ 941 w 1831"/>
                  <a:gd name="T29" fmla="*/ 179 h 603"/>
                  <a:gd name="T30" fmla="*/ 851 w 1831"/>
                  <a:gd name="T31" fmla="*/ 210 h 603"/>
                  <a:gd name="T32" fmla="*/ 782 w 1831"/>
                  <a:gd name="T33" fmla="*/ 179 h 603"/>
                  <a:gd name="T34" fmla="*/ 1401 w 1831"/>
                  <a:gd name="T35" fmla="*/ 72 h 603"/>
                  <a:gd name="T36" fmla="*/ 1244 w 1831"/>
                  <a:gd name="T37" fmla="*/ 166 h 603"/>
                  <a:gd name="T38" fmla="*/ 1155 w 1831"/>
                  <a:gd name="T39" fmla="*/ 226 h 603"/>
                  <a:gd name="T40" fmla="*/ 1217 w 1831"/>
                  <a:gd name="T41" fmla="*/ 270 h 603"/>
                  <a:gd name="T42" fmla="*/ 1356 w 1831"/>
                  <a:gd name="T43" fmla="*/ 255 h 603"/>
                  <a:gd name="T44" fmla="*/ 1502 w 1831"/>
                  <a:gd name="T45" fmla="*/ 135 h 603"/>
                  <a:gd name="T46" fmla="*/ 1401 w 1831"/>
                  <a:gd name="T47" fmla="*/ 72 h 603"/>
                  <a:gd name="T48" fmla="*/ 1180 w 1831"/>
                  <a:gd name="T49" fmla="*/ 0 h 603"/>
                  <a:gd name="T50" fmla="*/ 1180 w 1831"/>
                  <a:gd name="T51" fmla="*/ 0 h 603"/>
                  <a:gd name="T52" fmla="*/ 1267 w 1831"/>
                  <a:gd name="T53" fmla="*/ 4 h 603"/>
                  <a:gd name="T54" fmla="*/ 1352 w 1831"/>
                  <a:gd name="T55" fmla="*/ 11 h 603"/>
                  <a:gd name="T56" fmla="*/ 1436 w 1831"/>
                  <a:gd name="T57" fmla="*/ 24 h 603"/>
                  <a:gd name="T58" fmla="*/ 1519 w 1831"/>
                  <a:gd name="T59" fmla="*/ 43 h 603"/>
                  <a:gd name="T60" fmla="*/ 1600 w 1831"/>
                  <a:gd name="T61" fmla="*/ 66 h 603"/>
                  <a:gd name="T62" fmla="*/ 1679 w 1831"/>
                  <a:gd name="T63" fmla="*/ 93 h 603"/>
                  <a:gd name="T64" fmla="*/ 1756 w 1831"/>
                  <a:gd name="T65" fmla="*/ 124 h 603"/>
                  <a:gd name="T66" fmla="*/ 1831 w 1831"/>
                  <a:gd name="T67" fmla="*/ 160 h 603"/>
                  <a:gd name="T68" fmla="*/ 1776 w 1831"/>
                  <a:gd name="T69" fmla="*/ 169 h 603"/>
                  <a:gd name="T70" fmla="*/ 1626 w 1831"/>
                  <a:gd name="T71" fmla="*/ 145 h 603"/>
                  <a:gd name="T72" fmla="*/ 1521 w 1831"/>
                  <a:gd name="T73" fmla="*/ 221 h 603"/>
                  <a:gd name="T74" fmla="*/ 1445 w 1831"/>
                  <a:gd name="T75" fmla="*/ 311 h 603"/>
                  <a:gd name="T76" fmla="*/ 1171 w 1831"/>
                  <a:gd name="T77" fmla="*/ 338 h 603"/>
                  <a:gd name="T78" fmla="*/ 1059 w 1831"/>
                  <a:gd name="T79" fmla="*/ 319 h 603"/>
                  <a:gd name="T80" fmla="*/ 981 w 1831"/>
                  <a:gd name="T81" fmla="*/ 449 h 603"/>
                  <a:gd name="T82" fmla="*/ 757 w 1831"/>
                  <a:gd name="T83" fmla="*/ 463 h 603"/>
                  <a:gd name="T84" fmla="*/ 616 w 1831"/>
                  <a:gd name="T85" fmla="*/ 420 h 603"/>
                  <a:gd name="T86" fmla="*/ 490 w 1831"/>
                  <a:gd name="T87" fmla="*/ 494 h 603"/>
                  <a:gd name="T88" fmla="*/ 218 w 1831"/>
                  <a:gd name="T89" fmla="*/ 535 h 603"/>
                  <a:gd name="T90" fmla="*/ 0 w 1831"/>
                  <a:gd name="T91" fmla="*/ 603 h 603"/>
                  <a:gd name="T92" fmla="*/ 0 w 1831"/>
                  <a:gd name="T93" fmla="*/ 603 h 603"/>
                  <a:gd name="T94" fmla="*/ 58 w 1831"/>
                  <a:gd name="T95" fmla="*/ 531 h 603"/>
                  <a:gd name="T96" fmla="*/ 120 w 1831"/>
                  <a:gd name="T97" fmla="*/ 463 h 603"/>
                  <a:gd name="T98" fmla="*/ 185 w 1831"/>
                  <a:gd name="T99" fmla="*/ 399 h 603"/>
                  <a:gd name="T100" fmla="*/ 253 w 1831"/>
                  <a:gd name="T101" fmla="*/ 338 h 603"/>
                  <a:gd name="T102" fmla="*/ 325 w 1831"/>
                  <a:gd name="T103" fmla="*/ 283 h 603"/>
                  <a:gd name="T104" fmla="*/ 400 w 1831"/>
                  <a:gd name="T105" fmla="*/ 232 h 603"/>
                  <a:gd name="T106" fmla="*/ 477 w 1831"/>
                  <a:gd name="T107" fmla="*/ 185 h 603"/>
                  <a:gd name="T108" fmla="*/ 558 w 1831"/>
                  <a:gd name="T109" fmla="*/ 144 h 603"/>
                  <a:gd name="T110" fmla="*/ 640 w 1831"/>
                  <a:gd name="T111" fmla="*/ 107 h 603"/>
                  <a:gd name="T112" fmla="*/ 725 w 1831"/>
                  <a:gd name="T113" fmla="*/ 75 h 603"/>
                  <a:gd name="T114" fmla="*/ 813 w 1831"/>
                  <a:gd name="T115" fmla="*/ 49 h 603"/>
                  <a:gd name="T116" fmla="*/ 902 w 1831"/>
                  <a:gd name="T117" fmla="*/ 27 h 603"/>
                  <a:gd name="T118" fmla="*/ 992 w 1831"/>
                  <a:gd name="T119" fmla="*/ 13 h 603"/>
                  <a:gd name="T120" fmla="*/ 1086 w 1831"/>
                  <a:gd name="T121" fmla="*/ 4 h 603"/>
                  <a:gd name="T122" fmla="*/ 1180 w 1831"/>
                  <a:gd name="T123"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1" h="603">
                    <a:moveTo>
                      <a:pt x="782" y="179"/>
                    </a:moveTo>
                    <a:lnTo>
                      <a:pt x="779" y="185"/>
                    </a:lnTo>
                    <a:lnTo>
                      <a:pt x="773" y="194"/>
                    </a:lnTo>
                    <a:lnTo>
                      <a:pt x="763" y="204"/>
                    </a:lnTo>
                    <a:lnTo>
                      <a:pt x="750" y="214"/>
                    </a:lnTo>
                    <a:lnTo>
                      <a:pt x="737" y="225"/>
                    </a:lnTo>
                    <a:lnTo>
                      <a:pt x="724" y="235"/>
                    </a:lnTo>
                    <a:lnTo>
                      <a:pt x="711" y="246"/>
                    </a:lnTo>
                    <a:lnTo>
                      <a:pt x="699" y="254"/>
                    </a:lnTo>
                    <a:lnTo>
                      <a:pt x="690" y="261"/>
                    </a:lnTo>
                    <a:lnTo>
                      <a:pt x="683" y="266"/>
                    </a:lnTo>
                    <a:lnTo>
                      <a:pt x="681" y="267"/>
                    </a:lnTo>
                    <a:lnTo>
                      <a:pt x="782" y="331"/>
                    </a:lnTo>
                    <a:lnTo>
                      <a:pt x="990" y="271"/>
                    </a:lnTo>
                    <a:lnTo>
                      <a:pt x="941" y="179"/>
                    </a:lnTo>
                    <a:lnTo>
                      <a:pt x="851" y="210"/>
                    </a:lnTo>
                    <a:lnTo>
                      <a:pt x="782" y="179"/>
                    </a:lnTo>
                    <a:close/>
                    <a:moveTo>
                      <a:pt x="1401" y="72"/>
                    </a:moveTo>
                    <a:lnTo>
                      <a:pt x="1244" y="166"/>
                    </a:lnTo>
                    <a:lnTo>
                      <a:pt x="1155" y="226"/>
                    </a:lnTo>
                    <a:lnTo>
                      <a:pt x="1217" y="270"/>
                    </a:lnTo>
                    <a:lnTo>
                      <a:pt x="1356" y="255"/>
                    </a:lnTo>
                    <a:lnTo>
                      <a:pt x="1502" y="135"/>
                    </a:lnTo>
                    <a:lnTo>
                      <a:pt x="1401" y="72"/>
                    </a:lnTo>
                    <a:close/>
                    <a:moveTo>
                      <a:pt x="1180" y="0"/>
                    </a:moveTo>
                    <a:lnTo>
                      <a:pt x="1180" y="0"/>
                    </a:lnTo>
                    <a:lnTo>
                      <a:pt x="1267" y="4"/>
                    </a:lnTo>
                    <a:lnTo>
                      <a:pt x="1352" y="11"/>
                    </a:lnTo>
                    <a:lnTo>
                      <a:pt x="1436" y="24"/>
                    </a:lnTo>
                    <a:lnTo>
                      <a:pt x="1519" y="43"/>
                    </a:lnTo>
                    <a:lnTo>
                      <a:pt x="1600" y="66"/>
                    </a:lnTo>
                    <a:lnTo>
                      <a:pt x="1679" y="93"/>
                    </a:lnTo>
                    <a:lnTo>
                      <a:pt x="1756" y="124"/>
                    </a:lnTo>
                    <a:lnTo>
                      <a:pt x="1831" y="160"/>
                    </a:lnTo>
                    <a:lnTo>
                      <a:pt x="1776" y="169"/>
                    </a:lnTo>
                    <a:lnTo>
                      <a:pt x="1626" y="145"/>
                    </a:lnTo>
                    <a:lnTo>
                      <a:pt x="1521" y="221"/>
                    </a:lnTo>
                    <a:lnTo>
                      <a:pt x="1445" y="311"/>
                    </a:lnTo>
                    <a:lnTo>
                      <a:pt x="1171" y="338"/>
                    </a:lnTo>
                    <a:lnTo>
                      <a:pt x="1059" y="319"/>
                    </a:lnTo>
                    <a:lnTo>
                      <a:pt x="981" y="449"/>
                    </a:lnTo>
                    <a:lnTo>
                      <a:pt x="757" y="463"/>
                    </a:lnTo>
                    <a:lnTo>
                      <a:pt x="616" y="420"/>
                    </a:lnTo>
                    <a:lnTo>
                      <a:pt x="490" y="494"/>
                    </a:lnTo>
                    <a:lnTo>
                      <a:pt x="218" y="535"/>
                    </a:lnTo>
                    <a:lnTo>
                      <a:pt x="0" y="603"/>
                    </a:lnTo>
                    <a:lnTo>
                      <a:pt x="0" y="603"/>
                    </a:lnTo>
                    <a:lnTo>
                      <a:pt x="58" y="531"/>
                    </a:lnTo>
                    <a:lnTo>
                      <a:pt x="120" y="463"/>
                    </a:lnTo>
                    <a:lnTo>
                      <a:pt x="185" y="399"/>
                    </a:lnTo>
                    <a:lnTo>
                      <a:pt x="253" y="338"/>
                    </a:lnTo>
                    <a:lnTo>
                      <a:pt x="325" y="283"/>
                    </a:lnTo>
                    <a:lnTo>
                      <a:pt x="400" y="232"/>
                    </a:lnTo>
                    <a:lnTo>
                      <a:pt x="477" y="185"/>
                    </a:lnTo>
                    <a:lnTo>
                      <a:pt x="558" y="144"/>
                    </a:lnTo>
                    <a:lnTo>
                      <a:pt x="640" y="107"/>
                    </a:lnTo>
                    <a:lnTo>
                      <a:pt x="725" y="75"/>
                    </a:lnTo>
                    <a:lnTo>
                      <a:pt x="813" y="49"/>
                    </a:lnTo>
                    <a:lnTo>
                      <a:pt x="902" y="27"/>
                    </a:lnTo>
                    <a:lnTo>
                      <a:pt x="992" y="13"/>
                    </a:lnTo>
                    <a:lnTo>
                      <a:pt x="1086" y="4"/>
                    </a:lnTo>
                    <a:lnTo>
                      <a:pt x="1180"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grpSp>
        <p:grpSp>
          <p:nvGrpSpPr>
            <p:cNvPr id="32" name="组合 31"/>
            <p:cNvGrpSpPr>
              <a:grpSpLocks noChangeAspect="1"/>
            </p:cNvGrpSpPr>
            <p:nvPr/>
          </p:nvGrpSpPr>
          <p:grpSpPr>
            <a:xfrm>
              <a:off x="3339216" y="1423240"/>
              <a:ext cx="900002" cy="900000"/>
              <a:chOff x="3222379" y="1423240"/>
              <a:chExt cx="1133678" cy="1133676"/>
            </a:xfrm>
          </p:grpSpPr>
          <p:sp>
            <p:nvSpPr>
              <p:cNvPr id="33" name="Oval 95"/>
              <p:cNvSpPr/>
              <p:nvPr/>
            </p:nvSpPr>
            <p:spPr>
              <a:xfrm>
                <a:off x="3222379"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4" name="Freeform 18"/>
              <p:cNvSpPr/>
              <p:nvPr/>
            </p:nvSpPr>
            <p:spPr>
              <a:xfrm>
                <a:off x="3511512" y="1737611"/>
                <a:ext cx="586088" cy="532821"/>
              </a:xfrm>
              <a:custGeom>
                <a:avLst/>
                <a:gdLst/>
                <a:ahLst/>
                <a:cxnLst>
                  <a:cxn ang="0">
                    <a:pos x="2147483646" y="2147483646"/>
                  </a:cxn>
                  <a:cxn ang="0">
                    <a:pos x="2147483646" y="2147483646"/>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153" h="1960">
                    <a:moveTo>
                      <a:pt x="2006" y="767"/>
                    </a:moveTo>
                    <a:lnTo>
                      <a:pt x="2006" y="767"/>
                    </a:lnTo>
                    <a:cubicBezTo>
                      <a:pt x="1814" y="767"/>
                      <a:pt x="1814" y="767"/>
                      <a:pt x="1814" y="767"/>
                    </a:cubicBezTo>
                    <a:cubicBezTo>
                      <a:pt x="1814" y="198"/>
                      <a:pt x="1814" y="198"/>
                      <a:pt x="1814" y="198"/>
                    </a:cubicBezTo>
                    <a:cubicBezTo>
                      <a:pt x="1814" y="85"/>
                      <a:pt x="1728" y="0"/>
                      <a:pt x="1622" y="0"/>
                    </a:cubicBezTo>
                    <a:cubicBezTo>
                      <a:pt x="198" y="0"/>
                      <a:pt x="198" y="0"/>
                      <a:pt x="198" y="0"/>
                    </a:cubicBezTo>
                    <a:cubicBezTo>
                      <a:pt x="92" y="0"/>
                      <a:pt x="0" y="85"/>
                      <a:pt x="0" y="198"/>
                    </a:cubicBezTo>
                    <a:cubicBezTo>
                      <a:pt x="0" y="1025"/>
                      <a:pt x="0" y="1025"/>
                      <a:pt x="0" y="1025"/>
                    </a:cubicBezTo>
                    <a:cubicBezTo>
                      <a:pt x="0" y="1138"/>
                      <a:pt x="92" y="1224"/>
                      <a:pt x="198" y="1224"/>
                    </a:cubicBezTo>
                    <a:cubicBezTo>
                      <a:pt x="377" y="1224"/>
                      <a:pt x="377" y="1224"/>
                      <a:pt x="377" y="1224"/>
                    </a:cubicBezTo>
                    <a:cubicBezTo>
                      <a:pt x="377" y="1800"/>
                      <a:pt x="377" y="1800"/>
                      <a:pt x="377" y="1800"/>
                    </a:cubicBezTo>
                    <a:cubicBezTo>
                      <a:pt x="377" y="1886"/>
                      <a:pt x="450" y="1959"/>
                      <a:pt x="543" y="1959"/>
                    </a:cubicBezTo>
                    <a:cubicBezTo>
                      <a:pt x="900" y="1959"/>
                      <a:pt x="900" y="1959"/>
                      <a:pt x="900" y="1959"/>
                    </a:cubicBezTo>
                    <a:cubicBezTo>
                      <a:pt x="993" y="1959"/>
                      <a:pt x="1066" y="1886"/>
                      <a:pt x="1066" y="1800"/>
                    </a:cubicBezTo>
                    <a:cubicBezTo>
                      <a:pt x="1066" y="1224"/>
                      <a:pt x="1066" y="1224"/>
                      <a:pt x="1066" y="1224"/>
                    </a:cubicBezTo>
                    <a:cubicBezTo>
                      <a:pt x="1192" y="1224"/>
                      <a:pt x="1192" y="1224"/>
                      <a:pt x="1192" y="1224"/>
                    </a:cubicBezTo>
                    <a:cubicBezTo>
                      <a:pt x="1192" y="1509"/>
                      <a:pt x="1192" y="1509"/>
                      <a:pt x="1192" y="1509"/>
                    </a:cubicBezTo>
                    <a:cubicBezTo>
                      <a:pt x="1192" y="1588"/>
                      <a:pt x="1258" y="1655"/>
                      <a:pt x="1337" y="1655"/>
                    </a:cubicBezTo>
                    <a:cubicBezTo>
                      <a:pt x="2006" y="1655"/>
                      <a:pt x="2006" y="1655"/>
                      <a:pt x="2006" y="1655"/>
                    </a:cubicBezTo>
                    <a:cubicBezTo>
                      <a:pt x="2086" y="1655"/>
                      <a:pt x="2152" y="1588"/>
                      <a:pt x="2152" y="1509"/>
                    </a:cubicBezTo>
                    <a:cubicBezTo>
                      <a:pt x="2152" y="913"/>
                      <a:pt x="2152" y="913"/>
                      <a:pt x="2152" y="913"/>
                    </a:cubicBezTo>
                    <a:cubicBezTo>
                      <a:pt x="2152" y="833"/>
                      <a:pt x="2086" y="767"/>
                      <a:pt x="2006" y="767"/>
                    </a:cubicBezTo>
                    <a:close/>
                    <a:moveTo>
                      <a:pt x="1966" y="846"/>
                    </a:moveTo>
                    <a:lnTo>
                      <a:pt x="1966" y="846"/>
                    </a:lnTo>
                    <a:cubicBezTo>
                      <a:pt x="1993" y="846"/>
                      <a:pt x="2013" y="866"/>
                      <a:pt x="2013" y="893"/>
                    </a:cubicBezTo>
                    <a:cubicBezTo>
                      <a:pt x="2013" y="913"/>
                      <a:pt x="1993" y="933"/>
                      <a:pt x="1966" y="933"/>
                    </a:cubicBezTo>
                    <a:cubicBezTo>
                      <a:pt x="1940" y="933"/>
                      <a:pt x="1920" y="913"/>
                      <a:pt x="1920" y="893"/>
                    </a:cubicBezTo>
                    <a:cubicBezTo>
                      <a:pt x="1920" y="866"/>
                      <a:pt x="1940" y="846"/>
                      <a:pt x="1966" y="846"/>
                    </a:cubicBezTo>
                    <a:close/>
                    <a:moveTo>
                      <a:pt x="2046" y="1535"/>
                    </a:moveTo>
                    <a:lnTo>
                      <a:pt x="2046" y="1535"/>
                    </a:lnTo>
                    <a:cubicBezTo>
                      <a:pt x="1304" y="1535"/>
                      <a:pt x="1304" y="1535"/>
                      <a:pt x="1304" y="1535"/>
                    </a:cubicBezTo>
                    <a:cubicBezTo>
                      <a:pt x="1304" y="999"/>
                      <a:pt x="1304" y="999"/>
                      <a:pt x="1304" y="999"/>
                    </a:cubicBezTo>
                    <a:cubicBezTo>
                      <a:pt x="2046" y="999"/>
                      <a:pt x="2046" y="999"/>
                      <a:pt x="2046" y="999"/>
                    </a:cubicBezTo>
                    <a:lnTo>
                      <a:pt x="2046" y="1535"/>
                    </a:lnTo>
                    <a:close/>
                    <a:moveTo>
                      <a:pt x="1841" y="846"/>
                    </a:moveTo>
                    <a:lnTo>
                      <a:pt x="1841" y="846"/>
                    </a:lnTo>
                    <a:cubicBezTo>
                      <a:pt x="1867" y="846"/>
                      <a:pt x="1887" y="866"/>
                      <a:pt x="1887" y="893"/>
                    </a:cubicBezTo>
                    <a:cubicBezTo>
                      <a:pt x="1887" y="913"/>
                      <a:pt x="1867" y="933"/>
                      <a:pt x="1841" y="933"/>
                    </a:cubicBezTo>
                    <a:cubicBezTo>
                      <a:pt x="1814" y="933"/>
                      <a:pt x="1794" y="913"/>
                      <a:pt x="1794" y="893"/>
                    </a:cubicBezTo>
                    <a:cubicBezTo>
                      <a:pt x="1794" y="866"/>
                      <a:pt x="1814" y="846"/>
                      <a:pt x="1841" y="846"/>
                    </a:cubicBezTo>
                    <a:close/>
                    <a:moveTo>
                      <a:pt x="1576" y="98"/>
                    </a:moveTo>
                    <a:lnTo>
                      <a:pt x="1576" y="98"/>
                    </a:lnTo>
                    <a:cubicBezTo>
                      <a:pt x="1609" y="98"/>
                      <a:pt x="1635" y="125"/>
                      <a:pt x="1635" y="158"/>
                    </a:cubicBezTo>
                    <a:cubicBezTo>
                      <a:pt x="1635" y="191"/>
                      <a:pt x="1609" y="218"/>
                      <a:pt x="1576" y="218"/>
                    </a:cubicBezTo>
                    <a:cubicBezTo>
                      <a:pt x="1543" y="218"/>
                      <a:pt x="1516" y="191"/>
                      <a:pt x="1516" y="158"/>
                    </a:cubicBezTo>
                    <a:cubicBezTo>
                      <a:pt x="1516" y="125"/>
                      <a:pt x="1543" y="98"/>
                      <a:pt x="1576" y="98"/>
                    </a:cubicBezTo>
                    <a:close/>
                    <a:moveTo>
                      <a:pt x="1410" y="98"/>
                    </a:moveTo>
                    <a:lnTo>
                      <a:pt x="1410" y="98"/>
                    </a:lnTo>
                    <a:cubicBezTo>
                      <a:pt x="1443" y="98"/>
                      <a:pt x="1470" y="125"/>
                      <a:pt x="1470" y="158"/>
                    </a:cubicBezTo>
                    <a:cubicBezTo>
                      <a:pt x="1470" y="191"/>
                      <a:pt x="1443" y="218"/>
                      <a:pt x="1410" y="218"/>
                    </a:cubicBezTo>
                    <a:cubicBezTo>
                      <a:pt x="1377" y="218"/>
                      <a:pt x="1351" y="191"/>
                      <a:pt x="1351" y="158"/>
                    </a:cubicBezTo>
                    <a:cubicBezTo>
                      <a:pt x="1351" y="125"/>
                      <a:pt x="1377" y="98"/>
                      <a:pt x="1410" y="98"/>
                    </a:cubicBezTo>
                    <a:close/>
                    <a:moveTo>
                      <a:pt x="721" y="919"/>
                    </a:moveTo>
                    <a:lnTo>
                      <a:pt x="721" y="919"/>
                    </a:lnTo>
                    <a:cubicBezTo>
                      <a:pt x="721" y="893"/>
                      <a:pt x="741" y="873"/>
                      <a:pt x="761" y="873"/>
                    </a:cubicBezTo>
                    <a:cubicBezTo>
                      <a:pt x="788" y="873"/>
                      <a:pt x="807" y="893"/>
                      <a:pt x="807" y="919"/>
                    </a:cubicBezTo>
                    <a:cubicBezTo>
                      <a:pt x="807" y="946"/>
                      <a:pt x="788" y="966"/>
                      <a:pt x="761" y="966"/>
                    </a:cubicBezTo>
                    <a:cubicBezTo>
                      <a:pt x="741" y="966"/>
                      <a:pt x="721" y="946"/>
                      <a:pt x="721" y="919"/>
                    </a:cubicBezTo>
                    <a:close/>
                    <a:moveTo>
                      <a:pt x="847" y="919"/>
                    </a:moveTo>
                    <a:lnTo>
                      <a:pt x="847" y="919"/>
                    </a:lnTo>
                    <a:cubicBezTo>
                      <a:pt x="847" y="893"/>
                      <a:pt x="867" y="873"/>
                      <a:pt x="887" y="873"/>
                    </a:cubicBezTo>
                    <a:cubicBezTo>
                      <a:pt x="913" y="873"/>
                      <a:pt x="933" y="893"/>
                      <a:pt x="933" y="919"/>
                    </a:cubicBezTo>
                    <a:cubicBezTo>
                      <a:pt x="933" y="946"/>
                      <a:pt x="913" y="966"/>
                      <a:pt x="887" y="966"/>
                    </a:cubicBezTo>
                    <a:cubicBezTo>
                      <a:pt x="867" y="966"/>
                      <a:pt x="847" y="946"/>
                      <a:pt x="847" y="919"/>
                    </a:cubicBezTo>
                    <a:close/>
                    <a:moveTo>
                      <a:pt x="940" y="1820"/>
                    </a:moveTo>
                    <a:lnTo>
                      <a:pt x="940" y="1820"/>
                    </a:lnTo>
                    <a:cubicBezTo>
                      <a:pt x="503" y="1820"/>
                      <a:pt x="503" y="1820"/>
                      <a:pt x="503" y="1820"/>
                    </a:cubicBezTo>
                    <a:cubicBezTo>
                      <a:pt x="503" y="1045"/>
                      <a:pt x="503" y="1045"/>
                      <a:pt x="503" y="1045"/>
                    </a:cubicBezTo>
                    <a:cubicBezTo>
                      <a:pt x="940" y="1045"/>
                      <a:pt x="940" y="1045"/>
                      <a:pt x="940" y="1045"/>
                    </a:cubicBezTo>
                    <a:lnTo>
                      <a:pt x="940" y="1820"/>
                    </a:lnTo>
                    <a:close/>
                    <a:moveTo>
                      <a:pt x="1066" y="1058"/>
                    </a:moveTo>
                    <a:lnTo>
                      <a:pt x="1066" y="1058"/>
                    </a:lnTo>
                    <a:cubicBezTo>
                      <a:pt x="1066" y="952"/>
                      <a:pt x="1066" y="952"/>
                      <a:pt x="1066" y="952"/>
                    </a:cubicBezTo>
                    <a:cubicBezTo>
                      <a:pt x="1066" y="860"/>
                      <a:pt x="993" y="787"/>
                      <a:pt x="900" y="787"/>
                    </a:cubicBezTo>
                    <a:cubicBezTo>
                      <a:pt x="543" y="787"/>
                      <a:pt x="543" y="787"/>
                      <a:pt x="543" y="787"/>
                    </a:cubicBezTo>
                    <a:cubicBezTo>
                      <a:pt x="450" y="787"/>
                      <a:pt x="377" y="860"/>
                      <a:pt x="377" y="952"/>
                    </a:cubicBezTo>
                    <a:cubicBezTo>
                      <a:pt x="377" y="1058"/>
                      <a:pt x="377" y="1058"/>
                      <a:pt x="377" y="1058"/>
                    </a:cubicBezTo>
                    <a:cubicBezTo>
                      <a:pt x="152" y="1058"/>
                      <a:pt x="152" y="1058"/>
                      <a:pt x="152" y="1058"/>
                    </a:cubicBezTo>
                    <a:cubicBezTo>
                      <a:pt x="152" y="310"/>
                      <a:pt x="152" y="310"/>
                      <a:pt x="152" y="310"/>
                    </a:cubicBezTo>
                    <a:cubicBezTo>
                      <a:pt x="1669" y="310"/>
                      <a:pt x="1669" y="310"/>
                      <a:pt x="1669" y="310"/>
                    </a:cubicBezTo>
                    <a:cubicBezTo>
                      <a:pt x="1669" y="767"/>
                      <a:pt x="1669" y="767"/>
                      <a:pt x="1669" y="767"/>
                    </a:cubicBezTo>
                    <a:cubicBezTo>
                      <a:pt x="1337" y="767"/>
                      <a:pt x="1337" y="767"/>
                      <a:pt x="1337" y="767"/>
                    </a:cubicBezTo>
                    <a:cubicBezTo>
                      <a:pt x="1258" y="767"/>
                      <a:pt x="1192" y="833"/>
                      <a:pt x="1192" y="913"/>
                    </a:cubicBezTo>
                    <a:cubicBezTo>
                      <a:pt x="1192" y="1058"/>
                      <a:pt x="1192" y="1058"/>
                      <a:pt x="1192" y="1058"/>
                    </a:cubicBezTo>
                    <a:lnTo>
                      <a:pt x="1066" y="1058"/>
                    </a:lnTo>
                    <a:close/>
                    <a:moveTo>
                      <a:pt x="1066" y="1058"/>
                    </a:moveTo>
                    <a:lnTo>
                      <a:pt x="1066" y="1058"/>
                    </a:lnTo>
                    <a:close/>
                  </a:path>
                </a:pathLst>
              </a:custGeom>
              <a:solidFill>
                <a:srgbClr val="039ACF"/>
              </a:solidFill>
              <a:ln w="9525">
                <a:noFill/>
              </a:ln>
            </p:spPr>
            <p:txBody>
              <a:bodyPr/>
              <a:lstStyle/>
              <a:p>
                <a:endParaRPr lang="zh-CN" altLang="en-US" sz="900"/>
              </a:p>
            </p:txBody>
          </p:sp>
        </p:grpSp>
        <p:grpSp>
          <p:nvGrpSpPr>
            <p:cNvPr id="35" name="组合 34"/>
            <p:cNvGrpSpPr>
              <a:grpSpLocks noChangeAspect="1"/>
            </p:cNvGrpSpPr>
            <p:nvPr/>
          </p:nvGrpSpPr>
          <p:grpSpPr>
            <a:xfrm>
              <a:off x="5643491" y="1414111"/>
              <a:ext cx="900002" cy="900000"/>
              <a:chOff x="5529161" y="1423240"/>
              <a:chExt cx="1133678" cy="1133676"/>
            </a:xfrm>
          </p:grpSpPr>
          <p:sp>
            <p:nvSpPr>
              <p:cNvPr id="36" name="Oval 108"/>
              <p:cNvSpPr/>
              <p:nvPr/>
            </p:nvSpPr>
            <p:spPr>
              <a:xfrm>
                <a:off x="5529161" y="1423240"/>
                <a:ext cx="1133678" cy="1133676"/>
              </a:xfrm>
              <a:prstGeom prst="ellips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7" name="Freeform 19"/>
              <p:cNvSpPr>
                <a:spLocks noEditPoints="1"/>
              </p:cNvSpPr>
              <p:nvPr/>
            </p:nvSpPr>
            <p:spPr bwMode="auto">
              <a:xfrm>
                <a:off x="5771737" y="1626048"/>
                <a:ext cx="648526" cy="753464"/>
              </a:xfrm>
              <a:custGeom>
                <a:avLst/>
                <a:gdLst>
                  <a:gd name="T0" fmla="*/ 1277 w 3088"/>
                  <a:gd name="T1" fmla="*/ 663 h 3592"/>
                  <a:gd name="T2" fmla="*/ 955 w 3088"/>
                  <a:gd name="T3" fmla="*/ 791 h 3592"/>
                  <a:gd name="T4" fmla="*/ 689 w 3088"/>
                  <a:gd name="T5" fmla="*/ 1004 h 3592"/>
                  <a:gd name="T6" fmla="*/ 496 w 3088"/>
                  <a:gd name="T7" fmla="*/ 1284 h 3592"/>
                  <a:gd name="T8" fmla="*/ 391 w 3088"/>
                  <a:gd name="T9" fmla="*/ 1617 h 3592"/>
                  <a:gd name="T10" fmla="*/ 391 w 3088"/>
                  <a:gd name="T11" fmla="*/ 1976 h 3592"/>
                  <a:gd name="T12" fmla="*/ 496 w 3088"/>
                  <a:gd name="T13" fmla="*/ 2308 h 3592"/>
                  <a:gd name="T14" fmla="*/ 689 w 3088"/>
                  <a:gd name="T15" fmla="*/ 2589 h 3592"/>
                  <a:gd name="T16" fmla="*/ 955 w 3088"/>
                  <a:gd name="T17" fmla="*/ 2801 h 3592"/>
                  <a:gd name="T18" fmla="*/ 1277 w 3088"/>
                  <a:gd name="T19" fmla="*/ 2929 h 3592"/>
                  <a:gd name="T20" fmla="*/ 1630 w 3088"/>
                  <a:gd name="T21" fmla="*/ 2958 h 3592"/>
                  <a:gd name="T22" fmla="*/ 1959 w 3088"/>
                  <a:gd name="T23" fmla="*/ 2884 h 3592"/>
                  <a:gd name="T24" fmla="*/ 2246 w 3088"/>
                  <a:gd name="T25" fmla="*/ 2726 h 3592"/>
                  <a:gd name="T26" fmla="*/ 2475 w 3088"/>
                  <a:gd name="T27" fmla="*/ 2497 h 3592"/>
                  <a:gd name="T28" fmla="*/ 2634 w 3088"/>
                  <a:gd name="T29" fmla="*/ 2211 h 3592"/>
                  <a:gd name="T30" fmla="*/ 2706 w 3088"/>
                  <a:gd name="T31" fmla="*/ 1883 h 3592"/>
                  <a:gd name="T32" fmla="*/ 2679 w 3088"/>
                  <a:gd name="T33" fmla="*/ 1529 h 3592"/>
                  <a:gd name="T34" fmla="*/ 2551 w 3088"/>
                  <a:gd name="T35" fmla="*/ 1208 h 3592"/>
                  <a:gd name="T36" fmla="*/ 2337 w 3088"/>
                  <a:gd name="T37" fmla="*/ 944 h 3592"/>
                  <a:gd name="T38" fmla="*/ 2057 w 3088"/>
                  <a:gd name="T39" fmla="*/ 750 h 3592"/>
                  <a:gd name="T40" fmla="*/ 1725 w 3088"/>
                  <a:gd name="T41" fmla="*/ 646 h 3592"/>
                  <a:gd name="T42" fmla="*/ 1557 w 3088"/>
                  <a:gd name="T43" fmla="*/ 1 h 3592"/>
                  <a:gd name="T44" fmla="*/ 1621 w 3088"/>
                  <a:gd name="T45" fmla="*/ 39 h 3592"/>
                  <a:gd name="T46" fmla="*/ 2010 w 3088"/>
                  <a:gd name="T47" fmla="*/ 278 h 3592"/>
                  <a:gd name="T48" fmla="*/ 2427 w 3088"/>
                  <a:gd name="T49" fmla="*/ 456 h 3592"/>
                  <a:gd name="T50" fmla="*/ 2828 w 3088"/>
                  <a:gd name="T51" fmla="*/ 546 h 3592"/>
                  <a:gd name="T52" fmla="*/ 3051 w 3088"/>
                  <a:gd name="T53" fmla="*/ 577 h 3592"/>
                  <a:gd name="T54" fmla="*/ 3087 w 3088"/>
                  <a:gd name="T55" fmla="*/ 630 h 3592"/>
                  <a:gd name="T56" fmla="*/ 3086 w 3088"/>
                  <a:gd name="T57" fmla="*/ 1810 h 3592"/>
                  <a:gd name="T58" fmla="*/ 3046 w 3088"/>
                  <a:gd name="T59" fmla="*/ 2262 h 3592"/>
                  <a:gd name="T60" fmla="*/ 2938 w 3088"/>
                  <a:gd name="T61" fmla="*/ 2537 h 3592"/>
                  <a:gd name="T62" fmla="*/ 2757 w 3088"/>
                  <a:gd name="T63" fmla="*/ 2805 h 3592"/>
                  <a:gd name="T64" fmla="*/ 2484 w 3088"/>
                  <a:gd name="T65" fmla="*/ 3078 h 3592"/>
                  <a:gd name="T66" fmla="*/ 2171 w 3088"/>
                  <a:gd name="T67" fmla="*/ 3300 h 3592"/>
                  <a:gd name="T68" fmla="*/ 1796 w 3088"/>
                  <a:gd name="T69" fmla="*/ 3494 h 3592"/>
                  <a:gd name="T70" fmla="*/ 1549 w 3088"/>
                  <a:gd name="T71" fmla="*/ 3592 h 3592"/>
                  <a:gd name="T72" fmla="*/ 1296 w 3088"/>
                  <a:gd name="T73" fmla="*/ 3499 h 3592"/>
                  <a:gd name="T74" fmla="*/ 891 w 3088"/>
                  <a:gd name="T75" fmla="*/ 3284 h 3592"/>
                  <a:gd name="T76" fmla="*/ 525 w 3088"/>
                  <a:gd name="T77" fmla="*/ 3005 h 3592"/>
                  <a:gd name="T78" fmla="*/ 282 w 3088"/>
                  <a:gd name="T79" fmla="*/ 2741 h 3592"/>
                  <a:gd name="T80" fmla="*/ 118 w 3088"/>
                  <a:gd name="T81" fmla="*/ 2469 h 3592"/>
                  <a:gd name="T82" fmla="*/ 25 w 3088"/>
                  <a:gd name="T83" fmla="*/ 2161 h 3592"/>
                  <a:gd name="T84" fmla="*/ 0 w 3088"/>
                  <a:gd name="T85" fmla="*/ 1506 h 3592"/>
                  <a:gd name="T86" fmla="*/ 3 w 3088"/>
                  <a:gd name="T87" fmla="*/ 621 h 3592"/>
                  <a:gd name="T88" fmla="*/ 44 w 3088"/>
                  <a:gd name="T89" fmla="*/ 575 h 3592"/>
                  <a:gd name="T90" fmla="*/ 324 w 3088"/>
                  <a:gd name="T91" fmla="*/ 541 h 3592"/>
                  <a:gd name="T92" fmla="*/ 764 w 3088"/>
                  <a:gd name="T93" fmla="*/ 420 h 3592"/>
                  <a:gd name="T94" fmla="*/ 1176 w 3088"/>
                  <a:gd name="T95" fmla="*/ 224 h 3592"/>
                  <a:gd name="T96" fmla="*/ 1489 w 3088"/>
                  <a:gd name="T97" fmla="*/ 24 h 3592"/>
                  <a:gd name="T98" fmla="*/ 1545 w 3088"/>
                  <a:gd name="T99" fmla="*/ 0 h 3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8" h="3592">
                    <a:moveTo>
                      <a:pt x="1544" y="632"/>
                    </a:moveTo>
                    <a:lnTo>
                      <a:pt x="1453" y="635"/>
                    </a:lnTo>
                    <a:lnTo>
                      <a:pt x="1363" y="646"/>
                    </a:lnTo>
                    <a:lnTo>
                      <a:pt x="1277" y="663"/>
                    </a:lnTo>
                    <a:lnTo>
                      <a:pt x="1192" y="686"/>
                    </a:lnTo>
                    <a:lnTo>
                      <a:pt x="1110" y="715"/>
                    </a:lnTo>
                    <a:lnTo>
                      <a:pt x="1031" y="750"/>
                    </a:lnTo>
                    <a:lnTo>
                      <a:pt x="955" y="791"/>
                    </a:lnTo>
                    <a:lnTo>
                      <a:pt x="883" y="837"/>
                    </a:lnTo>
                    <a:lnTo>
                      <a:pt x="814" y="888"/>
                    </a:lnTo>
                    <a:lnTo>
                      <a:pt x="749" y="944"/>
                    </a:lnTo>
                    <a:lnTo>
                      <a:pt x="689" y="1004"/>
                    </a:lnTo>
                    <a:lnTo>
                      <a:pt x="634" y="1068"/>
                    </a:lnTo>
                    <a:lnTo>
                      <a:pt x="583" y="1136"/>
                    </a:lnTo>
                    <a:lnTo>
                      <a:pt x="537" y="1208"/>
                    </a:lnTo>
                    <a:lnTo>
                      <a:pt x="496" y="1284"/>
                    </a:lnTo>
                    <a:lnTo>
                      <a:pt x="461" y="1363"/>
                    </a:lnTo>
                    <a:lnTo>
                      <a:pt x="432" y="1445"/>
                    </a:lnTo>
                    <a:lnTo>
                      <a:pt x="409" y="1529"/>
                    </a:lnTo>
                    <a:lnTo>
                      <a:pt x="391" y="1617"/>
                    </a:lnTo>
                    <a:lnTo>
                      <a:pt x="381" y="1705"/>
                    </a:lnTo>
                    <a:lnTo>
                      <a:pt x="378" y="1796"/>
                    </a:lnTo>
                    <a:lnTo>
                      <a:pt x="381" y="1887"/>
                    </a:lnTo>
                    <a:lnTo>
                      <a:pt x="391" y="1976"/>
                    </a:lnTo>
                    <a:lnTo>
                      <a:pt x="409" y="2063"/>
                    </a:lnTo>
                    <a:lnTo>
                      <a:pt x="432" y="2148"/>
                    </a:lnTo>
                    <a:lnTo>
                      <a:pt x="461" y="2229"/>
                    </a:lnTo>
                    <a:lnTo>
                      <a:pt x="496" y="2308"/>
                    </a:lnTo>
                    <a:lnTo>
                      <a:pt x="537" y="2383"/>
                    </a:lnTo>
                    <a:lnTo>
                      <a:pt x="583" y="2456"/>
                    </a:lnTo>
                    <a:lnTo>
                      <a:pt x="634" y="2524"/>
                    </a:lnTo>
                    <a:lnTo>
                      <a:pt x="689" y="2589"/>
                    </a:lnTo>
                    <a:lnTo>
                      <a:pt x="749" y="2649"/>
                    </a:lnTo>
                    <a:lnTo>
                      <a:pt x="814" y="2705"/>
                    </a:lnTo>
                    <a:lnTo>
                      <a:pt x="883" y="2755"/>
                    </a:lnTo>
                    <a:lnTo>
                      <a:pt x="955" y="2801"/>
                    </a:lnTo>
                    <a:lnTo>
                      <a:pt x="1031" y="2842"/>
                    </a:lnTo>
                    <a:lnTo>
                      <a:pt x="1110" y="2877"/>
                    </a:lnTo>
                    <a:lnTo>
                      <a:pt x="1192" y="2906"/>
                    </a:lnTo>
                    <a:lnTo>
                      <a:pt x="1277" y="2929"/>
                    </a:lnTo>
                    <a:lnTo>
                      <a:pt x="1363" y="2947"/>
                    </a:lnTo>
                    <a:lnTo>
                      <a:pt x="1453" y="2957"/>
                    </a:lnTo>
                    <a:lnTo>
                      <a:pt x="1544" y="2961"/>
                    </a:lnTo>
                    <a:lnTo>
                      <a:pt x="1630" y="2958"/>
                    </a:lnTo>
                    <a:lnTo>
                      <a:pt x="1716" y="2948"/>
                    </a:lnTo>
                    <a:lnTo>
                      <a:pt x="1799" y="2933"/>
                    </a:lnTo>
                    <a:lnTo>
                      <a:pt x="1881" y="2911"/>
                    </a:lnTo>
                    <a:lnTo>
                      <a:pt x="1959" y="2884"/>
                    </a:lnTo>
                    <a:lnTo>
                      <a:pt x="2036" y="2853"/>
                    </a:lnTo>
                    <a:lnTo>
                      <a:pt x="2109" y="2815"/>
                    </a:lnTo>
                    <a:lnTo>
                      <a:pt x="2179" y="2773"/>
                    </a:lnTo>
                    <a:lnTo>
                      <a:pt x="2246" y="2726"/>
                    </a:lnTo>
                    <a:lnTo>
                      <a:pt x="2309" y="2674"/>
                    </a:lnTo>
                    <a:lnTo>
                      <a:pt x="2369" y="2620"/>
                    </a:lnTo>
                    <a:lnTo>
                      <a:pt x="2424" y="2559"/>
                    </a:lnTo>
                    <a:lnTo>
                      <a:pt x="2475" y="2497"/>
                    </a:lnTo>
                    <a:lnTo>
                      <a:pt x="2522" y="2430"/>
                    </a:lnTo>
                    <a:lnTo>
                      <a:pt x="2564" y="2360"/>
                    </a:lnTo>
                    <a:lnTo>
                      <a:pt x="2601" y="2287"/>
                    </a:lnTo>
                    <a:lnTo>
                      <a:pt x="2634" y="2211"/>
                    </a:lnTo>
                    <a:lnTo>
                      <a:pt x="2660" y="2133"/>
                    </a:lnTo>
                    <a:lnTo>
                      <a:pt x="2682" y="2052"/>
                    </a:lnTo>
                    <a:lnTo>
                      <a:pt x="2698" y="1969"/>
                    </a:lnTo>
                    <a:lnTo>
                      <a:pt x="2706" y="1883"/>
                    </a:lnTo>
                    <a:lnTo>
                      <a:pt x="2710" y="1796"/>
                    </a:lnTo>
                    <a:lnTo>
                      <a:pt x="2706" y="1705"/>
                    </a:lnTo>
                    <a:lnTo>
                      <a:pt x="2697" y="1617"/>
                    </a:lnTo>
                    <a:lnTo>
                      <a:pt x="2679" y="1529"/>
                    </a:lnTo>
                    <a:lnTo>
                      <a:pt x="2656" y="1445"/>
                    </a:lnTo>
                    <a:lnTo>
                      <a:pt x="2627" y="1363"/>
                    </a:lnTo>
                    <a:lnTo>
                      <a:pt x="2591" y="1284"/>
                    </a:lnTo>
                    <a:lnTo>
                      <a:pt x="2551" y="1208"/>
                    </a:lnTo>
                    <a:lnTo>
                      <a:pt x="2505" y="1136"/>
                    </a:lnTo>
                    <a:lnTo>
                      <a:pt x="2453" y="1068"/>
                    </a:lnTo>
                    <a:lnTo>
                      <a:pt x="2397" y="1004"/>
                    </a:lnTo>
                    <a:lnTo>
                      <a:pt x="2337" y="944"/>
                    </a:lnTo>
                    <a:lnTo>
                      <a:pt x="2274" y="888"/>
                    </a:lnTo>
                    <a:lnTo>
                      <a:pt x="2205" y="837"/>
                    </a:lnTo>
                    <a:lnTo>
                      <a:pt x="2132" y="791"/>
                    </a:lnTo>
                    <a:lnTo>
                      <a:pt x="2057" y="750"/>
                    </a:lnTo>
                    <a:lnTo>
                      <a:pt x="1978" y="715"/>
                    </a:lnTo>
                    <a:lnTo>
                      <a:pt x="1896" y="686"/>
                    </a:lnTo>
                    <a:lnTo>
                      <a:pt x="1811" y="663"/>
                    </a:lnTo>
                    <a:lnTo>
                      <a:pt x="1725" y="646"/>
                    </a:lnTo>
                    <a:lnTo>
                      <a:pt x="1635" y="635"/>
                    </a:lnTo>
                    <a:lnTo>
                      <a:pt x="1544" y="632"/>
                    </a:lnTo>
                    <a:close/>
                    <a:moveTo>
                      <a:pt x="1545" y="0"/>
                    </a:moveTo>
                    <a:lnTo>
                      <a:pt x="1557" y="1"/>
                    </a:lnTo>
                    <a:lnTo>
                      <a:pt x="1569" y="6"/>
                    </a:lnTo>
                    <a:lnTo>
                      <a:pt x="1583" y="14"/>
                    </a:lnTo>
                    <a:lnTo>
                      <a:pt x="1600" y="25"/>
                    </a:lnTo>
                    <a:lnTo>
                      <a:pt x="1621" y="39"/>
                    </a:lnTo>
                    <a:lnTo>
                      <a:pt x="1716" y="104"/>
                    </a:lnTo>
                    <a:lnTo>
                      <a:pt x="1812" y="165"/>
                    </a:lnTo>
                    <a:lnTo>
                      <a:pt x="1910" y="223"/>
                    </a:lnTo>
                    <a:lnTo>
                      <a:pt x="2010" y="278"/>
                    </a:lnTo>
                    <a:lnTo>
                      <a:pt x="2112" y="329"/>
                    </a:lnTo>
                    <a:lnTo>
                      <a:pt x="2215" y="375"/>
                    </a:lnTo>
                    <a:lnTo>
                      <a:pt x="2320" y="418"/>
                    </a:lnTo>
                    <a:lnTo>
                      <a:pt x="2427" y="456"/>
                    </a:lnTo>
                    <a:lnTo>
                      <a:pt x="2537" y="489"/>
                    </a:lnTo>
                    <a:lnTo>
                      <a:pt x="2648" y="516"/>
                    </a:lnTo>
                    <a:lnTo>
                      <a:pt x="2738" y="532"/>
                    </a:lnTo>
                    <a:lnTo>
                      <a:pt x="2828" y="546"/>
                    </a:lnTo>
                    <a:lnTo>
                      <a:pt x="2919" y="556"/>
                    </a:lnTo>
                    <a:lnTo>
                      <a:pt x="3010" y="567"/>
                    </a:lnTo>
                    <a:lnTo>
                      <a:pt x="3032" y="572"/>
                    </a:lnTo>
                    <a:lnTo>
                      <a:pt x="3051" y="577"/>
                    </a:lnTo>
                    <a:lnTo>
                      <a:pt x="3065" y="586"/>
                    </a:lnTo>
                    <a:lnTo>
                      <a:pt x="3075" y="597"/>
                    </a:lnTo>
                    <a:lnTo>
                      <a:pt x="3082" y="611"/>
                    </a:lnTo>
                    <a:lnTo>
                      <a:pt x="3087" y="630"/>
                    </a:lnTo>
                    <a:lnTo>
                      <a:pt x="3088" y="653"/>
                    </a:lnTo>
                    <a:lnTo>
                      <a:pt x="3088" y="1352"/>
                    </a:lnTo>
                    <a:lnTo>
                      <a:pt x="3088" y="1580"/>
                    </a:lnTo>
                    <a:lnTo>
                      <a:pt x="3086" y="1810"/>
                    </a:lnTo>
                    <a:lnTo>
                      <a:pt x="3080" y="2039"/>
                    </a:lnTo>
                    <a:lnTo>
                      <a:pt x="3074" y="2115"/>
                    </a:lnTo>
                    <a:lnTo>
                      <a:pt x="3063" y="2190"/>
                    </a:lnTo>
                    <a:lnTo>
                      <a:pt x="3046" y="2262"/>
                    </a:lnTo>
                    <a:lnTo>
                      <a:pt x="3025" y="2333"/>
                    </a:lnTo>
                    <a:lnTo>
                      <a:pt x="3000" y="2402"/>
                    </a:lnTo>
                    <a:lnTo>
                      <a:pt x="2972" y="2470"/>
                    </a:lnTo>
                    <a:lnTo>
                      <a:pt x="2938" y="2537"/>
                    </a:lnTo>
                    <a:lnTo>
                      <a:pt x="2900" y="2601"/>
                    </a:lnTo>
                    <a:lnTo>
                      <a:pt x="2860" y="2664"/>
                    </a:lnTo>
                    <a:lnTo>
                      <a:pt x="2817" y="2727"/>
                    </a:lnTo>
                    <a:lnTo>
                      <a:pt x="2757" y="2805"/>
                    </a:lnTo>
                    <a:lnTo>
                      <a:pt x="2693" y="2878"/>
                    </a:lnTo>
                    <a:lnTo>
                      <a:pt x="2627" y="2948"/>
                    </a:lnTo>
                    <a:lnTo>
                      <a:pt x="2556" y="3015"/>
                    </a:lnTo>
                    <a:lnTo>
                      <a:pt x="2484" y="3078"/>
                    </a:lnTo>
                    <a:lnTo>
                      <a:pt x="2410" y="3138"/>
                    </a:lnTo>
                    <a:lnTo>
                      <a:pt x="2332" y="3195"/>
                    </a:lnTo>
                    <a:lnTo>
                      <a:pt x="2252" y="3249"/>
                    </a:lnTo>
                    <a:lnTo>
                      <a:pt x="2171" y="3300"/>
                    </a:lnTo>
                    <a:lnTo>
                      <a:pt x="2086" y="3349"/>
                    </a:lnTo>
                    <a:lnTo>
                      <a:pt x="2001" y="3396"/>
                    </a:lnTo>
                    <a:lnTo>
                      <a:pt x="1900" y="3447"/>
                    </a:lnTo>
                    <a:lnTo>
                      <a:pt x="1796" y="3494"/>
                    </a:lnTo>
                    <a:lnTo>
                      <a:pt x="1692" y="3540"/>
                    </a:lnTo>
                    <a:lnTo>
                      <a:pt x="1588" y="3583"/>
                    </a:lnTo>
                    <a:lnTo>
                      <a:pt x="1570" y="3590"/>
                    </a:lnTo>
                    <a:lnTo>
                      <a:pt x="1549" y="3592"/>
                    </a:lnTo>
                    <a:lnTo>
                      <a:pt x="1530" y="3592"/>
                    </a:lnTo>
                    <a:lnTo>
                      <a:pt x="1511" y="3588"/>
                    </a:lnTo>
                    <a:lnTo>
                      <a:pt x="1404" y="3545"/>
                    </a:lnTo>
                    <a:lnTo>
                      <a:pt x="1296" y="3499"/>
                    </a:lnTo>
                    <a:lnTo>
                      <a:pt x="1192" y="3451"/>
                    </a:lnTo>
                    <a:lnTo>
                      <a:pt x="1089" y="3399"/>
                    </a:lnTo>
                    <a:lnTo>
                      <a:pt x="989" y="3343"/>
                    </a:lnTo>
                    <a:lnTo>
                      <a:pt x="891" y="3284"/>
                    </a:lnTo>
                    <a:lnTo>
                      <a:pt x="796" y="3220"/>
                    </a:lnTo>
                    <a:lnTo>
                      <a:pt x="702" y="3152"/>
                    </a:lnTo>
                    <a:lnTo>
                      <a:pt x="613" y="3081"/>
                    </a:lnTo>
                    <a:lnTo>
                      <a:pt x="525" y="3005"/>
                    </a:lnTo>
                    <a:lnTo>
                      <a:pt x="440" y="2924"/>
                    </a:lnTo>
                    <a:lnTo>
                      <a:pt x="385" y="2865"/>
                    </a:lnTo>
                    <a:lnTo>
                      <a:pt x="331" y="2803"/>
                    </a:lnTo>
                    <a:lnTo>
                      <a:pt x="282" y="2741"/>
                    </a:lnTo>
                    <a:lnTo>
                      <a:pt x="234" y="2677"/>
                    </a:lnTo>
                    <a:lnTo>
                      <a:pt x="192" y="2610"/>
                    </a:lnTo>
                    <a:lnTo>
                      <a:pt x="153" y="2540"/>
                    </a:lnTo>
                    <a:lnTo>
                      <a:pt x="118" y="2469"/>
                    </a:lnTo>
                    <a:lnTo>
                      <a:pt x="88" y="2394"/>
                    </a:lnTo>
                    <a:lnTo>
                      <a:pt x="62" y="2318"/>
                    </a:lnTo>
                    <a:lnTo>
                      <a:pt x="42" y="2239"/>
                    </a:lnTo>
                    <a:lnTo>
                      <a:pt x="25" y="2161"/>
                    </a:lnTo>
                    <a:lnTo>
                      <a:pt x="13" y="2084"/>
                    </a:lnTo>
                    <a:lnTo>
                      <a:pt x="5" y="2004"/>
                    </a:lnTo>
                    <a:lnTo>
                      <a:pt x="3" y="1925"/>
                    </a:lnTo>
                    <a:lnTo>
                      <a:pt x="0" y="1506"/>
                    </a:lnTo>
                    <a:lnTo>
                      <a:pt x="0" y="1087"/>
                    </a:lnTo>
                    <a:lnTo>
                      <a:pt x="1" y="668"/>
                    </a:lnTo>
                    <a:lnTo>
                      <a:pt x="1" y="642"/>
                    </a:lnTo>
                    <a:lnTo>
                      <a:pt x="3" y="621"/>
                    </a:lnTo>
                    <a:lnTo>
                      <a:pt x="9" y="604"/>
                    </a:lnTo>
                    <a:lnTo>
                      <a:pt x="16" y="591"/>
                    </a:lnTo>
                    <a:lnTo>
                      <a:pt x="28" y="582"/>
                    </a:lnTo>
                    <a:lnTo>
                      <a:pt x="44" y="575"/>
                    </a:lnTo>
                    <a:lnTo>
                      <a:pt x="65" y="571"/>
                    </a:lnTo>
                    <a:lnTo>
                      <a:pt x="91" y="569"/>
                    </a:lnTo>
                    <a:lnTo>
                      <a:pt x="209" y="558"/>
                    </a:lnTo>
                    <a:lnTo>
                      <a:pt x="324" y="541"/>
                    </a:lnTo>
                    <a:lnTo>
                      <a:pt x="437" y="518"/>
                    </a:lnTo>
                    <a:lnTo>
                      <a:pt x="548" y="491"/>
                    </a:lnTo>
                    <a:lnTo>
                      <a:pt x="657" y="458"/>
                    </a:lnTo>
                    <a:lnTo>
                      <a:pt x="764" y="420"/>
                    </a:lnTo>
                    <a:lnTo>
                      <a:pt x="869" y="377"/>
                    </a:lnTo>
                    <a:lnTo>
                      <a:pt x="973" y="330"/>
                    </a:lnTo>
                    <a:lnTo>
                      <a:pt x="1075" y="279"/>
                    </a:lnTo>
                    <a:lnTo>
                      <a:pt x="1176" y="224"/>
                    </a:lnTo>
                    <a:lnTo>
                      <a:pt x="1274" y="165"/>
                    </a:lnTo>
                    <a:lnTo>
                      <a:pt x="1372" y="102"/>
                    </a:lnTo>
                    <a:lnTo>
                      <a:pt x="1468" y="38"/>
                    </a:lnTo>
                    <a:lnTo>
                      <a:pt x="1489" y="24"/>
                    </a:lnTo>
                    <a:lnTo>
                      <a:pt x="1507" y="13"/>
                    </a:lnTo>
                    <a:lnTo>
                      <a:pt x="1521" y="5"/>
                    </a:lnTo>
                    <a:lnTo>
                      <a:pt x="1534" y="1"/>
                    </a:lnTo>
                    <a:lnTo>
                      <a:pt x="1545" y="0"/>
                    </a:lnTo>
                    <a:close/>
                  </a:path>
                </a:pathLst>
              </a:custGeom>
              <a:solidFill>
                <a:srgbClr val="005EA4"/>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333333"/>
                  </a:solidFill>
                  <a:effectLst/>
                  <a:uLnTx/>
                  <a:uFillTx/>
                  <a:latin typeface="微软雅黑" panose="020B0503020204020204" pitchFamily="34" charset="-122"/>
                  <a:ea typeface="微软雅黑" panose="020B0503020204020204" pitchFamily="34" charset="-122"/>
                </a:endParaRPr>
              </a:p>
            </p:txBody>
          </p:sp>
          <p:sp>
            <p:nvSpPr>
              <p:cNvPr id="38" name="Freeform 41"/>
              <p:cNvSpPr/>
              <p:nvPr/>
            </p:nvSpPr>
            <p:spPr>
              <a:xfrm>
                <a:off x="5960282" y="1854442"/>
                <a:ext cx="271432" cy="271272"/>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054" h="1054">
                    <a:moveTo>
                      <a:pt x="1046" y="464"/>
                    </a:moveTo>
                    <a:lnTo>
                      <a:pt x="1046" y="464"/>
                    </a:lnTo>
                    <a:cubicBezTo>
                      <a:pt x="986" y="444"/>
                      <a:pt x="986" y="444"/>
                      <a:pt x="986" y="444"/>
                    </a:cubicBezTo>
                    <a:cubicBezTo>
                      <a:pt x="973" y="378"/>
                      <a:pt x="953" y="318"/>
                      <a:pt x="914" y="265"/>
                    </a:cubicBezTo>
                    <a:cubicBezTo>
                      <a:pt x="940" y="199"/>
                      <a:pt x="940" y="199"/>
                      <a:pt x="940" y="199"/>
                    </a:cubicBezTo>
                    <a:cubicBezTo>
                      <a:pt x="940" y="199"/>
                      <a:pt x="940" y="199"/>
                      <a:pt x="940" y="193"/>
                    </a:cubicBezTo>
                    <a:cubicBezTo>
                      <a:pt x="900" y="153"/>
                      <a:pt x="900" y="153"/>
                      <a:pt x="900" y="153"/>
                    </a:cubicBezTo>
                    <a:cubicBezTo>
                      <a:pt x="861" y="113"/>
                      <a:pt x="861" y="113"/>
                      <a:pt x="861" y="113"/>
                    </a:cubicBezTo>
                    <a:lnTo>
                      <a:pt x="854" y="113"/>
                    </a:lnTo>
                    <a:cubicBezTo>
                      <a:pt x="794" y="140"/>
                      <a:pt x="794" y="140"/>
                      <a:pt x="794" y="140"/>
                    </a:cubicBezTo>
                    <a:cubicBezTo>
                      <a:pt x="741" y="106"/>
                      <a:pt x="682" y="80"/>
                      <a:pt x="615" y="67"/>
                    </a:cubicBezTo>
                    <a:cubicBezTo>
                      <a:pt x="589" y="0"/>
                      <a:pt x="589" y="0"/>
                      <a:pt x="589" y="0"/>
                    </a:cubicBezTo>
                    <a:lnTo>
                      <a:pt x="582" y="0"/>
                    </a:lnTo>
                    <a:cubicBezTo>
                      <a:pt x="529" y="0"/>
                      <a:pt x="529" y="0"/>
                      <a:pt x="529" y="0"/>
                    </a:cubicBezTo>
                    <a:cubicBezTo>
                      <a:pt x="470" y="0"/>
                      <a:pt x="470" y="0"/>
                      <a:pt x="470" y="0"/>
                    </a:cubicBezTo>
                    <a:lnTo>
                      <a:pt x="463" y="0"/>
                    </a:lnTo>
                    <a:cubicBezTo>
                      <a:pt x="443" y="67"/>
                      <a:pt x="443" y="67"/>
                      <a:pt x="443" y="67"/>
                    </a:cubicBezTo>
                    <a:cubicBezTo>
                      <a:pt x="377" y="73"/>
                      <a:pt x="317" y="100"/>
                      <a:pt x="264" y="140"/>
                    </a:cubicBezTo>
                    <a:cubicBezTo>
                      <a:pt x="198" y="113"/>
                      <a:pt x="198" y="113"/>
                      <a:pt x="198" y="113"/>
                    </a:cubicBezTo>
                    <a:lnTo>
                      <a:pt x="192" y="113"/>
                    </a:lnTo>
                    <a:cubicBezTo>
                      <a:pt x="152" y="153"/>
                      <a:pt x="152" y="153"/>
                      <a:pt x="152" y="153"/>
                    </a:cubicBezTo>
                    <a:cubicBezTo>
                      <a:pt x="112" y="193"/>
                      <a:pt x="112" y="193"/>
                      <a:pt x="112" y="193"/>
                    </a:cubicBezTo>
                    <a:lnTo>
                      <a:pt x="112" y="199"/>
                    </a:lnTo>
                    <a:cubicBezTo>
                      <a:pt x="139" y="259"/>
                      <a:pt x="139" y="259"/>
                      <a:pt x="139" y="259"/>
                    </a:cubicBezTo>
                    <a:cubicBezTo>
                      <a:pt x="99" y="312"/>
                      <a:pt x="79" y="371"/>
                      <a:pt x="66" y="438"/>
                    </a:cubicBezTo>
                    <a:cubicBezTo>
                      <a:pt x="0" y="464"/>
                      <a:pt x="0" y="464"/>
                      <a:pt x="0" y="464"/>
                    </a:cubicBezTo>
                    <a:cubicBezTo>
                      <a:pt x="0" y="464"/>
                      <a:pt x="0" y="464"/>
                      <a:pt x="0" y="471"/>
                    </a:cubicBezTo>
                    <a:cubicBezTo>
                      <a:pt x="0" y="524"/>
                      <a:pt x="0" y="524"/>
                      <a:pt x="0" y="524"/>
                    </a:cubicBezTo>
                    <a:cubicBezTo>
                      <a:pt x="0" y="583"/>
                      <a:pt x="0" y="583"/>
                      <a:pt x="0" y="583"/>
                    </a:cubicBezTo>
                    <a:cubicBezTo>
                      <a:pt x="66" y="610"/>
                      <a:pt x="66" y="610"/>
                      <a:pt x="66" y="610"/>
                    </a:cubicBezTo>
                    <a:cubicBezTo>
                      <a:pt x="72" y="676"/>
                      <a:pt x="99" y="735"/>
                      <a:pt x="139" y="788"/>
                    </a:cubicBezTo>
                    <a:cubicBezTo>
                      <a:pt x="112" y="855"/>
                      <a:pt x="112" y="855"/>
                      <a:pt x="112" y="855"/>
                    </a:cubicBezTo>
                    <a:cubicBezTo>
                      <a:pt x="106" y="855"/>
                      <a:pt x="112" y="855"/>
                      <a:pt x="112" y="861"/>
                    </a:cubicBezTo>
                    <a:cubicBezTo>
                      <a:pt x="152" y="901"/>
                      <a:pt x="152" y="901"/>
                      <a:pt x="152" y="901"/>
                    </a:cubicBezTo>
                    <a:cubicBezTo>
                      <a:pt x="192" y="941"/>
                      <a:pt x="192" y="941"/>
                      <a:pt x="192" y="941"/>
                    </a:cubicBezTo>
                    <a:cubicBezTo>
                      <a:pt x="192" y="941"/>
                      <a:pt x="192" y="941"/>
                      <a:pt x="198" y="941"/>
                    </a:cubicBezTo>
                    <a:cubicBezTo>
                      <a:pt x="258" y="914"/>
                      <a:pt x="258" y="914"/>
                      <a:pt x="258" y="914"/>
                    </a:cubicBezTo>
                    <a:cubicBezTo>
                      <a:pt x="311" y="947"/>
                      <a:pt x="370" y="974"/>
                      <a:pt x="437" y="987"/>
                    </a:cubicBezTo>
                    <a:cubicBezTo>
                      <a:pt x="463" y="1047"/>
                      <a:pt x="463" y="1047"/>
                      <a:pt x="463" y="1047"/>
                    </a:cubicBezTo>
                    <a:cubicBezTo>
                      <a:pt x="463" y="1053"/>
                      <a:pt x="463" y="1053"/>
                      <a:pt x="470" y="1053"/>
                    </a:cubicBezTo>
                    <a:cubicBezTo>
                      <a:pt x="523" y="1053"/>
                      <a:pt x="523" y="1053"/>
                      <a:pt x="523" y="1053"/>
                    </a:cubicBezTo>
                    <a:cubicBezTo>
                      <a:pt x="582" y="1053"/>
                      <a:pt x="582" y="1053"/>
                      <a:pt x="582" y="1053"/>
                    </a:cubicBezTo>
                    <a:cubicBezTo>
                      <a:pt x="582" y="1053"/>
                      <a:pt x="582" y="1053"/>
                      <a:pt x="582" y="1047"/>
                    </a:cubicBezTo>
                    <a:cubicBezTo>
                      <a:pt x="609" y="987"/>
                      <a:pt x="609" y="987"/>
                      <a:pt x="609" y="987"/>
                    </a:cubicBezTo>
                    <a:cubicBezTo>
                      <a:pt x="675" y="974"/>
                      <a:pt x="735" y="954"/>
                      <a:pt x="788" y="914"/>
                    </a:cubicBezTo>
                    <a:cubicBezTo>
                      <a:pt x="847" y="941"/>
                      <a:pt x="847" y="941"/>
                      <a:pt x="847" y="941"/>
                    </a:cubicBezTo>
                    <a:cubicBezTo>
                      <a:pt x="854" y="941"/>
                      <a:pt x="854" y="941"/>
                      <a:pt x="854" y="941"/>
                    </a:cubicBezTo>
                    <a:cubicBezTo>
                      <a:pt x="894" y="901"/>
                      <a:pt x="894" y="901"/>
                      <a:pt x="894" y="901"/>
                    </a:cubicBezTo>
                    <a:cubicBezTo>
                      <a:pt x="933" y="861"/>
                      <a:pt x="933" y="861"/>
                      <a:pt x="933" y="861"/>
                    </a:cubicBezTo>
                    <a:cubicBezTo>
                      <a:pt x="940" y="861"/>
                      <a:pt x="940" y="855"/>
                      <a:pt x="940" y="855"/>
                    </a:cubicBezTo>
                    <a:cubicBezTo>
                      <a:pt x="914" y="795"/>
                      <a:pt x="914" y="795"/>
                      <a:pt x="914" y="795"/>
                    </a:cubicBezTo>
                    <a:cubicBezTo>
                      <a:pt x="947" y="742"/>
                      <a:pt x="973" y="683"/>
                      <a:pt x="986" y="616"/>
                    </a:cubicBezTo>
                    <a:cubicBezTo>
                      <a:pt x="1046" y="590"/>
                      <a:pt x="1046" y="590"/>
                      <a:pt x="1046" y="590"/>
                    </a:cubicBezTo>
                    <a:cubicBezTo>
                      <a:pt x="1053" y="590"/>
                      <a:pt x="1053" y="590"/>
                      <a:pt x="1053" y="583"/>
                    </a:cubicBezTo>
                    <a:cubicBezTo>
                      <a:pt x="1053" y="530"/>
                      <a:pt x="1053" y="530"/>
                      <a:pt x="1053" y="530"/>
                    </a:cubicBezTo>
                    <a:cubicBezTo>
                      <a:pt x="1053" y="471"/>
                      <a:pt x="1053" y="471"/>
                      <a:pt x="1053" y="471"/>
                    </a:cubicBezTo>
                    <a:cubicBezTo>
                      <a:pt x="1053" y="471"/>
                      <a:pt x="1053" y="471"/>
                      <a:pt x="1046" y="464"/>
                    </a:cubicBezTo>
                    <a:close/>
                    <a:moveTo>
                      <a:pt x="523" y="815"/>
                    </a:moveTo>
                    <a:lnTo>
                      <a:pt x="523" y="815"/>
                    </a:lnTo>
                    <a:cubicBezTo>
                      <a:pt x="370" y="815"/>
                      <a:pt x="238" y="683"/>
                      <a:pt x="238" y="524"/>
                    </a:cubicBezTo>
                    <a:cubicBezTo>
                      <a:pt x="238" y="371"/>
                      <a:pt x="370" y="239"/>
                      <a:pt x="523" y="239"/>
                    </a:cubicBezTo>
                    <a:cubicBezTo>
                      <a:pt x="682" y="239"/>
                      <a:pt x="808" y="371"/>
                      <a:pt x="808" y="524"/>
                    </a:cubicBezTo>
                    <a:cubicBezTo>
                      <a:pt x="808" y="683"/>
                      <a:pt x="682" y="815"/>
                      <a:pt x="523" y="815"/>
                    </a:cubicBezTo>
                    <a:close/>
                  </a:path>
                </a:pathLst>
              </a:custGeom>
              <a:solidFill>
                <a:srgbClr val="005EA4"/>
              </a:solidFill>
              <a:ln w="9525">
                <a:noFill/>
              </a:ln>
            </p:spPr>
            <p:txBody>
              <a:bodyPr/>
              <a:lstStyle/>
              <a:p>
                <a:endParaRPr lang="zh-CN" altLang="en-US" sz="900"/>
              </a:p>
            </p:txBody>
          </p:sp>
        </p:grpSp>
        <p:sp>
          <p:nvSpPr>
            <p:cNvPr id="39" name="Pentagon 118"/>
            <p:cNvSpPr/>
            <p:nvPr/>
          </p:nvSpPr>
          <p:spPr>
            <a:xfrm rot="5400000">
              <a:off x="7699728" y="3344473"/>
              <a:ext cx="1407011" cy="1908000"/>
            </a:xfrm>
            <a:prstGeom prst="homePlate">
              <a:avLst>
                <a:gd name="adj" fmla="val 26127"/>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0" name="Pentagon 118"/>
            <p:cNvSpPr/>
            <p:nvPr/>
          </p:nvSpPr>
          <p:spPr>
            <a:xfrm rot="5400000">
              <a:off x="3088041" y="3354852"/>
              <a:ext cx="1407011" cy="1887242"/>
            </a:xfrm>
            <a:prstGeom prst="homePlate">
              <a:avLst>
                <a:gd name="adj" fmla="val 26127"/>
              </a:avLst>
            </a:prstGeom>
            <a:solidFill>
              <a:srgbClr val="039AC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1" name="Pentagon 131"/>
            <p:cNvSpPr/>
            <p:nvPr/>
          </p:nvSpPr>
          <p:spPr>
            <a:xfrm rot="5400000">
              <a:off x="5391063"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2" name="Pentagon 131"/>
            <p:cNvSpPr/>
            <p:nvPr/>
          </p:nvSpPr>
          <p:spPr>
            <a:xfrm rot="5400000">
              <a:off x="10011734"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3" name="Pentagon 131"/>
            <p:cNvSpPr/>
            <p:nvPr/>
          </p:nvSpPr>
          <p:spPr>
            <a:xfrm rot="5400000">
              <a:off x="778925" y="3354853"/>
              <a:ext cx="1407010" cy="1887242"/>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4" name="Rectangle 73"/>
            <p:cNvSpPr/>
            <p:nvPr/>
          </p:nvSpPr>
          <p:spPr>
            <a:xfrm>
              <a:off x="538814" y="2553964"/>
              <a:ext cx="1887244"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5" name="koppt-文本框"/>
            <p:cNvSpPr/>
            <p:nvPr/>
          </p:nvSpPr>
          <p:spPr>
            <a:xfrm>
              <a:off x="603703" y="2638567"/>
              <a:ext cx="1757466" cy="2095574"/>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秩</a:t>
              </a:r>
              <a:r>
                <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r=8</a:t>
              </a:r>
              <a:endPar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1200"/>
                </a:spcBef>
                <a:spcAft>
                  <a:spcPts val="0"/>
                </a:spcAft>
                <a:buClrTx/>
                <a:buSzTx/>
                <a:buFontTx/>
                <a:buNone/>
                <a:defRPr/>
              </a:pP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这个参数控制了    </a:t>
              </a:r>
              <a:r>
                <a:rPr kumimoji="0" lang="en-US" altLang="zh-CN" sz="1600" b="0" i="0" u="none" strike="noStrike" kern="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rPr>
                <a:t>LoRA</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适配器的秩，决定微调时引入的参数数量</a:t>
              </a:r>
              <a:endParaRPr lang="zh-CN" altLang="en-US" sz="1600" kern="0" dirty="0">
                <a:solidFill>
                  <a:srgbClr val="FFFFFF"/>
                </a:solidFill>
                <a:latin typeface="微软雅黑" panose="020B0503020204020204" pitchFamily="34" charset="-122"/>
                <a:ea typeface="微软雅黑" panose="020B0503020204020204" pitchFamily="34" charset="-122"/>
              </a:endParaRPr>
            </a:p>
          </p:txBody>
        </p:sp>
        <p:sp>
          <p:nvSpPr>
            <p:cNvPr id="46" name="Rectangle 68"/>
            <p:cNvSpPr/>
            <p:nvPr/>
          </p:nvSpPr>
          <p:spPr>
            <a:xfrm>
              <a:off x="2845596"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7" name="koppt-文本框"/>
            <p:cNvSpPr/>
            <p:nvPr/>
          </p:nvSpPr>
          <p:spPr>
            <a:xfrm>
              <a:off x="2910484" y="2638567"/>
              <a:ext cx="1757466" cy="218376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缩放因子</a:t>
              </a: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𝜶</a:t>
              </a:r>
              <a:r>
                <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=16</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1200"/>
                </a:spcBef>
                <a:spcAft>
                  <a:spcPts val="0"/>
                </a:spcAft>
                <a:buClrTx/>
                <a:buSzTx/>
                <a:buFontTx/>
                <a:buNone/>
                <a:defRPr/>
              </a:pPr>
              <a:r>
                <a:rPr kumimoji="0" lang="en-US" altLang="zh-CN" sz="1600" b="0" i="0" u="none" strike="noStrike" kern="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rPr>
                <a:t>LoRA</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缩放因子，影响</a:t>
              </a:r>
              <a:r>
                <a:rPr kumimoji="0" lang="en-US" altLang="zh-CN" sz="1600" b="0" i="0" u="none" strike="noStrike" kern="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rPr>
                <a:t>LoRA</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适配器的缩放程度</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8" name="Rectangle 106"/>
            <p:cNvSpPr/>
            <p:nvPr/>
          </p:nvSpPr>
          <p:spPr>
            <a:xfrm>
              <a:off x="5152378"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9" name="koppt-文本框"/>
            <p:cNvSpPr/>
            <p:nvPr/>
          </p:nvSpPr>
          <p:spPr>
            <a:xfrm>
              <a:off x="5217265" y="2638567"/>
              <a:ext cx="1757466" cy="3774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50" name="Rectangle 119"/>
            <p:cNvSpPr/>
            <p:nvPr/>
          </p:nvSpPr>
          <p:spPr>
            <a:xfrm>
              <a:off x="7459160" y="2553964"/>
              <a:ext cx="1887243"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1" name="koppt-文本框"/>
                <p:cNvSpPr/>
                <p:nvPr/>
              </p:nvSpPr>
              <p:spPr>
                <a:xfrm>
                  <a:off x="7524049" y="2638567"/>
                  <a:ext cx="1757466" cy="2150110"/>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kern="0" dirty="0">
                      <a:solidFill>
                        <a:srgbClr val="FFFFFF"/>
                      </a:solidFill>
                      <a:latin typeface="微软雅黑" panose="020B0503020204020204" pitchFamily="34" charset="-122"/>
                      <a:ea typeface="微软雅黑" panose="020B0503020204020204" pitchFamily="34" charset="-122"/>
                      <a:sym typeface="+mn-ea"/>
                    </a:rPr>
                    <a:t>学习率</a:t>
                  </a:r>
                  <a:r>
                    <a:rPr lang="en-US" altLang="zh-CN" b="1" kern="0" dirty="0" err="1">
                      <a:solidFill>
                        <a:srgbClr val="FFFFFF"/>
                      </a:solidFill>
                      <a:latin typeface="微软雅黑" panose="020B0503020204020204" pitchFamily="34" charset="-122"/>
                      <a:ea typeface="微软雅黑" panose="020B0503020204020204" pitchFamily="34" charset="-122"/>
                    </a:rPr>
                    <a:t>lr</a:t>
                  </a:r>
                  <a:r>
                    <a:rPr lang="en-US" altLang="zh-CN" b="1" kern="0" dirty="0">
                      <a:solidFill>
                        <a:srgbClr val="FFFFFF"/>
                      </a:solidFill>
                      <a:latin typeface="微软雅黑" panose="020B0503020204020204" pitchFamily="34" charset="-122"/>
                      <a:ea typeface="微软雅黑" panose="020B0503020204020204" pitchFamily="34" charset="-122"/>
                    </a:rPr>
                    <a:t>=0.1</a:t>
                  </a:r>
                  <a:endParaRPr lang="en-US" altLang="zh-CN" b="1" kern="0" dirty="0">
                    <a:solidFill>
                      <a:srgbClr val="FFFFFF"/>
                    </a:solidFill>
                    <a:latin typeface="微软雅黑" panose="020B0503020204020204" pitchFamily="34" charset="-122"/>
                    <a:ea typeface="微软雅黑" panose="020B0503020204020204" pitchFamily="34" charset="-122"/>
                  </a:endParaRPr>
                </a:p>
                <a:p>
                  <a:pPr lvl="0" algn="ctr">
                    <a:lnSpc>
                      <a:spcPct val="150000"/>
                    </a:lnSpc>
                    <a:spcBef>
                      <a:spcPts val="1200"/>
                    </a:spcBef>
                  </a:pPr>
                  <a:r>
                    <a:rPr lang="zh-CN" altLang="en-US" sz="1600" kern="0" dirty="0">
                      <a:solidFill>
                        <a:srgbClr val="FFFFFF"/>
                      </a:solidFill>
                      <a:latin typeface="微软雅黑" panose="020B0503020204020204" pitchFamily="34" charset="-122"/>
                      <a:ea typeface="微软雅黑" panose="020B0503020204020204" pitchFamily="34" charset="-122"/>
                    </a:rPr>
                    <a:t>学习率影响着模型收敛的速率与效果，设置为</a:t>
                  </a:r>
                  <a14:m>
                    <m:oMath xmlns:m="http://schemas.openxmlformats.org/officeDocument/2006/math">
                      <m:r>
                        <a:rPr lang="en-US" altLang="zh-CN" sz="1600" kern="0">
                          <a:solidFill>
                            <a:srgbClr val="FFFFFF"/>
                          </a:solidFill>
                          <a:latin typeface="Cambria Math" panose="02040503050406030204" pitchFamily="18" charset="0"/>
                          <a:ea typeface="微软雅黑" panose="020B0503020204020204" pitchFamily="34" charset="-122"/>
                        </a:rPr>
                        <m:t>1</m:t>
                      </m:r>
                      <m:r>
                        <a:rPr lang="en-US" altLang="zh-CN" sz="1600" kern="0">
                          <a:solidFill>
                            <a:srgbClr val="FFFFFF"/>
                          </a:solidFill>
                          <a:latin typeface="Cambria Math" panose="02040503050406030204" pitchFamily="18" charset="0"/>
                          <a:ea typeface="微软雅黑" panose="020B0503020204020204" pitchFamily="34" charset="-122"/>
                        </a:rPr>
                        <m:t>×</m:t>
                      </m:r>
                      <m:sSup>
                        <m:sSupPr>
                          <m:ctrlPr>
                            <a:rPr lang="zh-CN" altLang="zh-CN" sz="1600" i="1" kern="0">
                              <a:solidFill>
                                <a:srgbClr val="FFFFFF"/>
                              </a:solidFill>
                              <a:latin typeface="Cambria Math" panose="02040503050406030204" pitchFamily="18" charset="0"/>
                              <a:ea typeface="微软雅黑" panose="020B0503020204020204" pitchFamily="34" charset="-122"/>
                            </a:rPr>
                          </m:ctrlPr>
                        </m:sSupPr>
                        <m:e>
                          <m:r>
                            <a:rPr lang="en-US" altLang="zh-CN" sz="1600" kern="0">
                              <a:solidFill>
                                <a:srgbClr val="FFFFFF"/>
                              </a:solidFill>
                              <a:latin typeface="Cambria Math" panose="02040503050406030204" pitchFamily="18" charset="0"/>
                              <a:ea typeface="微软雅黑" panose="020B0503020204020204" pitchFamily="34" charset="-122"/>
                            </a:rPr>
                            <m:t>10</m:t>
                          </m:r>
                        </m:e>
                        <m:sup>
                          <m:r>
                            <a:rPr lang="en-US" altLang="zh-CN" sz="1600" kern="0">
                              <a:solidFill>
                                <a:srgbClr val="FFFFFF"/>
                              </a:solidFill>
                              <a:latin typeface="Cambria Math" panose="02040503050406030204" pitchFamily="18" charset="0"/>
                              <a:ea typeface="微软雅黑" panose="020B0503020204020204" pitchFamily="34" charset="-122"/>
                            </a:rPr>
                            <m:t>−</m:t>
                          </m:r>
                          <m:r>
                            <a:rPr lang="en-US" altLang="zh-CN" sz="1600" kern="0">
                              <a:solidFill>
                                <a:srgbClr val="FFFFFF"/>
                              </a:solidFill>
                              <a:latin typeface="Cambria Math" panose="02040503050406030204" pitchFamily="18" charset="0"/>
                              <a:ea typeface="微软雅黑" panose="020B0503020204020204" pitchFamily="34" charset="-122"/>
                            </a:rPr>
                            <m:t>4</m:t>
                          </m:r>
                        </m:sup>
                      </m:sSup>
                    </m:oMath>
                  </a14:m>
                  <a:endParaRPr lang="zh-CN" altLang="en-US" sz="1600" kern="0" dirty="0">
                    <a:solidFill>
                      <a:srgbClr val="FFFFFF"/>
                    </a:solidFill>
                    <a:latin typeface="微软雅黑" panose="020B0503020204020204" pitchFamily="34" charset="-122"/>
                    <a:ea typeface="微软雅黑" panose="020B0503020204020204" pitchFamily="34" charset="-122"/>
                  </a:endParaRPr>
                </a:p>
              </p:txBody>
            </p:sp>
          </mc:Choice>
          <mc:Fallback>
            <p:sp>
              <p:nvSpPr>
                <p:cNvPr id="51" name="koppt-文本框"/>
                <p:cNvSpPr>
                  <a:spLocks noRot="1" noChangeAspect="1" noMove="1" noResize="1" noEditPoints="1" noAdjustHandles="1" noChangeArrowheads="1" noChangeShapeType="1" noTextEdit="1"/>
                </p:cNvSpPr>
                <p:nvPr/>
              </p:nvSpPr>
              <p:spPr>
                <a:xfrm>
                  <a:off x="7524049" y="2638567"/>
                  <a:ext cx="1757466" cy="2150110"/>
                </a:xfrm>
                <a:prstGeom prst="rect">
                  <a:avLst/>
                </a:prstGeom>
                <a:blipFill rotWithShape="1">
                  <a:blip r:embed="rId1"/>
                </a:blipFill>
              </p:spPr>
              <p:txBody>
                <a:bodyPr/>
                <a:lstStyle/>
                <a:p>
                  <a:r>
                    <a:rPr lang="zh-CN" altLang="en-US">
                      <a:noFill/>
                    </a:rPr>
                    <a:t> </a:t>
                  </a:r>
                </a:p>
              </p:txBody>
            </p:sp>
          </mc:Fallback>
        </mc:AlternateContent>
        <p:sp>
          <p:nvSpPr>
            <p:cNvPr id="52" name="Pentagon 131"/>
            <p:cNvSpPr/>
            <p:nvPr/>
          </p:nvSpPr>
          <p:spPr>
            <a:xfrm rot="5400000">
              <a:off x="9930788" y="3417534"/>
              <a:ext cx="1554693" cy="1908000"/>
            </a:xfrm>
            <a:prstGeom prst="homePlate">
              <a:avLst>
                <a:gd name="adj" fmla="val 26127"/>
              </a:avLst>
            </a:prstGeom>
            <a:solidFill>
              <a:srgbClr val="005EA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3" name="Rectangle 132"/>
            <p:cNvSpPr/>
            <p:nvPr/>
          </p:nvSpPr>
          <p:spPr>
            <a:xfrm>
              <a:off x="9765943" y="2553964"/>
              <a:ext cx="1887244" cy="1080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8" name="koppt-文本框"/>
            <p:cNvSpPr/>
            <p:nvPr/>
          </p:nvSpPr>
          <p:spPr>
            <a:xfrm>
              <a:off x="9810165" y="2638567"/>
              <a:ext cx="1757466" cy="1726242"/>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无偏置</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algn="ctr">
                <a:lnSpc>
                  <a:spcPct val="150000"/>
                </a:lnSpc>
                <a:spcBef>
                  <a:spcPts val="1200"/>
                </a:spcBef>
              </a:pPr>
              <a:r>
                <a:rPr lang="zh-CN" altLang="en-US" sz="1600" kern="0" dirty="0">
                  <a:solidFill>
                    <a:srgbClr val="FFFFFF"/>
                  </a:solidFill>
                  <a:latin typeface="微软雅黑" panose="020B0503020204020204" pitchFamily="34" charset="-122"/>
                  <a:ea typeface="微软雅黑" panose="020B0503020204020204" pitchFamily="34" charset="-122"/>
                </a:rPr>
                <a:t>在微调过程中，为方便通常不引入偏置</a:t>
              </a:r>
              <a:endParaRPr lang="zh-CN" altLang="en-US" sz="1600" kern="0" dirty="0">
                <a:solidFill>
                  <a:srgbClr val="FFFFFF"/>
                </a:solidFill>
                <a:latin typeface="微软雅黑" panose="020B0503020204020204" pitchFamily="34" charset="-122"/>
                <a:ea typeface="微软雅黑" panose="020B0503020204020204" pitchFamily="34" charset="-122"/>
              </a:endParaRPr>
            </a:p>
          </p:txBody>
        </p:sp>
      </p:grpSp>
      <p:sp>
        <p:nvSpPr>
          <p:cNvPr id="61" name="矩形 60"/>
          <p:cNvSpPr/>
          <p:nvPr/>
        </p:nvSpPr>
        <p:spPr>
          <a:xfrm>
            <a:off x="1152000" y="288000"/>
            <a:ext cx="2492990"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超参数实验</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59" name="koppt-文本框"/>
          <p:cNvSpPr/>
          <p:nvPr/>
        </p:nvSpPr>
        <p:spPr>
          <a:xfrm>
            <a:off x="5251340" y="3041709"/>
            <a:ext cx="1757466" cy="1356910"/>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b="1" kern="0" dirty="0">
                <a:solidFill>
                  <a:srgbClr val="FFFFFF"/>
                </a:solidFill>
                <a:latin typeface="微软雅黑" panose="020B0503020204020204" pitchFamily="34" charset="-122"/>
                <a:ea typeface="微软雅黑" panose="020B0503020204020204" pitchFamily="34" charset="-122"/>
              </a:rPr>
              <a:t>d</a:t>
            </a:r>
            <a:r>
              <a:rPr kumimoji="0" lang="en-US" altLang="zh-CN" sz="1800" b="1" i="0" u="none" strike="noStrike" kern="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rPr>
              <a:t>ropout</a:t>
            </a:r>
            <a:r>
              <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=0.3</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1200"/>
              </a:spcBef>
              <a:spcAft>
                <a:spcPts val="0"/>
              </a:spcAft>
              <a:buClrTx/>
              <a:buSzTx/>
              <a:buFontTx/>
              <a:buNone/>
              <a:defRPr/>
            </a:pP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避免过拟合，</a:t>
            </a:r>
            <a:r>
              <a:rPr lang="zh-CN" altLang="en-US" sz="1600" kern="0" dirty="0">
                <a:solidFill>
                  <a:srgbClr val="FFFFFF"/>
                </a:solidFill>
                <a:latin typeface="微软雅黑" panose="020B0503020204020204" pitchFamily="34" charset="-122"/>
                <a:ea typeface="微软雅黑" panose="020B0503020204020204" pitchFamily="34" charset="-122"/>
              </a:rPr>
              <a:t>经过实验</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设置成</a:t>
            </a: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advTm="6161"/>
    </mc:Choice>
    <mc:Fallback>
      <p:transition advTm="61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2000" y="288000"/>
            <a:ext cx="3257623"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0" lang="en-US" altLang="zh-CN" sz="3600" b="1" i="0" u="none" strike="noStrike" kern="0" cap="none" spc="0" normalizeH="0" baseline="0" noProof="0" dirty="0" err="1">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LoRA</a:t>
            </a: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改进微调</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7772774" y="1263509"/>
            <a:ext cx="3950007" cy="5077460"/>
          </a:xfrm>
          <a:prstGeom prst="rect">
            <a:avLst/>
          </a:prstGeom>
          <a:noFill/>
        </p:spPr>
        <p:txBody>
          <a:bodyPr wrap="square" rtlCol="0">
            <a:spAutoFit/>
          </a:bodyPr>
          <a:lstStyle/>
          <a:p>
            <a:r>
              <a:rPr lang="en-US" altLang="zh-CN" dirty="0"/>
              <a:t>      </a:t>
            </a:r>
            <a:r>
              <a:rPr lang="zh-CN" altLang="en-US" dirty="0"/>
              <a:t>之后，我们</a:t>
            </a:r>
            <a:r>
              <a:rPr lang="zh-CN" altLang="en-US" b="1" dirty="0">
                <a:solidFill>
                  <a:schemeClr val="accent1">
                    <a:lumMod val="75000"/>
                  </a:schemeClr>
                </a:solidFill>
              </a:rPr>
              <a:t>改用</a:t>
            </a:r>
            <a:r>
              <a:rPr lang="en-US" altLang="zh-CN" b="1" dirty="0">
                <a:solidFill>
                  <a:schemeClr val="accent1">
                    <a:lumMod val="75000"/>
                  </a:schemeClr>
                </a:solidFill>
              </a:rPr>
              <a:t>Deepseek-R1-Distill-Qwen-7B</a:t>
            </a:r>
            <a:r>
              <a:rPr lang="zh-CN" altLang="en-US" b="1" dirty="0">
                <a:solidFill>
                  <a:schemeClr val="accent1">
                    <a:lumMod val="75000"/>
                  </a:schemeClr>
                </a:solidFill>
              </a:rPr>
              <a:t>模型对中文金融新闻数据进行训练</a:t>
            </a:r>
            <a:r>
              <a:rPr lang="zh-CN" altLang="en-US" dirty="0"/>
              <a:t>，我们发现在同样加入</a:t>
            </a:r>
            <a:r>
              <a:rPr lang="en-US" altLang="zh-CN" dirty="0" err="1"/>
              <a:t>LoRA</a:t>
            </a:r>
            <a:r>
              <a:rPr lang="zh-CN" altLang="en-US" dirty="0"/>
              <a:t>模块的情况下，相比</a:t>
            </a:r>
            <a:r>
              <a:rPr lang="en-US" altLang="zh-CN" dirty="0"/>
              <a:t>ChatGLM2-6B</a:t>
            </a:r>
            <a:r>
              <a:rPr lang="zh-CN" altLang="en-US" dirty="0"/>
              <a:t>训练的模型，</a:t>
            </a:r>
            <a:r>
              <a:rPr lang="en-US" altLang="zh-CN" dirty="0"/>
              <a:t>Deepseek-R1-Distill-Qwen-7B</a:t>
            </a:r>
            <a:r>
              <a:rPr lang="zh-CN" altLang="en-US" dirty="0"/>
              <a:t>模型训练出来的模型 </a:t>
            </a:r>
            <a:r>
              <a:rPr lang="en-US" altLang="zh-CN" b="1" dirty="0">
                <a:solidFill>
                  <a:schemeClr val="accent1">
                    <a:lumMod val="75000"/>
                  </a:schemeClr>
                </a:solidFill>
              </a:rPr>
              <a:t>Acc</a:t>
            </a:r>
            <a:r>
              <a:rPr lang="zh-CN" altLang="en-US" b="1" dirty="0">
                <a:solidFill>
                  <a:schemeClr val="accent1">
                    <a:lumMod val="75000"/>
                  </a:schemeClr>
                </a:solidFill>
              </a:rPr>
              <a:t>和</a:t>
            </a:r>
            <a:r>
              <a:rPr lang="en-US" altLang="zh-CN" b="1" dirty="0">
                <a:solidFill>
                  <a:schemeClr val="accent1">
                    <a:lumMod val="75000"/>
                  </a:schemeClr>
                </a:solidFill>
              </a:rPr>
              <a:t>F1</a:t>
            </a:r>
            <a:r>
              <a:rPr lang="zh-CN" altLang="en-US" b="1" dirty="0">
                <a:solidFill>
                  <a:schemeClr val="accent1">
                    <a:lumMod val="75000"/>
                  </a:schemeClr>
                </a:solidFill>
              </a:rPr>
              <a:t>参数提升了</a:t>
            </a:r>
            <a:r>
              <a:rPr lang="en-US" altLang="zh-CN" b="1" dirty="0">
                <a:solidFill>
                  <a:schemeClr val="accent1">
                    <a:lumMod val="75000"/>
                  </a:schemeClr>
                </a:solidFill>
              </a:rPr>
              <a:t>1</a:t>
            </a:r>
            <a:r>
              <a:rPr lang="zh-CN" altLang="en-US" b="1" dirty="0">
                <a:solidFill>
                  <a:schemeClr val="accent1">
                    <a:lumMod val="75000"/>
                  </a:schemeClr>
                </a:solidFill>
              </a:rPr>
              <a:t>个百分点以上</a:t>
            </a:r>
            <a:r>
              <a:rPr lang="zh-CN" altLang="en-US" dirty="0"/>
              <a:t>，</a:t>
            </a:r>
            <a:r>
              <a:rPr lang="zh-CN" altLang="en-US" b="1" dirty="0">
                <a:solidFill>
                  <a:schemeClr val="accent1">
                    <a:lumMod val="75000"/>
                  </a:schemeClr>
                </a:solidFill>
              </a:rPr>
              <a:t>分类性能显著提升。</a:t>
            </a:r>
            <a:endParaRPr lang="en-US" altLang="zh-CN" b="1" dirty="0">
              <a:solidFill>
                <a:schemeClr val="accent1">
                  <a:lumMod val="75000"/>
                </a:schemeClr>
              </a:solidFill>
            </a:endParaRPr>
          </a:p>
          <a:p>
            <a:endParaRPr lang="en-US" altLang="zh-CN" b="1" dirty="0">
              <a:solidFill>
                <a:schemeClr val="accent1">
                  <a:lumMod val="75000"/>
                </a:schemeClr>
              </a:solidFill>
            </a:endParaRPr>
          </a:p>
          <a:p>
            <a:r>
              <a:rPr lang="zh-CN" altLang="en-US" dirty="0">
                <a:solidFill>
                  <a:schemeClr val="tx1">
                    <a:lumMod val="95000"/>
                    <a:lumOff val="5000"/>
                  </a:schemeClr>
                </a:solidFill>
              </a:rPr>
              <a:t>       分析原因是因为相比</a:t>
            </a:r>
            <a:r>
              <a:rPr lang="en-US" altLang="zh-CN" dirty="0">
                <a:solidFill>
                  <a:schemeClr val="tx1">
                    <a:lumMod val="95000"/>
                    <a:lumOff val="5000"/>
                  </a:schemeClr>
                </a:solidFill>
              </a:rPr>
              <a:t>ChatGLM2-6B, </a:t>
            </a:r>
            <a:r>
              <a:rPr lang="zh-CN" altLang="en-US" b="1" dirty="0">
                <a:solidFill>
                  <a:srgbClr val="00539E"/>
                </a:solidFill>
              </a:rPr>
              <a:t>Deepseek-R1-Distill-Qwen-7B</a:t>
            </a:r>
            <a:r>
              <a:rPr lang="zh-CN" altLang="en-US" b="1" dirty="0">
                <a:solidFill>
                  <a:srgbClr val="00539E"/>
                </a:solidFill>
              </a:rPr>
              <a:t>模型使用了子词切分技术</a:t>
            </a:r>
            <a:r>
              <a:rPr lang="zh-CN" altLang="en-US" dirty="0">
                <a:solidFill>
                  <a:schemeClr val="tx1">
                    <a:lumMod val="95000"/>
                    <a:lumOff val="5000"/>
                  </a:schemeClr>
                </a:solidFill>
              </a:rPr>
              <a:t>，</a:t>
            </a:r>
            <a:r>
              <a:rPr lang="zh-CN" altLang="en-US" b="1" dirty="0">
                <a:solidFill>
                  <a:srgbClr val="00539E"/>
                </a:solidFill>
              </a:rPr>
              <a:t>能够对金融领域的术语能够有效提取</a:t>
            </a:r>
            <a:r>
              <a:rPr lang="zh-CN" altLang="en-US" dirty="0">
                <a:solidFill>
                  <a:schemeClr val="tx1">
                    <a:lumMod val="95000"/>
                    <a:lumOff val="5000"/>
                  </a:schemeClr>
                </a:solidFill>
              </a:rPr>
              <a:t>，从而提升对金融新闻的判断的性能。同时</a:t>
            </a:r>
            <a:r>
              <a:rPr lang="zh-CN" altLang="en-US" b="1" dirty="0">
                <a:solidFill>
                  <a:srgbClr val="00539E"/>
                </a:solidFill>
              </a:rPr>
              <a:t>混合专家架构</a:t>
            </a:r>
            <a:r>
              <a:rPr lang="en-US" altLang="zh-CN" b="1" dirty="0">
                <a:solidFill>
                  <a:srgbClr val="00539E"/>
                </a:solidFill>
              </a:rPr>
              <a:t>(</a:t>
            </a:r>
            <a:r>
              <a:rPr lang="en-US" altLang="zh-CN" b="1" dirty="0" err="1">
                <a:solidFill>
                  <a:srgbClr val="00539E"/>
                </a:solidFill>
              </a:rPr>
              <a:t>MoE</a:t>
            </a:r>
            <a:r>
              <a:rPr lang="zh-CN" altLang="en-US" b="1" dirty="0">
                <a:solidFill>
                  <a:srgbClr val="00539E"/>
                </a:solidFill>
              </a:rPr>
              <a:t>模块）</a:t>
            </a:r>
            <a:r>
              <a:rPr lang="en-US" altLang="zh-CN" b="1" dirty="0" err="1">
                <a:solidFill>
                  <a:srgbClr val="00539E"/>
                </a:solidFill>
              </a:rPr>
              <a:t>可以快速</a:t>
            </a:r>
            <a:r>
              <a:rPr lang="zh-CN" altLang="en-US" b="1" dirty="0" err="1">
                <a:solidFill>
                  <a:srgbClr val="00539E"/>
                </a:solidFill>
              </a:rPr>
              <a:t>提升</a:t>
            </a:r>
            <a:r>
              <a:rPr lang="en-US" altLang="zh-CN" b="1" dirty="0" err="1">
                <a:solidFill>
                  <a:srgbClr val="00539E"/>
                </a:solidFill>
              </a:rPr>
              <a:t>不同领域的适应能力</a:t>
            </a:r>
            <a:r>
              <a:rPr lang="zh-CN" altLang="en-US" dirty="0">
                <a:solidFill>
                  <a:schemeClr val="tx1">
                    <a:lumMod val="95000"/>
                    <a:lumOff val="5000"/>
                  </a:schemeClr>
                </a:solidFill>
              </a:rPr>
              <a:t>，能</a:t>
            </a:r>
            <a:r>
              <a:rPr lang="en-US" altLang="zh-CN" b="1" dirty="0" err="1">
                <a:solidFill>
                  <a:srgbClr val="00539E"/>
                </a:solidFill>
              </a:rPr>
              <a:t>够快速适应金融领域的训练</a:t>
            </a:r>
            <a:r>
              <a:rPr lang="zh-CN" altLang="en-US" dirty="0">
                <a:solidFill>
                  <a:schemeClr val="tx1">
                    <a:lumMod val="95000"/>
                    <a:lumOff val="5000"/>
                  </a:schemeClr>
                </a:solidFill>
              </a:rPr>
              <a:t>，</a:t>
            </a:r>
            <a:r>
              <a:rPr lang="en-US" altLang="zh-CN" b="1" dirty="0" err="1">
                <a:solidFill>
                  <a:srgbClr val="00539E"/>
                </a:solidFill>
              </a:rPr>
              <a:t>提升模型在金融领域的分类性能</a:t>
            </a:r>
            <a:endParaRPr lang="en-US" altLang="zh-CN" b="1" dirty="0" err="1">
              <a:solidFill>
                <a:srgbClr val="00539E"/>
              </a:solidFill>
            </a:endParaRPr>
          </a:p>
        </p:txBody>
      </p:sp>
      <p:pic>
        <p:nvPicPr>
          <p:cNvPr id="13" name="图片 12"/>
          <p:cNvPicPr>
            <a:picLocks noChangeAspect="1"/>
          </p:cNvPicPr>
          <p:nvPr/>
        </p:nvPicPr>
        <p:blipFill>
          <a:blip r:embed="rId1"/>
          <a:stretch>
            <a:fillRect/>
          </a:stretch>
        </p:blipFill>
        <p:spPr>
          <a:xfrm>
            <a:off x="40988" y="1444146"/>
            <a:ext cx="7731786" cy="2322199"/>
          </a:xfrm>
          <a:prstGeom prst="rect">
            <a:avLst/>
          </a:prstGeom>
        </p:spPr>
      </p:pic>
      <p:pic>
        <p:nvPicPr>
          <p:cNvPr id="16" name="图片 15"/>
          <p:cNvPicPr>
            <a:picLocks noChangeAspect="1"/>
          </p:cNvPicPr>
          <p:nvPr/>
        </p:nvPicPr>
        <p:blipFill>
          <a:blip r:embed="rId2"/>
          <a:stretch>
            <a:fillRect/>
          </a:stretch>
        </p:blipFill>
        <p:spPr>
          <a:xfrm>
            <a:off x="-43124" y="4182425"/>
            <a:ext cx="7731789" cy="2322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67363" y="1450655"/>
            <a:ext cx="7731789" cy="2322200"/>
          </a:xfrm>
          <a:prstGeom prst="rect">
            <a:avLst/>
          </a:prstGeom>
        </p:spPr>
      </p:pic>
      <p:sp>
        <p:nvSpPr>
          <p:cNvPr id="6" name="文本框 5"/>
          <p:cNvSpPr txBox="1"/>
          <p:nvPr/>
        </p:nvSpPr>
        <p:spPr>
          <a:xfrm>
            <a:off x="8074630" y="1649196"/>
            <a:ext cx="3950007" cy="4523105"/>
          </a:xfrm>
          <a:prstGeom prst="rect">
            <a:avLst/>
          </a:prstGeom>
          <a:noFill/>
        </p:spPr>
        <p:txBody>
          <a:bodyPr wrap="square" rtlCol="0">
            <a:spAutoFit/>
          </a:bodyPr>
          <a:lstStyle/>
          <a:p>
            <a:r>
              <a:rPr lang="zh-CN" altLang="en-US" dirty="0"/>
              <a:t>       之后，我们对</a:t>
            </a:r>
            <a:r>
              <a:rPr lang="en-US" altLang="zh-CN" dirty="0"/>
              <a:t>Deepseek-R1-Distill-Qwen-7B</a:t>
            </a:r>
            <a:r>
              <a:rPr lang="zh-CN" altLang="en-US" dirty="0"/>
              <a:t>模型中的</a:t>
            </a:r>
            <a:r>
              <a:rPr lang="en-US" altLang="zh-CN" dirty="0" err="1"/>
              <a:t>LoRA</a:t>
            </a:r>
            <a:r>
              <a:rPr lang="zh-CN" altLang="en-US" dirty="0"/>
              <a:t>模块进行改进</a:t>
            </a:r>
            <a:r>
              <a:rPr lang="zh-CN" altLang="en-US" b="1" dirty="0">
                <a:solidFill>
                  <a:schemeClr val="accent1">
                    <a:lumMod val="75000"/>
                  </a:schemeClr>
                </a:solidFill>
              </a:rPr>
              <a:t>，使用刚刚提到的秩适应策略</a:t>
            </a:r>
            <a:r>
              <a:rPr lang="zh-CN" altLang="en-US" dirty="0"/>
              <a:t>中的AdaLoRA模块</a:t>
            </a:r>
            <a:r>
              <a:rPr lang="zh-CN" altLang="en-US" b="1" dirty="0">
                <a:solidFill>
                  <a:schemeClr val="accent1">
                    <a:lumMod val="75000"/>
                  </a:schemeClr>
                </a:solidFill>
              </a:rPr>
              <a:t>对中文金融新闻数据进行训练，</a:t>
            </a:r>
            <a:r>
              <a:rPr lang="zh-CN" altLang="en-US" dirty="0"/>
              <a:t>我们发现</a:t>
            </a:r>
            <a:r>
              <a:rPr lang="en-US" altLang="zh-CN" dirty="0" err="1"/>
              <a:t>AdaLoRA</a:t>
            </a:r>
            <a:r>
              <a:rPr lang="zh-CN" altLang="en-US" dirty="0"/>
              <a:t>的微调效果显著高于</a:t>
            </a:r>
            <a:r>
              <a:rPr lang="en-US" altLang="zh-CN" dirty="0" err="1"/>
              <a:t>LoR</a:t>
            </a:r>
            <a:r>
              <a:rPr lang="zh-CN" altLang="en-US" dirty="0"/>
              <a:t>微调的效果。</a:t>
            </a:r>
            <a:r>
              <a:rPr lang="en-US" altLang="zh-CN" dirty="0" err="1"/>
              <a:t>AdaLoRA</a:t>
            </a:r>
            <a:r>
              <a:rPr lang="zh-CN" altLang="en-US" dirty="0"/>
              <a:t>训练的模型 </a:t>
            </a:r>
            <a:r>
              <a:rPr lang="en-US" altLang="zh-CN" b="1" dirty="0">
                <a:solidFill>
                  <a:schemeClr val="accent1">
                    <a:lumMod val="75000"/>
                  </a:schemeClr>
                </a:solidFill>
              </a:rPr>
              <a:t>Acc</a:t>
            </a:r>
            <a:r>
              <a:rPr lang="zh-CN" altLang="en-US" b="1" dirty="0">
                <a:solidFill>
                  <a:schemeClr val="accent1">
                    <a:lumMod val="75000"/>
                  </a:schemeClr>
                </a:solidFill>
              </a:rPr>
              <a:t>和</a:t>
            </a:r>
            <a:r>
              <a:rPr lang="en-US" altLang="zh-CN" b="1" dirty="0">
                <a:solidFill>
                  <a:schemeClr val="accent1">
                    <a:lumMod val="75000"/>
                  </a:schemeClr>
                </a:solidFill>
              </a:rPr>
              <a:t>F1</a:t>
            </a:r>
            <a:r>
              <a:rPr lang="zh-CN" altLang="en-US" b="1" dirty="0">
                <a:solidFill>
                  <a:schemeClr val="accent1">
                    <a:lumMod val="75000"/>
                  </a:schemeClr>
                </a:solidFill>
              </a:rPr>
              <a:t>参数提升了</a:t>
            </a:r>
            <a:r>
              <a:rPr lang="en-US" altLang="zh-CN" b="1" dirty="0">
                <a:solidFill>
                  <a:schemeClr val="accent1">
                    <a:lumMod val="75000"/>
                  </a:schemeClr>
                </a:solidFill>
              </a:rPr>
              <a:t>1</a:t>
            </a:r>
            <a:r>
              <a:rPr lang="zh-CN" altLang="en-US" b="1" dirty="0">
                <a:solidFill>
                  <a:schemeClr val="accent1">
                    <a:lumMod val="75000"/>
                  </a:schemeClr>
                </a:solidFill>
              </a:rPr>
              <a:t>个百分点以上</a:t>
            </a:r>
            <a:r>
              <a:rPr lang="zh-CN" altLang="en-US" dirty="0"/>
              <a:t>，</a:t>
            </a:r>
            <a:r>
              <a:rPr lang="zh-CN" altLang="en-US" b="1" dirty="0">
                <a:solidFill>
                  <a:schemeClr val="accent1">
                    <a:lumMod val="75000"/>
                  </a:schemeClr>
                </a:solidFill>
              </a:rPr>
              <a:t>分类性能显著提升。</a:t>
            </a:r>
            <a:endParaRPr lang="en-US" altLang="zh-CN" b="1" dirty="0">
              <a:solidFill>
                <a:schemeClr val="accent1">
                  <a:lumMod val="75000"/>
                </a:schemeClr>
              </a:solidFill>
            </a:endParaRPr>
          </a:p>
          <a:p>
            <a:endParaRPr lang="en-US" altLang="zh-CN" b="1" dirty="0">
              <a:solidFill>
                <a:schemeClr val="accent1">
                  <a:lumMod val="75000"/>
                </a:schemeClr>
              </a:solidFill>
            </a:endParaRPr>
          </a:p>
          <a:p>
            <a:r>
              <a:rPr lang="zh-CN" altLang="en-US" dirty="0"/>
              <a:t>       分析原因是</a:t>
            </a:r>
            <a:r>
              <a:rPr lang="en-US" altLang="zh-CN" dirty="0" err="1"/>
              <a:t>AdaLoRA</a:t>
            </a:r>
            <a:r>
              <a:rPr lang="zh-CN" altLang="en-US" dirty="0"/>
              <a:t>对自注意力机制层中矩阵、前馈神经网络中的中间矩阵等，</a:t>
            </a:r>
            <a:r>
              <a:rPr lang="zh-CN" altLang="en-US" b="1" dirty="0">
                <a:solidFill>
                  <a:srgbClr val="00539E"/>
                </a:solidFill>
              </a:rPr>
              <a:t>原因是秩适应策略动</a:t>
            </a:r>
            <a:r>
              <a:rPr lang="zh-CN" altLang="en-US" b="1" dirty="0">
                <a:solidFill>
                  <a:schemeClr val="accent1">
                    <a:lumMod val="50000"/>
                  </a:schemeClr>
                </a:solidFill>
              </a:rPr>
              <a:t>态</a:t>
            </a:r>
            <a:r>
              <a:rPr lang="zh-CN" altLang="en-US" b="1" dirty="0">
                <a:solidFill>
                  <a:srgbClr val="00539E"/>
                </a:solidFill>
              </a:rPr>
              <a:t>分配秩的大小</a:t>
            </a:r>
            <a:r>
              <a:rPr lang="zh-CN" altLang="en-US" dirty="0"/>
              <a:t>，让在训练中特征比较明显的矩阵分配更高的秩，从而</a:t>
            </a:r>
            <a:r>
              <a:rPr lang="zh-CN" altLang="en-US" b="1" dirty="0">
                <a:solidFill>
                  <a:srgbClr val="00539E"/>
                </a:solidFill>
              </a:rPr>
              <a:t>提升这些矩阵的训练精度</a:t>
            </a:r>
            <a:r>
              <a:rPr lang="zh-CN" altLang="en-US" dirty="0"/>
              <a:t>，</a:t>
            </a:r>
            <a:r>
              <a:rPr lang="zh-CN" altLang="en-US" b="1" dirty="0">
                <a:solidFill>
                  <a:srgbClr val="00539E"/>
                </a:solidFill>
              </a:rPr>
              <a:t>提升分类性能</a:t>
            </a:r>
            <a:endParaRPr lang="zh-CN" altLang="en-US" b="1" dirty="0">
              <a:solidFill>
                <a:srgbClr val="00539E"/>
              </a:solidFill>
            </a:endParaRPr>
          </a:p>
        </p:txBody>
      </p:sp>
      <p:pic>
        <p:nvPicPr>
          <p:cNvPr id="9" name="图片 8"/>
          <p:cNvPicPr>
            <a:picLocks noChangeAspect="1"/>
          </p:cNvPicPr>
          <p:nvPr/>
        </p:nvPicPr>
        <p:blipFill>
          <a:blip r:embed="rId2"/>
          <a:stretch>
            <a:fillRect/>
          </a:stretch>
        </p:blipFill>
        <p:spPr>
          <a:xfrm>
            <a:off x="67693" y="4126230"/>
            <a:ext cx="7831459" cy="2148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2000" y="288000"/>
            <a:ext cx="3054041"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增添</a:t>
            </a:r>
            <a:r>
              <a:rPr kumimoji="0" lang="en-US" altLang="zh-CN"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RAG</a:t>
            </a:r>
            <a:r>
              <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模块</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10183978" y="192307"/>
            <a:ext cx="1433726" cy="338554"/>
          </a:xfrm>
          <a:prstGeom prst="rect">
            <a:avLst/>
          </a:prstGeom>
          <a:noFill/>
        </p:spPr>
        <p:txBody>
          <a:bodyPr wrap="none" rtlCol="0">
            <a:spAutoFit/>
          </a:bodyPr>
          <a:lstStyle/>
          <a:p>
            <a:r>
              <a:rPr lang="zh-CN" altLang="en-US" sz="1600" dirty="0">
                <a:solidFill>
                  <a:srgbClr val="000000"/>
                </a:solidFill>
                <a:latin typeface="微软雅黑" panose="020B0503020204020204" pitchFamily="34" charset="-122"/>
                <a:ea typeface="微软雅黑" panose="020B0503020204020204" pitchFamily="34" charset="-122"/>
                <a:cs typeface="+mn-ea"/>
              </a:rPr>
              <a:t>应用</a:t>
            </a:r>
            <a:r>
              <a:rPr lang="en-US" altLang="zh-CN" sz="1600" dirty="0">
                <a:solidFill>
                  <a:srgbClr val="000000"/>
                </a:solidFill>
                <a:latin typeface="微软雅黑" panose="020B0503020204020204" pitchFamily="34" charset="-122"/>
                <a:ea typeface="微软雅黑" panose="020B0503020204020204" pitchFamily="34" charset="-122"/>
                <a:cs typeface="+mn-ea"/>
              </a:rPr>
              <a:t>RAG</a:t>
            </a:r>
            <a:r>
              <a:rPr lang="zh-CN" altLang="en-US" sz="1600" dirty="0">
                <a:solidFill>
                  <a:srgbClr val="000000"/>
                </a:solidFill>
                <a:latin typeface="微软雅黑" panose="020B0503020204020204" pitchFamily="34" charset="-122"/>
                <a:ea typeface="微软雅黑" panose="020B0503020204020204" pitchFamily="34" charset="-122"/>
                <a:cs typeface="+mn-ea"/>
              </a:rPr>
              <a:t>结果</a:t>
            </a:r>
            <a:endParaRPr lang="zh-CN" altLang="en-US" sz="1600" dirty="0">
              <a:solidFill>
                <a:srgbClr val="000000"/>
              </a:solidFill>
              <a:latin typeface="微软雅黑" panose="020B0503020204020204" pitchFamily="34" charset="-122"/>
              <a:ea typeface="微软雅黑" panose="020B0503020204020204" pitchFamily="34" charset="-122"/>
              <a:cs typeface="+mn-ea"/>
            </a:endParaRPr>
          </a:p>
        </p:txBody>
      </p:sp>
      <p:sp>
        <p:nvSpPr>
          <p:cNvPr id="18" name="文本框 17"/>
          <p:cNvSpPr txBox="1"/>
          <p:nvPr/>
        </p:nvSpPr>
        <p:spPr>
          <a:xfrm>
            <a:off x="462128" y="3834657"/>
            <a:ext cx="3372678" cy="2183765"/>
          </a:xfrm>
          <a:prstGeom prst="rect">
            <a:avLst/>
          </a:prstGeom>
          <a:noFill/>
        </p:spPr>
        <p:txBody>
          <a:bodyPr wrap="square" rtlCol="0">
            <a:spAutoFit/>
          </a:bodyPr>
          <a:lstStyle/>
          <a:p>
            <a:endParaRPr lang="en-US" altLang="zh-CN" sz="2000" dirty="0">
              <a:solidFill>
                <a:srgbClr val="000000"/>
              </a:solidFill>
              <a:latin typeface="微软雅黑" panose="020B0503020204020204" pitchFamily="34" charset="-122"/>
              <a:ea typeface="微软雅黑" panose="020B0503020204020204" pitchFamily="34" charset="-122"/>
              <a:cs typeface="+mn-ea"/>
            </a:endParaRPr>
          </a:p>
          <a:p>
            <a:endParaRPr lang="en-US" altLang="zh-CN" sz="2000" dirty="0">
              <a:solidFill>
                <a:srgbClr val="000000"/>
              </a:solidFill>
              <a:latin typeface="微软雅黑" panose="020B0503020204020204" pitchFamily="34" charset="-122"/>
              <a:ea typeface="微软雅黑" panose="020B0503020204020204" pitchFamily="34" charset="-122"/>
              <a:cs typeface="+mn-ea"/>
            </a:endParaRPr>
          </a:p>
          <a:p>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训练数据集：</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mn-ea"/>
              </a:rPr>
              <a:t>Twitter Financial News</a:t>
            </a:r>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数据集</a:t>
            </a:r>
            <a:endPar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endParaRPr>
          </a:p>
          <a:p>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测试数据集：</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mn-ea"/>
              </a:rPr>
              <a:t>FPB</a:t>
            </a:r>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数据集</a:t>
            </a:r>
            <a:endPar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endParaRPr>
          </a:p>
          <a:p>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mn-ea"/>
              </a:rPr>
              <a:t>FiQA</a:t>
            </a:r>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数据集、</a:t>
            </a:r>
            <a:r>
              <a:rPr lang="en-US" altLang="zh-CN" sz="2000" dirty="0">
                <a:solidFill>
                  <a:schemeClr val="bg1">
                    <a:lumMod val="50000"/>
                  </a:schemeClr>
                </a:solidFill>
                <a:latin typeface="微软雅黑" panose="020B0503020204020204" pitchFamily="34" charset="-122"/>
                <a:ea typeface="微软雅黑" panose="020B0503020204020204" pitchFamily="34" charset="-122"/>
                <a:cs typeface="+mn-ea"/>
              </a:rPr>
              <a:t>NWGI</a:t>
            </a:r>
            <a:r>
              <a:rPr lang="zh-CN" altLang="en-US" sz="2000" dirty="0">
                <a:solidFill>
                  <a:schemeClr val="bg1">
                    <a:lumMod val="50000"/>
                  </a:schemeClr>
                </a:solidFill>
                <a:latin typeface="微软雅黑" panose="020B0503020204020204" pitchFamily="34" charset="-122"/>
                <a:ea typeface="微软雅黑" panose="020B0503020204020204" pitchFamily="34" charset="-122"/>
                <a:cs typeface="+mn-ea"/>
              </a:rPr>
              <a:t>数据集</a:t>
            </a:r>
            <a:endParaRPr lang="en-US" altLang="zh-CN" sz="2000" dirty="0">
              <a:solidFill>
                <a:schemeClr val="bg1">
                  <a:lumMod val="50000"/>
                </a:schemeClr>
              </a:solidFill>
              <a:latin typeface="微软雅黑" panose="020B0503020204020204" pitchFamily="34" charset="-122"/>
              <a:ea typeface="微软雅黑" panose="020B0503020204020204" pitchFamily="34" charset="-122"/>
              <a:cs typeface="+mn-ea"/>
            </a:endParaRPr>
          </a:p>
          <a:p>
            <a:endParaRPr lang="zh-CN" altLang="en-US" sz="1600" dirty="0">
              <a:solidFill>
                <a:srgbClr val="000000"/>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4563718" y="809782"/>
            <a:ext cx="6844485" cy="2445385"/>
          </a:xfrm>
          <a:prstGeom prst="rect">
            <a:avLst/>
          </a:prstGeom>
          <a:noFill/>
        </p:spPr>
        <p:txBody>
          <a:bodyPr wrap="square" rtlCol="0">
            <a:spAutoFit/>
          </a:bodyPr>
          <a:lstStyle/>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mn-ea"/>
              </a:rPr>
              <a:t>     实验结果表明，使用</a:t>
            </a:r>
            <a:r>
              <a:rPr lang="en-US" altLang="zh-CN" dirty="0">
                <a:solidFill>
                  <a:srgbClr val="000000"/>
                </a:solidFill>
                <a:latin typeface="微软雅黑" panose="020B0503020204020204" pitchFamily="34" charset="-122"/>
                <a:ea typeface="微软雅黑" panose="020B0503020204020204" pitchFamily="34" charset="-122"/>
                <a:cs typeface="+mn-ea"/>
              </a:rPr>
              <a:t>RAG</a:t>
            </a:r>
            <a:r>
              <a:rPr lang="zh-CN" altLang="en-US" dirty="0">
                <a:solidFill>
                  <a:srgbClr val="000000"/>
                </a:solidFill>
                <a:latin typeface="微软雅黑" panose="020B0503020204020204" pitchFamily="34" charset="-122"/>
                <a:ea typeface="微软雅黑" panose="020B0503020204020204" pitchFamily="34" charset="-122"/>
                <a:cs typeface="+mn-ea"/>
              </a:rPr>
              <a:t>（</a:t>
            </a:r>
            <a:r>
              <a:rPr lang="en-US" altLang="zh-CN" dirty="0">
                <a:solidFill>
                  <a:srgbClr val="000000"/>
                </a:solidFill>
                <a:latin typeface="微软雅黑" panose="020B0503020204020204" pitchFamily="34" charset="-122"/>
                <a:ea typeface="微软雅黑" panose="020B0503020204020204" pitchFamily="34" charset="-122"/>
                <a:cs typeface="+mn-ea"/>
              </a:rPr>
              <a:t>Retrieval-Augmented Generation</a:t>
            </a:r>
            <a:r>
              <a:rPr lang="zh-CN" altLang="en-US" dirty="0">
                <a:solidFill>
                  <a:srgbClr val="000000"/>
                </a:solidFill>
                <a:latin typeface="微软雅黑" panose="020B0503020204020204" pitchFamily="34" charset="-122"/>
                <a:ea typeface="微软雅黑" panose="020B0503020204020204" pitchFamily="34" charset="-122"/>
                <a:cs typeface="+mn-ea"/>
              </a:rPr>
              <a:t>）模块，</a:t>
            </a:r>
            <a:r>
              <a:rPr lang="en-US" altLang="zh-CN" dirty="0" err="1">
                <a:solidFill>
                  <a:srgbClr val="000000"/>
                </a:solidFill>
                <a:latin typeface="微软雅黑" panose="020B0503020204020204" pitchFamily="34" charset="-122"/>
                <a:ea typeface="微软雅黑" panose="020B0503020204020204" pitchFamily="34" charset="-122"/>
                <a:cs typeface="+mn-ea"/>
              </a:rPr>
              <a:t>LoRA</a:t>
            </a:r>
            <a:r>
              <a:rPr lang="zh-CN" altLang="en-US" dirty="0">
                <a:solidFill>
                  <a:srgbClr val="000000"/>
                </a:solidFill>
                <a:latin typeface="微软雅黑" panose="020B0503020204020204" pitchFamily="34" charset="-122"/>
                <a:ea typeface="微软雅黑" panose="020B0503020204020204" pitchFamily="34" charset="-122"/>
                <a:cs typeface="+mn-ea"/>
              </a:rPr>
              <a:t>微调后</a:t>
            </a:r>
            <a:r>
              <a:rPr lang="en-US" altLang="zh-CN" dirty="0">
                <a:solidFill>
                  <a:srgbClr val="000000"/>
                </a:solidFill>
                <a:latin typeface="微软雅黑" panose="020B0503020204020204" pitchFamily="34" charset="-122"/>
                <a:ea typeface="微软雅黑" panose="020B0503020204020204" pitchFamily="34" charset="-122"/>
                <a:cs typeface="+mn-ea"/>
              </a:rPr>
              <a:t>Deepseek-R1-Distill-Qwen-7B</a:t>
            </a:r>
            <a:r>
              <a:rPr lang="zh-CN" altLang="en-US" dirty="0">
                <a:solidFill>
                  <a:srgbClr val="000000"/>
                </a:solidFill>
                <a:latin typeface="微软雅黑" panose="020B0503020204020204" pitchFamily="34" charset="-122"/>
                <a:ea typeface="微软雅黑" panose="020B0503020204020204" pitchFamily="34" charset="-122"/>
                <a:cs typeface="+mn-ea"/>
              </a:rPr>
              <a:t>模型分类准确率和</a:t>
            </a:r>
            <a:r>
              <a:rPr lang="en-US" altLang="zh-CN" dirty="0" err="1">
                <a:solidFill>
                  <a:srgbClr val="000000"/>
                </a:solidFill>
                <a:latin typeface="微软雅黑" panose="020B0503020204020204" pitchFamily="34" charset="-122"/>
                <a:ea typeface="微软雅黑" panose="020B0503020204020204" pitchFamily="34" charset="-122"/>
                <a:cs typeface="+mn-ea"/>
              </a:rPr>
              <a:t>F1</a:t>
            </a:r>
            <a:r>
              <a:rPr lang="zh-CN" altLang="en-US" dirty="0">
                <a:solidFill>
                  <a:srgbClr val="000000"/>
                </a:solidFill>
                <a:latin typeface="微软雅黑" panose="020B0503020204020204" pitchFamily="34" charset="-122"/>
                <a:ea typeface="微软雅黑" panose="020B0503020204020204" pitchFamily="34" charset="-122"/>
                <a:cs typeface="+mn-ea"/>
              </a:rPr>
              <a:t>参数均显著上升。说明</a:t>
            </a:r>
            <a:r>
              <a:rPr lang="zh-CN" altLang="en-US" b="1" dirty="0">
                <a:solidFill>
                  <a:srgbClr val="00539E"/>
                </a:solidFill>
                <a:latin typeface="微软雅黑" panose="020B0503020204020204" pitchFamily="34" charset="-122"/>
                <a:ea typeface="微软雅黑" panose="020B0503020204020204" pitchFamily="34" charset="-122"/>
                <a:cs typeface="+mn-ea"/>
              </a:rPr>
              <a:t>使用</a:t>
            </a:r>
            <a:r>
              <a:rPr lang="en-US" altLang="zh-CN" b="1" dirty="0">
                <a:solidFill>
                  <a:srgbClr val="00539E"/>
                </a:solidFill>
                <a:latin typeface="微软雅黑" panose="020B0503020204020204" pitchFamily="34" charset="-122"/>
                <a:ea typeface="微软雅黑" panose="020B0503020204020204" pitchFamily="34" charset="-122"/>
                <a:cs typeface="+mn-ea"/>
              </a:rPr>
              <a:t>RAG</a:t>
            </a:r>
            <a:r>
              <a:rPr lang="zh-CN" altLang="en-US" b="1" dirty="0">
                <a:solidFill>
                  <a:srgbClr val="00539E"/>
                </a:solidFill>
                <a:latin typeface="微软雅黑" panose="020B0503020204020204" pitchFamily="34" charset="-122"/>
                <a:ea typeface="微软雅黑" panose="020B0503020204020204" pitchFamily="34" charset="-122"/>
                <a:cs typeface="+mn-ea"/>
              </a:rPr>
              <a:t>后模型对金融情感的分类能力很好，通过引入和新闻匹配的上下文，显著提高大语言模型的金融</a:t>
            </a:r>
            <a:r>
              <a:rPr lang="zh-CN" altLang="en-US" b="1" dirty="0">
                <a:solidFill>
                  <a:srgbClr val="00539E"/>
                </a:solidFill>
                <a:latin typeface="微软雅黑" panose="020B0503020204020204" pitchFamily="34" charset="-122"/>
                <a:ea typeface="微软雅黑" panose="020B0503020204020204" pitchFamily="34" charset="-122"/>
                <a:cs typeface="+mn-ea"/>
              </a:rPr>
              <a:t>新闻情感分类能力。</a:t>
            </a:r>
            <a:endParaRPr lang="zh-CN" altLang="en-US" b="1" dirty="0">
              <a:solidFill>
                <a:srgbClr val="00539E"/>
              </a:solidFill>
              <a:latin typeface="微软雅黑" panose="020B0503020204020204" pitchFamily="34" charset="-122"/>
              <a:ea typeface="微软雅黑" panose="020B0503020204020204" pitchFamily="34" charset="-122"/>
              <a:cs typeface="+mn-ea"/>
            </a:endParaRPr>
          </a:p>
          <a:p>
            <a:endParaRPr lang="zh-CN" altLang="en-US" dirty="0"/>
          </a:p>
        </p:txBody>
      </p:sp>
      <p:sp>
        <p:nvSpPr>
          <p:cNvPr id="7" name="文本框 6"/>
          <p:cNvSpPr txBox="1"/>
          <p:nvPr/>
        </p:nvSpPr>
        <p:spPr>
          <a:xfrm>
            <a:off x="349266" y="1277057"/>
            <a:ext cx="3485809" cy="2214880"/>
          </a:xfrm>
          <a:prstGeom prst="rect">
            <a:avLst/>
          </a:prstGeom>
          <a:noFill/>
          <a:ln w="19050">
            <a:solidFill>
              <a:schemeClr val="tx1"/>
            </a:solidFill>
            <a:prstDash val="lgDash"/>
          </a:ln>
        </p:spPr>
        <p:txBody>
          <a:bodyPr wrap="square" rtlCol="0">
            <a:spAutoFit/>
          </a:bodyPr>
          <a:lstStyle/>
          <a:p>
            <a:pPr>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cs typeface="+mn-ea"/>
              </a:rPr>
              <a:t>与前面工作并行，在已有数据集上应用了RAG</a:t>
            </a:r>
            <a:r>
              <a:rPr lang="zh-CN" altLang="en-US" sz="2000" dirty="0">
                <a:solidFill>
                  <a:srgbClr val="000000"/>
                </a:solidFill>
                <a:latin typeface="微软雅黑" panose="020B0503020204020204" pitchFamily="34" charset="-122"/>
                <a:ea typeface="微软雅黑" panose="020B0503020204020204" pitchFamily="34" charset="-122"/>
                <a:cs typeface="+mn-ea"/>
              </a:rPr>
              <a:t>模块并进行性能评估。以备之后直接用于新数据微调后的模型。</a:t>
            </a:r>
            <a:endParaRPr lang="en-US" altLang="zh-CN" sz="2000" dirty="0">
              <a:solidFill>
                <a:srgbClr val="000000"/>
              </a:solidFill>
              <a:latin typeface="微软雅黑" panose="020B0503020204020204" pitchFamily="34" charset="-122"/>
              <a:ea typeface="微软雅黑" panose="020B0503020204020204" pitchFamily="34" charset="-122"/>
              <a:cs typeface="+mn-ea"/>
            </a:endParaRPr>
          </a:p>
          <a:p>
            <a:endParaRPr lang="zh-CN" altLang="en-US" dirty="0"/>
          </a:p>
        </p:txBody>
      </p:sp>
      <p:pic>
        <p:nvPicPr>
          <p:cNvPr id="5" name="图片 4"/>
          <p:cNvPicPr>
            <a:picLocks noChangeAspect="1"/>
          </p:cNvPicPr>
          <p:nvPr/>
        </p:nvPicPr>
        <p:blipFill>
          <a:blip r:embed="rId1"/>
          <a:stretch>
            <a:fillRect/>
          </a:stretch>
        </p:blipFill>
        <p:spPr>
          <a:xfrm>
            <a:off x="4317288" y="4879904"/>
            <a:ext cx="7506884" cy="1875716"/>
          </a:xfrm>
          <a:prstGeom prst="rect">
            <a:avLst/>
          </a:prstGeom>
        </p:spPr>
      </p:pic>
      <p:pic>
        <p:nvPicPr>
          <p:cNvPr id="10" name="图片 9"/>
          <p:cNvPicPr>
            <a:picLocks noChangeAspect="1"/>
          </p:cNvPicPr>
          <p:nvPr/>
        </p:nvPicPr>
        <p:blipFill>
          <a:blip r:embed="rId2"/>
          <a:stretch>
            <a:fillRect/>
          </a:stretch>
        </p:blipFill>
        <p:spPr>
          <a:xfrm>
            <a:off x="4317288" y="3059568"/>
            <a:ext cx="7525446" cy="18803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2000" y="288000"/>
            <a:ext cx="2440092"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网页</a:t>
            </a:r>
            <a:r>
              <a:rPr lang="en-US" altLang="zh-CN" sz="3600" b="1" kern="0" dirty="0">
                <a:solidFill>
                  <a:prstClr val="black">
                    <a:lumMod val="95000"/>
                    <a:lumOff val="5000"/>
                  </a:prstClr>
                </a:solidFill>
                <a:latin typeface="微软雅黑" panose="020B0503020204020204" pitchFamily="34" charset="-122"/>
                <a:ea typeface="微软雅黑" panose="020B0503020204020204" pitchFamily="34" charset="-122"/>
              </a:rPr>
              <a:t>demo</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2903220" y="833120"/>
            <a:ext cx="8112760" cy="645160"/>
          </a:xfrm>
          <a:prstGeom prst="rect">
            <a:avLst/>
          </a:prstGeom>
          <a:noFill/>
        </p:spPr>
        <p:txBody>
          <a:bodyPr wrap="square">
            <a:spAutoFit/>
          </a:bodyPr>
          <a:lstStyle>
            <a:defPPr>
              <a:defRPr lang="zh-CN"/>
            </a:defPPr>
            <a:lvl1pPr>
              <a:defRPr>
                <a:solidFill>
                  <a:srgbClr val="000000"/>
                </a:solidFill>
                <a:latin typeface="微软雅黑" panose="020B0503020204020204" pitchFamily="34" charset="-122"/>
                <a:ea typeface="微软雅黑" panose="020B0503020204020204" pitchFamily="34" charset="-122"/>
                <a:cs typeface="+mn-ea"/>
              </a:defRPr>
            </a:lvl1pPr>
          </a:lstStyle>
          <a:p>
            <a:r>
              <a:rPr lang="zh-CN" altLang="en-US" b="1">
                <a:solidFill>
                  <a:srgbClr val="0070C0"/>
                </a:solidFill>
                <a:latin typeface="Arial" panose="020B0604020202020204" pitchFamily="34" charset="0"/>
              </a:rPr>
              <a:t>之后我们还把</a:t>
            </a:r>
            <a:r>
              <a:rPr lang="zh-CN" altLang="en-US" b="1">
                <a:solidFill>
                  <a:srgbClr val="0070C0"/>
                </a:solidFill>
                <a:latin typeface="Arial" panose="020B0604020202020204" pitchFamily="34" charset="0"/>
                <a:sym typeface="+mn-ea"/>
              </a:rPr>
              <a:t>大语言模型驱动的金融新闻情感分析系统</a:t>
            </a:r>
            <a:r>
              <a:rPr lang="zh-CN" altLang="en-US" b="1">
                <a:solidFill>
                  <a:srgbClr val="0070C0"/>
                </a:solidFill>
                <a:latin typeface="Arial" panose="020B0604020202020204" pitchFamily="34" charset="0"/>
              </a:rPr>
              <a:t>做成了网页，</a:t>
            </a:r>
            <a:r>
              <a:rPr lang="zh-CN" altLang="en-US">
                <a:solidFill>
                  <a:schemeClr val="tx1"/>
                </a:solidFill>
                <a:latin typeface="Arial" panose="020B0604020202020204" pitchFamily="34" charset="0"/>
              </a:rPr>
              <a:t>将金融新闻情感的分类进行了实用化</a:t>
            </a:r>
            <a:endParaRPr lang="zh-CN" altLang="en-US">
              <a:solidFill>
                <a:schemeClr val="tx1"/>
              </a:solidFill>
              <a:latin typeface="Arial" panose="020B0604020202020204" pitchFamily="34" charset="0"/>
            </a:endParaRPr>
          </a:p>
        </p:txBody>
      </p:sp>
      <p:pic>
        <p:nvPicPr>
          <p:cNvPr id="7" name="图片 6"/>
          <p:cNvPicPr>
            <a:picLocks noChangeAspect="1"/>
          </p:cNvPicPr>
          <p:nvPr/>
        </p:nvPicPr>
        <p:blipFill>
          <a:blip r:embed="rId1"/>
          <a:srcRect r="30280" b="17049"/>
          <a:stretch>
            <a:fillRect/>
          </a:stretch>
        </p:blipFill>
        <p:spPr>
          <a:xfrm>
            <a:off x="2594610" y="2020570"/>
            <a:ext cx="8421370" cy="48374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04</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54" name="矩形 53"/>
          <p:cNvSpPr/>
          <p:nvPr/>
        </p:nvSpPr>
        <p:spPr>
          <a:xfrm>
            <a:off x="5266000" y="3707215"/>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rPr>
              <a:t>创新特色</a:t>
            </a:r>
            <a:endPar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endParaRPr>
          </a:p>
        </p:txBody>
      </p:sp>
      <p:cxnSp>
        <p:nvCxnSpPr>
          <p:cNvPr id="56" name="直接箭头连接符 55"/>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266000" y="4864219"/>
            <a:ext cx="1905009" cy="400110"/>
          </a:xfrm>
          <a:prstGeom prst="rect">
            <a:avLst/>
          </a:prstGeom>
        </p:spPr>
        <p:txBody>
          <a:bodyPr wrap="none">
            <a:spAutoFit/>
          </a:bodyPr>
          <a:lstStyle/>
          <a:p>
            <a:pPr marL="179705" indent="-179705">
              <a:spcBef>
                <a:spcPct val="20000"/>
              </a:spcBef>
              <a:buFont typeface="Arial" panose="020B0604020202020204" pitchFamily="34" charset="0"/>
              <a:buChar cha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股价标注数据</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7" name="矩形 6"/>
          <p:cNvSpPr/>
          <p:nvPr/>
        </p:nvSpPr>
        <p:spPr>
          <a:xfrm>
            <a:off x="6419693" y="5581102"/>
            <a:ext cx="2034852" cy="400110"/>
          </a:xfrm>
          <a:prstGeom prst="rect">
            <a:avLst/>
          </a:prstGeom>
        </p:spPr>
        <p:txBody>
          <a:bodyPr wrap="none">
            <a:spAutoFit/>
          </a:bodyPr>
          <a:lstStyle/>
          <a:p>
            <a:pPr marL="179705" indent="-179705">
              <a:spcBef>
                <a:spcPct val="20000"/>
              </a:spcBef>
              <a:buFont typeface="Arial" panose="020B0604020202020204" pitchFamily="34" charset="0"/>
              <a:buChar char="•"/>
            </a:pPr>
            <a:r>
              <a:rPr lang="en-US" altLang="zh-CN" sz="2000" i="1" kern="0" dirty="0" err="1">
                <a:solidFill>
                  <a:prstClr val="black">
                    <a:lumMod val="95000"/>
                    <a:lumOff val="5000"/>
                  </a:prstClr>
                </a:solidFill>
                <a:latin typeface="微软雅黑" panose="020B0503020204020204" pitchFamily="34" charset="-122"/>
                <a:ea typeface="微软雅黑" panose="020B0503020204020204" pitchFamily="34" charset="-122"/>
              </a:rPr>
              <a:t>LoRA</a:t>
            </a: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应用改进</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9304394" y="5652736"/>
            <a:ext cx="1905009" cy="400110"/>
          </a:xfrm>
          <a:prstGeom prst="rect">
            <a:avLst/>
          </a:prstGeom>
        </p:spPr>
        <p:txBody>
          <a:bodyPr wrap="none">
            <a:spAutoFit/>
          </a:bodyPr>
          <a:lstStyle/>
          <a:p>
            <a:pPr marL="179705" lvl="0" indent="-179705">
              <a:spcBef>
                <a:spcPct val="20000"/>
              </a:spcBef>
              <a:buFont typeface="Arial" panose="020B0604020202020204" pitchFamily="34" charset="0"/>
              <a:buChar char="•"/>
              <a:defRP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低成本优性能</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
        <p:nvSpPr>
          <p:cNvPr id="9" name="矩形 8"/>
          <p:cNvSpPr/>
          <p:nvPr/>
        </p:nvSpPr>
        <p:spPr>
          <a:xfrm>
            <a:off x="8110584" y="4864219"/>
            <a:ext cx="1905009" cy="400110"/>
          </a:xfrm>
          <a:prstGeom prst="rect">
            <a:avLst/>
          </a:prstGeom>
        </p:spPr>
        <p:txBody>
          <a:bodyPr wrap="none">
            <a:spAutoFit/>
          </a:bodyPr>
          <a:lstStyle/>
          <a:p>
            <a:pPr marL="179705" lvl="0" indent="-179705">
              <a:spcBef>
                <a:spcPct val="20000"/>
              </a:spcBef>
              <a:buFont typeface="Arial" panose="020B0604020202020204" pitchFamily="34" charset="0"/>
              <a:buChar char="•"/>
              <a:defRPr/>
            </a:pPr>
            <a:r>
              <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rPr>
              <a:t>开源模型选择</a:t>
            </a:r>
            <a:endParaRPr lang="zh-CN" altLang="en-US" sz="2000" i="1" kern="0" dirty="0">
              <a:solidFill>
                <a:prstClr val="black">
                  <a:lumMod val="95000"/>
                  <a:lumOff val="5000"/>
                </a:prst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矩形: 圆角 366"/>
          <p:cNvSpPr/>
          <p:nvPr/>
        </p:nvSpPr>
        <p:spPr>
          <a:xfrm>
            <a:off x="30822" y="1443865"/>
            <a:ext cx="2922784" cy="551375"/>
          </a:xfrm>
          <a:prstGeom prst="roundRect">
            <a:avLst/>
          </a:prstGeom>
          <a:solidFill>
            <a:srgbClr val="0053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kern="100" dirty="0">
                <a:effectLst/>
                <a:ea typeface="Times New Roman" panose="02020603050405020304" pitchFamily="18" charset="0"/>
              </a:rPr>
              <a:t> </a:t>
            </a:r>
            <a:r>
              <a:rPr lang="zh-CN" altLang="zh-CN" kern="100" dirty="0">
                <a:effectLst/>
                <a:latin typeface="黑体" panose="02010609060101010101" pitchFamily="49" charset="-122"/>
                <a:ea typeface="黑体" panose="02010609060101010101" pitchFamily="49" charset="-122"/>
                <a:cs typeface="Times New Roman" panose="02020603050405020304" pitchFamily="18" charset="0"/>
              </a:rPr>
              <a:t>金融数据爬取</a:t>
            </a:r>
            <a:r>
              <a:rPr lang="zh-CN" altLang="en-US" kern="100" dirty="0">
                <a:effectLst/>
                <a:latin typeface="黑体" panose="02010609060101010101" pitchFamily="49" charset="-122"/>
                <a:ea typeface="黑体" panose="02010609060101010101" pitchFamily="49" charset="-122"/>
                <a:cs typeface="Times New Roman" panose="02020603050405020304" pitchFamily="18" charset="0"/>
              </a:rPr>
              <a:t>和标注</a:t>
            </a:r>
            <a:endParaRPr kumimoji="0" lang="zh-CN" altLang="en-US" sz="2000"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endParaRPr>
          </a:p>
        </p:txBody>
      </p:sp>
      <p:sp>
        <p:nvSpPr>
          <p:cNvPr id="368" name="矩形: 圆角 367"/>
          <p:cNvSpPr/>
          <p:nvPr/>
        </p:nvSpPr>
        <p:spPr>
          <a:xfrm>
            <a:off x="6122433" y="1425951"/>
            <a:ext cx="2695786" cy="5513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LoRA</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应用改进</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9" name="矩形: 圆角 368"/>
          <p:cNvSpPr/>
          <p:nvPr/>
        </p:nvSpPr>
        <p:spPr>
          <a:xfrm>
            <a:off x="3164753" y="1443865"/>
            <a:ext cx="2783835" cy="551375"/>
          </a:xfrm>
          <a:prstGeom prst="roundRect">
            <a:avLst/>
          </a:prstGeom>
          <a:solidFill>
            <a:srgbClr val="039A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Deepseek-R1-Distill-Qwen-7B</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363" name="直接连接符 362"/>
          <p:cNvCxnSpPr/>
          <p:nvPr/>
        </p:nvCxnSpPr>
        <p:spPr>
          <a:xfrm>
            <a:off x="6099810" y="2345411"/>
            <a:ext cx="0" cy="4265522"/>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5" name="直接连接符 364"/>
          <p:cNvCxnSpPr/>
          <p:nvPr/>
        </p:nvCxnSpPr>
        <p:spPr>
          <a:xfrm>
            <a:off x="3040528" y="1613485"/>
            <a:ext cx="0" cy="4265522"/>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0" name="直接连接符 929"/>
          <p:cNvCxnSpPr/>
          <p:nvPr/>
        </p:nvCxnSpPr>
        <p:spPr>
          <a:xfrm>
            <a:off x="8884762" y="1569595"/>
            <a:ext cx="0" cy="4265522"/>
          </a:xfrm>
          <a:prstGeom prst="line">
            <a:avLst/>
          </a:prstGeom>
          <a:ln w="19050">
            <a:solidFill>
              <a:schemeClr val="tx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31" name="矩形: 圆角 930"/>
          <p:cNvSpPr/>
          <p:nvPr/>
        </p:nvSpPr>
        <p:spPr>
          <a:xfrm>
            <a:off x="9049790" y="1425951"/>
            <a:ext cx="2695786" cy="551375"/>
          </a:xfrm>
          <a:prstGeom prst="roundRect">
            <a:avLst/>
          </a:prstGeom>
          <a:solidFill>
            <a:srgbClr val="0070C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低成本优性能</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135423" y="2082434"/>
            <a:ext cx="2616455" cy="4523105"/>
          </a:xfrm>
          <a:prstGeom prst="rect">
            <a:avLst/>
          </a:prstGeom>
        </p:spPr>
        <p:txBody>
          <a:bodyPr wrap="square">
            <a:spAutoFit/>
          </a:bodyPr>
          <a:lstStyle/>
          <a:p>
            <a:pPr indent="266700" algn="just">
              <a:lnSpc>
                <a:spcPct val="150000"/>
              </a:lnSpc>
            </a:pPr>
            <a:r>
              <a:rPr lang="zh-CN" altLang="zh-CN" sz="1600" kern="100" dirty="0">
                <a:effectLst/>
                <a:latin typeface="Times New Roman" panose="02020603050405020304" pitchFamily="18" charset="0"/>
                <a:ea typeface="宋体" panose="02010600030101010101" pitchFamily="2" charset="-122"/>
              </a:rPr>
              <a:t>原项目的重点放在英文金融数据集的获取以及对用英文数据预训练模型的微调，同时使用了昂贵的金融信息获取服务</a:t>
            </a:r>
            <a:r>
              <a:rPr lang="en-US" altLang="zh-CN" sz="1600" kern="100" dirty="0">
                <a:effectLst/>
                <a:latin typeface="Times New Roman" panose="02020603050405020304" pitchFamily="18" charset="0"/>
                <a:ea typeface="宋体" panose="02010600030101010101" pitchFamily="2" charset="-122"/>
              </a:rPr>
              <a:t>FMP</a:t>
            </a:r>
            <a:r>
              <a:rPr lang="zh-CN" altLang="zh-CN" sz="1600" kern="100" dirty="0">
                <a:effectLst/>
                <a:latin typeface="Times New Roman" panose="02020603050405020304" pitchFamily="18" charset="0"/>
                <a:ea typeface="宋体" panose="02010600030101010101" pitchFamily="2" charset="-122"/>
              </a:rPr>
              <a:t>。我们转而关注中文数据，在东方财富、新浪财经、金融界等多个网站爬取新闻</a:t>
            </a:r>
            <a:r>
              <a:rPr lang="en-US" altLang="zh-CN" sz="1600" kern="100" dirty="0">
                <a:effectLst/>
                <a:latin typeface="Times New Roman" panose="02020603050405020304" pitchFamily="18" charset="0"/>
                <a:ea typeface="宋体" panose="02010600030101010101" pitchFamily="2" charset="-122"/>
              </a:rPr>
              <a:t>5</a:t>
            </a:r>
            <a:r>
              <a:rPr lang="zh-CN" altLang="zh-CN" sz="1600" kern="100" dirty="0">
                <a:effectLst/>
                <a:latin typeface="Times New Roman" panose="02020603050405020304" pitchFamily="18" charset="0"/>
                <a:ea typeface="宋体" panose="02010600030101010101" pitchFamily="2" charset="-122"/>
              </a:rPr>
              <a:t>万条，获取了高质量的中文数据。同时我们采用的库都支持免费服务，这极大</a:t>
            </a:r>
            <a:r>
              <a:rPr lang="zh-CN" altLang="zh-CN" sz="1600" kern="100" dirty="0">
                <a:effectLst/>
                <a:latin typeface="Times New Roman" panose="02020603050405020304" pitchFamily="18" charset="0"/>
                <a:ea typeface="宋体" panose="02010600030101010101" pitchFamily="2" charset="-122"/>
              </a:rPr>
              <a:t>降低了项目的成本。</a:t>
            </a:r>
            <a:endParaRPr lang="zh-CN" altLang="zh-CN" sz="1600" kern="100" dirty="0">
              <a:effectLst/>
              <a:latin typeface="Times New Roman" panose="02020603050405020304" pitchFamily="18" charset="0"/>
              <a:ea typeface="宋体" panose="02010600030101010101" pitchFamily="2" charset="-122"/>
            </a:endParaRPr>
          </a:p>
        </p:txBody>
      </p:sp>
      <p:sp>
        <p:nvSpPr>
          <p:cNvPr id="16" name="矩形 15"/>
          <p:cNvSpPr/>
          <p:nvPr/>
        </p:nvSpPr>
        <p:spPr>
          <a:xfrm>
            <a:off x="3183325" y="2120970"/>
            <a:ext cx="2592266" cy="4154170"/>
          </a:xfrm>
          <a:prstGeom prst="rect">
            <a:avLst/>
          </a:prstGeom>
        </p:spPr>
        <p:txBody>
          <a:bodyPr wrap="square">
            <a:spAutoFit/>
          </a:bodyPr>
          <a:lstStyle/>
          <a:p>
            <a:pPr indent="266700" algn="just">
              <a:lnSpc>
                <a:spcPct val="150000"/>
              </a:lnSpc>
            </a:pPr>
            <a:r>
              <a:rPr lang="zh-CN" altLang="zh-CN" sz="1600" kern="100" dirty="0">
                <a:effectLst/>
                <a:latin typeface="Times New Roman" panose="02020603050405020304" pitchFamily="18" charset="0"/>
                <a:ea typeface="宋体" panose="02010600030101010101" pitchFamily="2" charset="-122"/>
              </a:rPr>
              <a:t>我们在已有实验数据的基础上</a:t>
            </a:r>
            <a:r>
              <a:rPr lang="zh-CN" altLang="zh-CN" sz="1600" b="1" kern="100" dirty="0">
                <a:solidFill>
                  <a:srgbClr val="00539E"/>
                </a:solidFill>
                <a:effectLst/>
                <a:latin typeface="Times New Roman" panose="02020603050405020304" pitchFamily="18" charset="0"/>
                <a:ea typeface="宋体" panose="02010600030101010101" pitchFamily="2" charset="-122"/>
              </a:rPr>
              <a:t>使用Deepseek-R1-Distill-Qwen-7B</a:t>
            </a:r>
            <a:r>
              <a:rPr lang="zh-CN" altLang="zh-CN" sz="1600" kern="100" dirty="0">
                <a:effectLst/>
                <a:latin typeface="Times New Roman" panose="02020603050405020304" pitchFamily="18" charset="0"/>
                <a:ea typeface="宋体" panose="02010600030101010101" pitchFamily="2" charset="-122"/>
              </a:rPr>
              <a:t>，</a:t>
            </a:r>
            <a:r>
              <a:rPr lang="zh-CN" altLang="zh-CN" sz="1600" b="1" kern="100" dirty="0">
                <a:solidFill>
                  <a:srgbClr val="00539E"/>
                </a:solidFill>
                <a:effectLst/>
                <a:latin typeface="Times New Roman" panose="02020603050405020304" pitchFamily="18" charset="0"/>
                <a:ea typeface="宋体" panose="02010600030101010101" pitchFamily="2" charset="-122"/>
              </a:rPr>
              <a:t>相比ChatGLM2-6B</a:t>
            </a:r>
            <a:r>
              <a:rPr lang="zh-CN" altLang="zh-CN" sz="1600" kern="100" dirty="0">
                <a:effectLst/>
                <a:latin typeface="Times New Roman" panose="02020603050405020304" pitchFamily="18" charset="0"/>
                <a:ea typeface="宋体" panose="02010600030101010101" pitchFamily="2" charset="-122"/>
              </a:rPr>
              <a:t>的模型在内存占用和参数开销上相差不大，但是不仅能够</a:t>
            </a:r>
            <a:r>
              <a:rPr lang="zh-CN" altLang="zh-CN" sz="1600" b="1" kern="100" dirty="0">
                <a:solidFill>
                  <a:srgbClr val="00539E"/>
                </a:solidFill>
                <a:effectLst/>
                <a:latin typeface="Times New Roman" panose="02020603050405020304" pitchFamily="18" charset="0"/>
                <a:ea typeface="宋体" panose="02010600030101010101" pitchFamily="2" charset="-122"/>
              </a:rPr>
              <a:t>有效提高微调后的模型性能</a:t>
            </a:r>
            <a:r>
              <a:rPr lang="zh-CN" altLang="zh-CN" sz="1600" kern="100" dirty="0">
                <a:effectLst/>
                <a:latin typeface="Times New Roman" panose="02020603050405020304" pitchFamily="18" charset="0"/>
                <a:ea typeface="宋体" panose="02010600030101010101" pitchFamily="2" charset="-122"/>
              </a:rPr>
              <a:t>，还能</a:t>
            </a:r>
            <a:r>
              <a:rPr lang="zh-CN" altLang="zh-CN" sz="1600" b="1" kern="100" dirty="0">
                <a:solidFill>
                  <a:srgbClr val="00539E"/>
                </a:solidFill>
                <a:effectLst/>
                <a:latin typeface="Times New Roman" panose="02020603050405020304" pitchFamily="18" charset="0"/>
                <a:ea typeface="宋体" panose="02010600030101010101" pitchFamily="2" charset="-122"/>
              </a:rPr>
              <a:t>极大</a:t>
            </a:r>
            <a:r>
              <a:rPr lang="zh-CN" altLang="en-US" sz="1600" b="1" kern="100" dirty="0">
                <a:solidFill>
                  <a:srgbClr val="00539E"/>
                </a:solidFill>
                <a:effectLst/>
                <a:latin typeface="Times New Roman" panose="02020603050405020304" pitchFamily="18" charset="0"/>
                <a:ea typeface="宋体" panose="02010600030101010101" pitchFamily="2" charset="-122"/>
              </a:rPr>
              <a:t>减小</a:t>
            </a:r>
            <a:r>
              <a:rPr lang="zh-CN" altLang="zh-CN" sz="1600" b="1" kern="100" dirty="0">
                <a:solidFill>
                  <a:srgbClr val="00539E"/>
                </a:solidFill>
                <a:effectLst/>
                <a:latin typeface="Times New Roman" panose="02020603050405020304" pitchFamily="18" charset="0"/>
                <a:ea typeface="宋体" panose="02010600030101010101" pitchFamily="2" charset="-122"/>
              </a:rPr>
              <a:t>模型的推理时间</a:t>
            </a:r>
            <a:r>
              <a:rPr lang="zh-CN" altLang="zh-CN" sz="1600" kern="100" dirty="0">
                <a:effectLst/>
                <a:latin typeface="Times New Roman" panose="02020603050405020304" pitchFamily="18" charset="0"/>
                <a:ea typeface="宋体" panose="02010600030101010101" pitchFamily="2" charset="-122"/>
              </a:rPr>
              <a:t>。在基准测试中，推理</a:t>
            </a:r>
            <a:r>
              <a:rPr lang="en-US" altLang="zh-CN" sz="1600" kern="100" dirty="0">
                <a:effectLst/>
                <a:latin typeface="Times New Roman" panose="02020603050405020304" pitchFamily="18" charset="0"/>
                <a:ea typeface="宋体" panose="02010600030101010101" pitchFamily="2" charset="-122"/>
              </a:rPr>
              <a:t>1</a:t>
            </a:r>
            <a:r>
              <a:rPr lang="zh-CN" altLang="zh-CN" sz="1600" kern="100" dirty="0">
                <a:effectLst/>
                <a:latin typeface="Times New Roman" panose="02020603050405020304" pitchFamily="18" charset="0"/>
                <a:ea typeface="宋体" panose="02010600030101010101" pitchFamily="2" charset="-122"/>
              </a:rPr>
              <a:t>万条数据的时间由</a:t>
            </a:r>
            <a:r>
              <a:rPr lang="en-US" altLang="zh-CN" sz="1600" kern="100" dirty="0">
                <a:effectLst/>
                <a:latin typeface="Times New Roman" panose="02020603050405020304" pitchFamily="18" charset="0"/>
                <a:ea typeface="宋体" panose="02010600030101010101" pitchFamily="2" charset="-122"/>
              </a:rPr>
              <a:t>30</a:t>
            </a:r>
            <a:r>
              <a:rPr lang="zh-CN" altLang="zh-CN" sz="1600" kern="100" dirty="0">
                <a:effectLst/>
                <a:latin typeface="Times New Roman" panose="02020603050405020304" pitchFamily="18" charset="0"/>
                <a:ea typeface="宋体" panose="02010600030101010101" pitchFamily="2" charset="-122"/>
              </a:rPr>
              <a:t>分钟降低到</a:t>
            </a:r>
            <a:r>
              <a:rPr lang="en-US" altLang="zh-CN" sz="1600" kern="100" dirty="0">
                <a:effectLst/>
                <a:latin typeface="Times New Roman" panose="02020603050405020304" pitchFamily="18" charset="0"/>
                <a:ea typeface="宋体" panose="02010600030101010101" pitchFamily="2" charset="-122"/>
              </a:rPr>
              <a:t>10</a:t>
            </a:r>
            <a:r>
              <a:rPr lang="zh-CN" altLang="zh-CN" sz="1600" kern="100" dirty="0">
                <a:effectLst/>
                <a:latin typeface="Times New Roman" panose="02020603050405020304" pitchFamily="18" charset="0"/>
                <a:ea typeface="宋体" panose="02010600030101010101" pitchFamily="2" charset="-122"/>
              </a:rPr>
              <a:t>分钟。</a:t>
            </a:r>
            <a:endParaRPr lang="zh-CN" altLang="zh-CN" sz="1600" kern="100" dirty="0">
              <a:effectLst/>
              <a:latin typeface="Times New Roman" panose="02020603050405020304" pitchFamily="18" charset="0"/>
              <a:ea typeface="宋体" panose="02010600030101010101" pitchFamily="2" charset="-122"/>
            </a:endParaRPr>
          </a:p>
        </p:txBody>
      </p:sp>
      <p:sp>
        <p:nvSpPr>
          <p:cNvPr id="17" name="矩形 16"/>
          <p:cNvSpPr/>
          <p:nvPr/>
        </p:nvSpPr>
        <p:spPr>
          <a:xfrm>
            <a:off x="6273656" y="1977326"/>
            <a:ext cx="2592266" cy="4892675"/>
          </a:xfrm>
          <a:prstGeom prst="rect">
            <a:avLst/>
          </a:prstGeom>
        </p:spPr>
        <p:txBody>
          <a:bodyPr wrap="square">
            <a:spAutoFit/>
          </a:bodyPr>
          <a:lstStyle/>
          <a:p>
            <a:pPr indent="266700" algn="just">
              <a:lnSpc>
                <a:spcPct val="150000"/>
              </a:lnSpc>
            </a:pPr>
            <a:r>
              <a:rPr lang="zh-CN" altLang="zh-CN" sz="1600" kern="100" dirty="0">
                <a:effectLst/>
                <a:latin typeface="Times New Roman" panose="02020603050405020304" pitchFamily="18" charset="0"/>
                <a:ea typeface="宋体" panose="02010600030101010101" pitchFamily="2" charset="-122"/>
              </a:rPr>
              <a:t>从参数效率增强和秩适应等角度应用了前沿的</a:t>
            </a:r>
            <a:r>
              <a:rPr lang="en-US" altLang="zh-CN" sz="1600" kern="100" dirty="0" err="1">
                <a:effectLst/>
                <a:latin typeface="Times New Roman" panose="02020603050405020304" pitchFamily="18" charset="0"/>
                <a:ea typeface="宋体" panose="02010600030101010101" pitchFamily="2" charset="-122"/>
              </a:rPr>
              <a:t>LoRA</a:t>
            </a:r>
            <a:r>
              <a:rPr lang="zh-CN" altLang="zh-CN" sz="1600" kern="100" dirty="0">
                <a:effectLst/>
                <a:latin typeface="Times New Roman" panose="02020603050405020304" pitchFamily="18" charset="0"/>
                <a:ea typeface="宋体" panose="02010600030101010101" pitchFamily="2" charset="-122"/>
              </a:rPr>
              <a:t>方法，在更新矩阵的分解方法上选择了</a:t>
            </a:r>
            <a:r>
              <a:rPr lang="en-US" altLang="zh-CN" sz="1600" kern="100" dirty="0">
                <a:effectLst/>
                <a:latin typeface="Times New Roman" panose="02020603050405020304" pitchFamily="18" charset="0"/>
                <a:ea typeface="宋体" panose="02010600030101010101" pitchFamily="2" charset="-122"/>
              </a:rPr>
              <a:t>SVD</a:t>
            </a:r>
            <a:r>
              <a:rPr lang="zh-CN" altLang="zh-CN" sz="1600" kern="100" dirty="0">
                <a:effectLst/>
                <a:latin typeface="Times New Roman" panose="02020603050405020304" pitchFamily="18" charset="0"/>
                <a:ea typeface="宋体" panose="02010600030101010101" pitchFamily="2" charset="-122"/>
              </a:rPr>
              <a:t>的形式，</a:t>
            </a:r>
            <a:r>
              <a:rPr lang="zh-CN" altLang="zh-CN" sz="1600" b="1" kern="100" dirty="0">
                <a:solidFill>
                  <a:srgbClr val="00539E"/>
                </a:solidFill>
                <a:effectLst/>
                <a:latin typeface="Times New Roman" panose="02020603050405020304" pitchFamily="18" charset="0"/>
                <a:ea typeface="宋体" panose="02010600030101010101" pitchFamily="2" charset="-122"/>
              </a:rPr>
              <a:t>在LoRA秩选择的方法上选择了秩细化策略</a:t>
            </a:r>
            <a:r>
              <a:rPr lang="zh-CN" altLang="zh-CN" sz="1600" kern="100" dirty="0">
                <a:effectLst/>
                <a:latin typeface="Times New Roman" panose="02020603050405020304" pitchFamily="18" charset="0"/>
                <a:ea typeface="宋体" panose="02010600030101010101" pitchFamily="2" charset="-122"/>
              </a:rPr>
              <a:t>，结合</a:t>
            </a:r>
            <a:r>
              <a:rPr lang="en-US" altLang="zh-CN" sz="1600" kern="100" dirty="0">
                <a:effectLst/>
                <a:latin typeface="Times New Roman" panose="02020603050405020304" pitchFamily="18" charset="0"/>
                <a:ea typeface="宋体" panose="02010600030101010101" pitchFamily="2" charset="-122"/>
              </a:rPr>
              <a:t>SVD</a:t>
            </a:r>
            <a:r>
              <a:rPr lang="zh-CN" altLang="zh-CN" sz="1600" kern="100" dirty="0">
                <a:effectLst/>
                <a:latin typeface="Times New Roman" panose="02020603050405020304" pitchFamily="18" charset="0"/>
                <a:ea typeface="宋体" panose="02010600030101010101" pitchFamily="2" charset="-122"/>
              </a:rPr>
              <a:t>评估各层秩的重要性从而</a:t>
            </a:r>
            <a:r>
              <a:rPr lang="zh-CN" altLang="zh-CN" sz="1600" b="1" kern="100" dirty="0">
                <a:solidFill>
                  <a:srgbClr val="00539E"/>
                </a:solidFill>
                <a:effectLst/>
                <a:latin typeface="Times New Roman" panose="02020603050405020304" pitchFamily="18" charset="0"/>
                <a:ea typeface="宋体" panose="02010600030101010101" pitchFamily="2" charset="-122"/>
              </a:rPr>
              <a:t>确定最优的秩</a:t>
            </a:r>
            <a:r>
              <a:rPr lang="zh-CN" altLang="zh-CN" sz="1600" kern="100" dirty="0">
                <a:effectLst/>
                <a:latin typeface="Times New Roman" panose="02020603050405020304" pitchFamily="18" charset="0"/>
                <a:ea typeface="宋体" panose="02010600030101010101" pitchFamily="2" charset="-122"/>
              </a:rPr>
              <a:t>。最中在</a:t>
            </a:r>
            <a:r>
              <a:rPr lang="zh-CN" altLang="zh-CN" sz="1600" b="1" kern="100" dirty="0">
                <a:solidFill>
                  <a:srgbClr val="00539E"/>
                </a:solidFill>
                <a:effectLst/>
                <a:latin typeface="Times New Roman" panose="02020603050405020304" pitchFamily="18" charset="0"/>
                <a:ea typeface="宋体" panose="02010600030101010101" pitchFamily="2" charset="-122"/>
              </a:rPr>
              <a:t>模型的性能上取得了良好的结果</a:t>
            </a:r>
            <a:r>
              <a:rPr lang="zh-CN" altLang="zh-CN" sz="1600" kern="100" dirty="0">
                <a:effectLst/>
                <a:latin typeface="Times New Roman" panose="02020603050405020304" pitchFamily="18" charset="0"/>
                <a:ea typeface="宋体" panose="02010600030101010101" pitchFamily="2" charset="-122"/>
              </a:rPr>
              <a:t>。同时我们配置了</a:t>
            </a:r>
            <a:r>
              <a:rPr lang="en-US" altLang="zh-CN" sz="1600" kern="100" dirty="0" err="1">
                <a:effectLst/>
                <a:latin typeface="Times New Roman" panose="02020603050405020304" pitchFamily="18" charset="0"/>
                <a:ea typeface="宋体" panose="02010600030101010101" pitchFamily="2" charset="-122"/>
              </a:rPr>
              <a:t>QLoRA</a:t>
            </a:r>
            <a:r>
              <a:rPr lang="zh-CN" altLang="zh-CN" sz="1600" kern="100" dirty="0">
                <a:effectLst/>
                <a:latin typeface="Times New Roman" panose="02020603050405020304" pitchFamily="18" charset="0"/>
                <a:ea typeface="宋体" panose="02010600030101010101" pitchFamily="2" charset="-122"/>
              </a:rPr>
              <a:t>中的量化操作，能够将32GB的显存占用降低到</a:t>
            </a:r>
            <a:r>
              <a:rPr lang="zh-CN" altLang="zh-CN" sz="1600" kern="100" dirty="0">
                <a:effectLst/>
                <a:latin typeface="Times New Roman" panose="02020603050405020304" pitchFamily="18" charset="0"/>
                <a:ea typeface="宋体" panose="02010600030101010101" pitchFamily="2" charset="-122"/>
              </a:rPr>
              <a:t>8GB。</a:t>
            </a:r>
            <a:endParaRPr lang="zh-CN" altLang="zh-CN" sz="1600" kern="100" dirty="0">
              <a:effectLst/>
              <a:latin typeface="Times New Roman" panose="02020603050405020304" pitchFamily="18" charset="0"/>
              <a:ea typeface="宋体" panose="02010600030101010101" pitchFamily="2" charset="-122"/>
            </a:endParaRPr>
          </a:p>
        </p:txBody>
      </p:sp>
      <p:sp>
        <p:nvSpPr>
          <p:cNvPr id="18" name="矩形 17"/>
          <p:cNvSpPr/>
          <p:nvPr/>
        </p:nvSpPr>
        <p:spPr>
          <a:xfrm>
            <a:off x="9049791" y="2120970"/>
            <a:ext cx="2695786" cy="4523105"/>
          </a:xfrm>
          <a:prstGeom prst="rect">
            <a:avLst/>
          </a:prstGeom>
        </p:spPr>
        <p:txBody>
          <a:bodyPr wrap="square">
            <a:spAutoFit/>
          </a:bodyPr>
          <a:lstStyle/>
          <a:p>
            <a:pPr indent="266700" algn="just">
              <a:lnSpc>
                <a:spcPct val="150000"/>
              </a:lnSpc>
            </a:pPr>
            <a:r>
              <a:rPr lang="zh-CN" altLang="zh-CN" sz="1600" kern="100" dirty="0">
                <a:effectLst/>
                <a:latin typeface="Times New Roman" panose="02020603050405020304" pitchFamily="18" charset="0"/>
                <a:ea typeface="宋体" panose="02010600030101010101" pitchFamily="2" charset="-122"/>
              </a:rPr>
              <a:t>在对 </a:t>
            </a:r>
            <a:r>
              <a:rPr lang="en-US" altLang="zh-CN" sz="1600" kern="100" dirty="0">
                <a:effectLst/>
                <a:latin typeface="Times New Roman" panose="02020603050405020304" pitchFamily="18" charset="0"/>
                <a:ea typeface="宋体" panose="02010600030101010101" pitchFamily="2" charset="-122"/>
              </a:rPr>
              <a:t>Deepseek-R1 7B </a:t>
            </a:r>
            <a:r>
              <a:rPr lang="zh-CN" altLang="zh-CN" sz="1600" kern="100" dirty="0">
                <a:effectLst/>
                <a:latin typeface="Times New Roman" panose="02020603050405020304" pitchFamily="18" charset="0"/>
                <a:ea typeface="宋体" panose="02010600030101010101" pitchFamily="2" charset="-122"/>
              </a:rPr>
              <a:t>级别的大语言模型进行微调时，原始模型参数量高达约</a:t>
            </a:r>
            <a:r>
              <a:rPr lang="en-US" altLang="zh-CN" sz="1600" kern="100" dirty="0">
                <a:effectLst/>
                <a:latin typeface="Times New Roman" panose="02020603050405020304" pitchFamily="18" charset="0"/>
                <a:ea typeface="宋体" panose="02010600030101010101" pitchFamily="2" charset="-122"/>
              </a:rPr>
              <a:t> 7.65 </a:t>
            </a:r>
            <a:r>
              <a:rPr lang="zh-CN" altLang="zh-CN" sz="1600" kern="100" dirty="0">
                <a:effectLst/>
                <a:latin typeface="Times New Roman" panose="02020603050405020304" pitchFamily="18" charset="0"/>
                <a:ea typeface="宋体" panose="02010600030101010101" pitchFamily="2" charset="-122"/>
              </a:rPr>
              <a:t>亿。然而，通过引</a:t>
            </a:r>
            <a:r>
              <a:rPr lang="en-US" altLang="zh-CN" sz="1600" kern="100" dirty="0" err="1">
                <a:effectLst/>
                <a:latin typeface="Times New Roman" panose="02020603050405020304" pitchFamily="18" charset="0"/>
                <a:ea typeface="宋体" panose="02010600030101010101" pitchFamily="2" charset="-122"/>
              </a:rPr>
              <a:t>LoRA</a:t>
            </a:r>
            <a:r>
              <a:rPr lang="zh-CN" altLang="zh-CN" sz="1600" kern="100" dirty="0">
                <a:effectLst/>
                <a:latin typeface="Times New Roman" panose="02020603050405020304" pitchFamily="18" charset="0"/>
                <a:ea typeface="宋体" panose="02010600030101010101" pitchFamily="2" charset="-122"/>
              </a:rPr>
              <a:t>模块，训练过程中仅需对一小部分参数进行更新。在本项目中，</a:t>
            </a:r>
            <a:r>
              <a:rPr lang="zh-CN" altLang="zh-CN" sz="1600" b="1" kern="100" dirty="0">
                <a:solidFill>
                  <a:srgbClr val="00539E"/>
                </a:solidFill>
                <a:effectLst/>
                <a:latin typeface="Times New Roman" panose="02020603050405020304" pitchFamily="18" charset="0"/>
                <a:ea typeface="宋体" panose="02010600030101010101" pitchFamily="2" charset="-122"/>
              </a:rPr>
              <a:t>加入 LoRA 后</a:t>
            </a:r>
            <a:r>
              <a:rPr lang="zh-CN" altLang="zh-CN" sz="1600" kern="100" dirty="0">
                <a:effectLst/>
                <a:latin typeface="Times New Roman" panose="02020603050405020304" pitchFamily="18" charset="0"/>
                <a:ea typeface="宋体" panose="02010600030101010101" pitchFamily="2" charset="-122"/>
              </a:rPr>
              <a:t>的可训练参数数量显著下降至</a:t>
            </a:r>
            <a:r>
              <a:rPr lang="en-US" altLang="zh-CN" sz="1600" kern="100" dirty="0">
                <a:effectLst/>
                <a:latin typeface="Times New Roman" panose="02020603050405020304" pitchFamily="18" charset="0"/>
                <a:ea typeface="宋体" panose="02010600030101010101" pitchFamily="2" charset="-122"/>
              </a:rPr>
              <a:t> 30,279,984 </a:t>
            </a:r>
            <a:r>
              <a:rPr lang="zh-CN" altLang="zh-CN" sz="1600" kern="100" dirty="0">
                <a:effectLst/>
                <a:latin typeface="Times New Roman" panose="02020603050405020304" pitchFamily="18" charset="0"/>
                <a:ea typeface="宋体" panose="02010600030101010101" pitchFamily="2" charset="-122"/>
              </a:rPr>
              <a:t>个，</a:t>
            </a:r>
            <a:r>
              <a:rPr lang="zh-CN" altLang="zh-CN" sz="1600" b="1" kern="100" dirty="0">
                <a:solidFill>
                  <a:srgbClr val="00539E"/>
                </a:solidFill>
                <a:effectLst/>
                <a:latin typeface="Times New Roman" panose="02020603050405020304" pitchFamily="18" charset="0"/>
                <a:ea typeface="宋体" panose="02010600030101010101" pitchFamily="2" charset="-122"/>
              </a:rPr>
              <a:t>相较于完整</a:t>
            </a:r>
            <a:r>
              <a:rPr lang="zh-CN" altLang="en-US" sz="1600" b="1" kern="100" dirty="0">
                <a:solidFill>
                  <a:srgbClr val="00539E"/>
                </a:solidFill>
                <a:effectLst/>
                <a:latin typeface="Times New Roman" panose="02020603050405020304" pitchFamily="18" charset="0"/>
                <a:ea typeface="宋体" panose="02010600030101010101" pitchFamily="2" charset="-122"/>
              </a:rPr>
              <a:t>训练</a:t>
            </a:r>
            <a:r>
              <a:rPr lang="zh-CN" altLang="zh-CN" sz="1600" b="1" kern="100" dirty="0">
                <a:solidFill>
                  <a:srgbClr val="00539E"/>
                </a:solidFill>
                <a:effectLst/>
                <a:latin typeface="Times New Roman" panose="02020603050405020304" pitchFamily="18" charset="0"/>
                <a:ea typeface="宋体" panose="02010600030101010101" pitchFamily="2" charset="-122"/>
              </a:rPr>
              <a:t>减少了</a:t>
            </a:r>
            <a:r>
              <a:rPr lang="en-US" altLang="zh-CN" sz="1600" b="1" kern="100" dirty="0">
                <a:solidFill>
                  <a:srgbClr val="00539E"/>
                </a:solidFill>
                <a:effectLst/>
                <a:latin typeface="Times New Roman" panose="02020603050405020304" pitchFamily="18" charset="0"/>
                <a:ea typeface="宋体" panose="02010600030101010101" pitchFamily="2" charset="-122"/>
              </a:rPr>
              <a:t> 99.61% </a:t>
            </a:r>
            <a:r>
              <a:rPr lang="zh-CN" altLang="zh-CN" sz="1600" b="1" kern="100" dirty="0">
                <a:solidFill>
                  <a:srgbClr val="00539E"/>
                </a:solidFill>
                <a:effectLst/>
                <a:latin typeface="Times New Roman" panose="02020603050405020304" pitchFamily="18" charset="0"/>
                <a:ea typeface="宋体" panose="02010600030101010101" pitchFamily="2" charset="-122"/>
              </a:rPr>
              <a:t>的参数量</a:t>
            </a:r>
            <a:r>
              <a:rPr lang="zh-CN" altLang="en-US" sz="1600" b="1" kern="100" dirty="0">
                <a:solidFill>
                  <a:srgbClr val="00539E"/>
                </a:solidFill>
                <a:effectLst/>
                <a:latin typeface="Times New Roman" panose="02020603050405020304" pitchFamily="18" charset="0"/>
                <a:ea typeface="宋体" panose="02010600030101010101" pitchFamily="2" charset="-122"/>
              </a:rPr>
              <a:t>的</a:t>
            </a:r>
            <a:r>
              <a:rPr lang="zh-CN" altLang="zh-CN" sz="1600" b="1" kern="100" dirty="0">
                <a:solidFill>
                  <a:srgbClr val="00539E"/>
                </a:solidFill>
                <a:effectLst/>
                <a:latin typeface="Times New Roman" panose="02020603050405020304" pitchFamily="18" charset="0"/>
                <a:ea typeface="宋体" panose="02010600030101010101" pitchFamily="2" charset="-122"/>
              </a:rPr>
              <a:t>，训练开销仅为原始模型的约</a:t>
            </a:r>
            <a:r>
              <a:rPr lang="en-US" altLang="zh-CN" sz="1600" b="1" kern="100" dirty="0">
                <a:solidFill>
                  <a:srgbClr val="00539E"/>
                </a:solidFill>
                <a:effectLst/>
                <a:latin typeface="Times New Roman" panose="02020603050405020304" pitchFamily="18" charset="0"/>
                <a:ea typeface="宋体" panose="02010600030101010101" pitchFamily="2" charset="-122"/>
              </a:rPr>
              <a:t> 0.39%</a:t>
            </a:r>
            <a:r>
              <a:rPr lang="zh-CN" altLang="zh-CN" sz="1600" b="1" kern="100" dirty="0">
                <a:solidFill>
                  <a:srgbClr val="00539E"/>
                </a:solidFill>
                <a:effectLst/>
                <a:latin typeface="Times New Roman" panose="02020603050405020304" pitchFamily="18" charset="0"/>
                <a:ea typeface="宋体" panose="02010600030101010101" pitchFamily="2" charset="-122"/>
              </a:rPr>
              <a:t>。</a:t>
            </a:r>
            <a:endParaRPr lang="zh-CN" altLang="zh-CN" sz="1600" b="1" kern="100" dirty="0">
              <a:solidFill>
                <a:srgbClr val="00539E"/>
              </a:solidFill>
              <a:effectLst/>
              <a:latin typeface="Times New Roman" panose="02020603050405020304" pitchFamily="18" charset="0"/>
              <a:ea typeface="宋体" panose="02010600030101010101" pitchFamily="2" charset="-122"/>
            </a:endParaRPr>
          </a:p>
        </p:txBody>
      </p:sp>
      <p:sp>
        <p:nvSpPr>
          <p:cNvPr id="22" name="矩形 21"/>
          <p:cNvSpPr/>
          <p:nvPr/>
        </p:nvSpPr>
        <p:spPr>
          <a:xfrm>
            <a:off x="1152000" y="288000"/>
            <a:ext cx="2031325" cy="646331"/>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创新特色</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7437119" y="947994"/>
            <a:ext cx="2731647" cy="2169825"/>
          </a:xfrm>
          <a:prstGeom prst="rect">
            <a:avLst/>
          </a:prstGeom>
          <a:noFill/>
        </p:spPr>
        <p:txBody>
          <a:bodyPr wrap="square" rtlCol="0">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kumimoji="0" lang="en-US" altLang="zh-CN"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rPr>
              <a:t>05</a:t>
            </a:r>
            <a:endParaRPr kumimoji="0" lang="zh-CN" altLang="en-US" sz="15000" b="1" i="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Arial Black" panose="020B0A04020102020204" pitchFamily="34" charset="0"/>
              <a:ea typeface="等线" panose="02010600030101010101" charset="-122"/>
              <a:cs typeface="+mn-cs"/>
            </a:endParaRPr>
          </a:p>
        </p:txBody>
      </p:sp>
      <p:sp>
        <p:nvSpPr>
          <p:cNvPr id="54" name="矩形 53"/>
          <p:cNvSpPr/>
          <p:nvPr/>
        </p:nvSpPr>
        <p:spPr>
          <a:xfrm>
            <a:off x="5266000" y="3707215"/>
            <a:ext cx="5969051" cy="840230"/>
          </a:xfrm>
          <a:prstGeom prst="rect">
            <a:avLst/>
          </a:prstGeom>
        </p:spPr>
        <p:txBody>
          <a:bodyPr wrap="square">
            <a:spAutoFit/>
          </a:bodyPr>
          <a:lstStyle/>
          <a:p>
            <a:pPr marL="0" marR="0" lvl="0" indent="0" algn="dist" defTabSz="914400" rtl="0" eaLnBrk="1" fontAlgn="auto" latinLnBrk="0" hangingPunct="1">
              <a:lnSpc>
                <a:spcPct val="90000"/>
              </a:lnSpc>
              <a:spcBef>
                <a:spcPts val="1000"/>
              </a:spcBef>
              <a:spcAft>
                <a:spcPts val="0"/>
              </a:spcAft>
              <a:buClrTx/>
              <a:buSzTx/>
              <a:buFontTx/>
              <a:buNone/>
              <a:defRPr/>
            </a:pPr>
            <a:r>
              <a:rPr lang="zh-CN" altLang="en-US" sz="5400" b="1" dirty="0">
                <a:gradFill>
                  <a:gsLst>
                    <a:gs pos="0">
                      <a:srgbClr val="4472C4">
                        <a:lumMod val="50000"/>
                      </a:srgbClr>
                    </a:gs>
                    <a:gs pos="100000">
                      <a:srgbClr val="0070C0"/>
                    </a:gs>
                  </a:gsLst>
                  <a:lin ang="0" scaled="1"/>
                </a:gradFill>
                <a:latin typeface="微软雅黑" panose="020B0503020204020204" pitchFamily="34" charset="-122"/>
                <a:ea typeface="微软雅黑" panose="020B0503020204020204" pitchFamily="34" charset="-122"/>
              </a:rPr>
              <a:t>总结</a:t>
            </a:r>
            <a:r>
              <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rPr>
              <a:t>展望</a:t>
            </a:r>
            <a:endParaRPr kumimoji="0" lang="zh-CN" altLang="en-US" sz="5400" b="1" u="none" strike="noStrike" kern="1200" cap="none" spc="0" normalizeH="0" baseline="0" noProof="0" dirty="0">
              <a:ln>
                <a:noFill/>
              </a:ln>
              <a:gradFill>
                <a:gsLst>
                  <a:gs pos="0">
                    <a:srgbClr val="4472C4">
                      <a:lumMod val="50000"/>
                    </a:srgbClr>
                  </a:gs>
                  <a:gs pos="100000">
                    <a:srgbClr val="0070C0"/>
                  </a:gs>
                </a:gsLst>
                <a:lin ang="0" scaled="1"/>
              </a:gradFill>
              <a:effectLst/>
              <a:uLnTx/>
              <a:uFillTx/>
              <a:latin typeface="微软雅黑" panose="020B0503020204020204" pitchFamily="34" charset="-122"/>
              <a:ea typeface="微软雅黑" panose="020B0503020204020204" pitchFamily="34" charset="-122"/>
              <a:cs typeface="+mn-cs"/>
            </a:endParaRPr>
          </a:p>
        </p:txBody>
      </p:sp>
      <p:cxnSp>
        <p:nvCxnSpPr>
          <p:cNvPr id="56" name="直接箭头连接符 55"/>
          <p:cNvCxnSpPr/>
          <p:nvPr/>
        </p:nvCxnSpPr>
        <p:spPr>
          <a:xfrm>
            <a:off x="5266000" y="4547445"/>
            <a:ext cx="5969051" cy="0"/>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KOPPT"/>
          <p:cNvPicPr>
            <a:picLocks noChangeAspect="1"/>
          </p:cNvPicPr>
          <p:nvPr/>
        </p:nvPicPr>
        <p:blipFill>
          <a:blip r:embed="rId1">
            <a:grayscl/>
            <a:extLst>
              <a:ext uri="{28A0092B-C50C-407E-A947-70E740481C1C}">
                <a14:useLocalDpi xmlns:a14="http://schemas.microsoft.com/office/drawing/2010/main" val="0"/>
              </a:ext>
            </a:extLst>
          </a:blip>
          <a:srcRect/>
          <a:stretch>
            <a:fillRect/>
          </a:stretch>
        </p:blipFill>
        <p:spPr>
          <a:xfrm>
            <a:off x="382439" y="1602602"/>
            <a:ext cx="11308818" cy="4743957"/>
          </a:xfrm>
          <a:custGeom>
            <a:avLst/>
            <a:gdLst>
              <a:gd name="connsiteX0" fmla="*/ 0 w 4800600"/>
              <a:gd name="connsiteY0" fmla="*/ 0 h 4800600"/>
              <a:gd name="connsiteX1" fmla="*/ 4800600 w 4800600"/>
              <a:gd name="connsiteY1" fmla="*/ 0 h 4800600"/>
              <a:gd name="connsiteX2" fmla="*/ 4800600 w 4800600"/>
              <a:gd name="connsiteY2" fmla="*/ 4800600 h 4800600"/>
              <a:gd name="connsiteX3" fmla="*/ 0 w 480060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00600" h="4800600">
                <a:moveTo>
                  <a:pt x="0" y="0"/>
                </a:moveTo>
                <a:lnTo>
                  <a:pt x="4800600" y="0"/>
                </a:lnTo>
                <a:lnTo>
                  <a:pt x="4800600" y="4800600"/>
                </a:lnTo>
                <a:lnTo>
                  <a:pt x="0" y="4800600"/>
                </a:lnTo>
                <a:close/>
              </a:path>
            </a:pathLst>
          </a:custGeom>
          <a:solidFill>
            <a:srgbClr val="FFFFFF">
              <a:lumMod val="95000"/>
              <a:alpha val="40000"/>
            </a:srgbClr>
          </a:solidFill>
        </p:spPr>
      </p:pic>
      <p:sp>
        <p:nvSpPr>
          <p:cNvPr id="10" name="KOPPT"/>
          <p:cNvSpPr/>
          <p:nvPr/>
        </p:nvSpPr>
        <p:spPr>
          <a:xfrm>
            <a:off x="382554" y="1602602"/>
            <a:ext cx="11427007" cy="4967398"/>
          </a:xfrm>
          <a:prstGeom prst="rect">
            <a:avLst/>
          </a:prstGeom>
          <a:solidFill>
            <a:srgbClr val="005EA4">
              <a:lumMod val="75000"/>
              <a:alpha val="8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mn-ea"/>
              <a:ea typeface="思源黑体 CN Normal"/>
              <a:cs typeface="+mn-cs"/>
            </a:endParaRPr>
          </a:p>
        </p:txBody>
      </p:sp>
      <p:sp>
        <p:nvSpPr>
          <p:cNvPr id="11" name="KOPPT"/>
          <p:cNvSpPr/>
          <p:nvPr/>
        </p:nvSpPr>
        <p:spPr>
          <a:xfrm>
            <a:off x="867926" y="1268961"/>
            <a:ext cx="4029955" cy="5411237"/>
          </a:xfrm>
          <a:prstGeom prst="rect">
            <a:avLst/>
          </a:prstGeom>
          <a:solidFill>
            <a:srgbClr val="039ACF"/>
          </a:solidFill>
          <a:ln w="12700" cap="flat" cmpd="sng" algn="ctr">
            <a:noFill/>
            <a:prstDash val="solid"/>
            <a:miter lim="800000"/>
          </a:ln>
          <a:effectLst>
            <a:outerShdw blurRad="635000" dist="190500" dir="8100000" algn="tr"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mn-ea"/>
              <a:ea typeface="思源黑体 CN Normal"/>
              <a:cs typeface="+mn-cs"/>
            </a:endParaRPr>
          </a:p>
        </p:txBody>
      </p:sp>
      <p:sp>
        <p:nvSpPr>
          <p:cNvPr id="12" name="文本框 11"/>
          <p:cNvSpPr txBox="1"/>
          <p:nvPr/>
        </p:nvSpPr>
        <p:spPr>
          <a:xfrm>
            <a:off x="1179121" y="2893962"/>
            <a:ext cx="3407563" cy="2571666"/>
          </a:xfrm>
          <a:prstGeom prst="rect">
            <a:avLst/>
          </a:prstGeom>
          <a:noFill/>
        </p:spPr>
        <p:txBody>
          <a:bodyPr wrap="square" rtlCol="0">
            <a:spAutoFit/>
          </a:bodyPr>
          <a:lstStyle/>
          <a:p>
            <a:pPr algn="just">
              <a:lnSpc>
                <a:spcPct val="150000"/>
              </a:lnSpc>
            </a:pPr>
            <a:r>
              <a:rPr lang="zh-CN" altLang="en-US" sz="2200" b="1" kern="100" dirty="0">
                <a:solidFill>
                  <a:schemeClr val="bg1"/>
                </a:solidFill>
                <a:latin typeface="微软雅黑" panose="020B0503020204020204" pitchFamily="34" charset="-122"/>
                <a:ea typeface="微软雅黑" panose="020B0503020204020204" pitchFamily="34" charset="-122"/>
                <a:sym typeface="+mn-ea"/>
              </a:rPr>
              <a:t>使用股价标注的金融数据对开源模型进行微调，过程中采用</a:t>
            </a:r>
            <a:r>
              <a:rPr lang="en-US" altLang="zh-CN" sz="2200" b="1" kern="100" dirty="0" err="1">
                <a:solidFill>
                  <a:schemeClr val="bg1"/>
                </a:solidFill>
                <a:latin typeface="微软雅黑" panose="020B0503020204020204" pitchFamily="34" charset="-122"/>
                <a:ea typeface="微软雅黑" panose="020B0503020204020204" pitchFamily="34" charset="-122"/>
                <a:sym typeface="+mn-ea"/>
              </a:rPr>
              <a:t>LoRA</a:t>
            </a:r>
            <a:r>
              <a:rPr lang="zh-CN" altLang="en-US" sz="2200" b="1" kern="100" dirty="0">
                <a:solidFill>
                  <a:schemeClr val="bg1"/>
                </a:solidFill>
                <a:latin typeface="微软雅黑" panose="020B0503020204020204" pitchFamily="34" charset="-122"/>
                <a:ea typeface="微软雅黑" panose="020B0503020204020204" pitchFamily="34" charset="-122"/>
                <a:sym typeface="+mn-ea"/>
              </a:rPr>
              <a:t>、</a:t>
            </a:r>
            <a:r>
              <a:rPr lang="en-US" altLang="zh-CN" sz="2200" b="1" kern="100" dirty="0">
                <a:solidFill>
                  <a:schemeClr val="bg1"/>
                </a:solidFill>
                <a:latin typeface="微软雅黑" panose="020B0503020204020204" pitchFamily="34" charset="-122"/>
                <a:ea typeface="微软雅黑" panose="020B0503020204020204" pitchFamily="34" charset="-122"/>
                <a:sym typeface="+mn-ea"/>
              </a:rPr>
              <a:t>RAG</a:t>
            </a:r>
            <a:r>
              <a:rPr lang="zh-CN" altLang="en-US" sz="2200" b="1" kern="100" dirty="0">
                <a:solidFill>
                  <a:schemeClr val="bg1"/>
                </a:solidFill>
                <a:latin typeface="微软雅黑" panose="020B0503020204020204" pitchFamily="34" charset="-122"/>
                <a:ea typeface="微软雅黑" panose="020B0503020204020204" pitchFamily="34" charset="-122"/>
                <a:sym typeface="+mn-ea"/>
              </a:rPr>
              <a:t>等技术，为大模型的可应用性和私人化提供了前景</a:t>
            </a:r>
            <a:endParaRPr lang="zh-CN" altLang="en-US" sz="2200" kern="100" dirty="0">
              <a:solidFill>
                <a:schemeClr val="bg1"/>
              </a:solidFill>
              <a:latin typeface="微软雅黑" panose="020B0503020204020204" pitchFamily="34" charset="-122"/>
              <a:ea typeface="微软雅黑" panose="020B0503020204020204" pitchFamily="34" charset="-122"/>
              <a:sym typeface="+mn-ea"/>
            </a:endParaRPr>
          </a:p>
        </p:txBody>
      </p:sp>
      <p:sp>
        <p:nvSpPr>
          <p:cNvPr id="15" name="矩形 14"/>
          <p:cNvSpPr/>
          <p:nvPr/>
        </p:nvSpPr>
        <p:spPr>
          <a:xfrm>
            <a:off x="5253490" y="1602602"/>
            <a:ext cx="5759389" cy="4523105"/>
          </a:xfrm>
          <a:prstGeom prst="rect">
            <a:avLst/>
          </a:prstGeom>
        </p:spPr>
        <p:txBody>
          <a:bodyPr wrap="square">
            <a:spAutoFit/>
          </a:bodyPr>
          <a:lstStyle/>
          <a:p>
            <a:pPr indent="431800">
              <a:lnSpc>
                <a:spcPct val="200000"/>
              </a:lnSpc>
            </a:pPr>
            <a:r>
              <a:rPr lang="zh-CN" altLang="zh-CN" sz="1800" b="1" kern="100" dirty="0">
                <a:solidFill>
                  <a:schemeClr val="bg1"/>
                </a:solidFill>
                <a:effectLst/>
                <a:latin typeface="Times New Roman" panose="02020603050405020304" pitchFamily="18" charset="0"/>
                <a:ea typeface="宋体" panose="02010600030101010101" pitchFamily="2" charset="-122"/>
              </a:rPr>
              <a:t>首先，由于除英文之外</a:t>
            </a:r>
            <a:r>
              <a:rPr lang="zh-CN" altLang="zh-CN" sz="1800" b="1" kern="100" dirty="0">
                <a:solidFill>
                  <a:schemeClr val="bg1"/>
                </a:solidFill>
                <a:effectLst/>
                <a:latin typeface="Times New Roman" panose="02020603050405020304" pitchFamily="18" charset="0"/>
                <a:ea typeface="宋体" panose="02010600030101010101" pitchFamily="2" charset="-122"/>
              </a:rPr>
              <a:t>的金融新闻数据集较少且不完善，本研究测试和测试使用的数据集是英文数据集，对于其他语言金融新闻的数据缺少研究，</a:t>
            </a:r>
            <a:r>
              <a:rPr lang="zh-CN" altLang="zh-CN" sz="1800" b="1" kern="100" dirty="0">
                <a:solidFill>
                  <a:schemeClr val="accent1">
                    <a:lumMod val="60000"/>
                    <a:lumOff val="40000"/>
                  </a:schemeClr>
                </a:solidFill>
                <a:effectLst/>
                <a:latin typeface="Times New Roman" panose="02020603050405020304" pitchFamily="18" charset="0"/>
                <a:ea typeface="宋体" panose="02010600030101010101" pitchFamily="2" charset="-122"/>
              </a:rPr>
              <a:t>以后将构建其他</a:t>
            </a:r>
            <a:r>
              <a:rPr lang="zh-CN" altLang="zh-CN" sz="1800" b="1" kern="100" dirty="0">
                <a:solidFill>
                  <a:schemeClr val="accent1">
                    <a:lumMod val="60000"/>
                    <a:lumOff val="40000"/>
                  </a:schemeClr>
                </a:solidFill>
                <a:effectLst/>
                <a:latin typeface="Times New Roman" panose="02020603050405020304" pitchFamily="18" charset="0"/>
                <a:ea typeface="宋体" panose="02010600030101010101" pitchFamily="2" charset="-122"/>
              </a:rPr>
              <a:t>语言金融新闻数据集进行测试。</a:t>
            </a:r>
            <a:endParaRPr lang="en-US" altLang="zh-CN" sz="1800" b="1" kern="100" dirty="0">
              <a:solidFill>
                <a:schemeClr val="accent1">
                  <a:lumMod val="60000"/>
                  <a:lumOff val="40000"/>
                </a:schemeClr>
              </a:solidFill>
              <a:effectLst/>
              <a:latin typeface="Times New Roman" panose="02020603050405020304" pitchFamily="18" charset="0"/>
              <a:ea typeface="宋体" panose="02010600030101010101" pitchFamily="2" charset="-122"/>
            </a:endParaRPr>
          </a:p>
          <a:p>
            <a:pPr indent="431800">
              <a:lnSpc>
                <a:spcPct val="200000"/>
              </a:lnSpc>
            </a:pPr>
            <a:r>
              <a:rPr lang="zh-CN" altLang="zh-CN" sz="1800" b="1" kern="100" dirty="0">
                <a:solidFill>
                  <a:schemeClr val="bg1"/>
                </a:solidFill>
                <a:effectLst/>
                <a:latin typeface="Times New Roman" panose="02020603050405020304" pitchFamily="18" charset="0"/>
                <a:ea typeface="宋体" panose="02010600030101010101" pitchFamily="2" charset="-122"/>
              </a:rPr>
              <a:t>其次，在数据方面，受限于成本没有采用商业化的金融新闻</a:t>
            </a:r>
            <a:r>
              <a:rPr lang="zh-CN" altLang="zh-CN" sz="1800" b="1" kern="100" dirty="0">
                <a:solidFill>
                  <a:schemeClr val="bg1"/>
                </a:solidFill>
                <a:effectLst/>
                <a:latin typeface="Times New Roman" panose="02020603050405020304" pitchFamily="18" charset="0"/>
                <a:ea typeface="宋体" panose="02010600030101010101" pitchFamily="2" charset="-122"/>
              </a:rPr>
              <a:t>数据库，导致数据的时间跨度较大</a:t>
            </a:r>
            <a:r>
              <a:rPr lang="zh-CN" altLang="en-US" sz="1800" b="1" kern="100" dirty="0">
                <a:solidFill>
                  <a:schemeClr val="bg1"/>
                </a:solidFill>
                <a:effectLst/>
                <a:latin typeface="Times New Roman" panose="02020603050405020304" pitchFamily="18" charset="0"/>
                <a:ea typeface="宋体" panose="02010600030101010101" pitchFamily="2" charset="-122"/>
              </a:rPr>
              <a:t>，</a:t>
            </a:r>
            <a:r>
              <a:rPr lang="zh-CN" altLang="en-US" sz="1800" b="1" kern="100" dirty="0">
                <a:solidFill>
                  <a:schemeClr val="accent1">
                    <a:lumMod val="60000"/>
                    <a:lumOff val="40000"/>
                  </a:schemeClr>
                </a:solidFill>
                <a:effectLst/>
                <a:latin typeface="Times New Roman" panose="02020603050405020304" pitchFamily="18" charset="0"/>
                <a:ea typeface="宋体" panose="02010600030101010101" pitchFamily="2" charset="-122"/>
              </a:rPr>
              <a:t>以后将加入商业化的金融库进行训练，进一步提升模型的时效性</a:t>
            </a:r>
            <a:r>
              <a:rPr lang="zh-CN" altLang="zh-CN" sz="1800" b="1" kern="100" dirty="0">
                <a:solidFill>
                  <a:schemeClr val="accent1">
                    <a:lumMod val="60000"/>
                    <a:lumOff val="40000"/>
                  </a:schemeClr>
                </a:solidFill>
                <a:effectLst/>
                <a:latin typeface="Times New Roman" panose="02020603050405020304" pitchFamily="18" charset="0"/>
                <a:ea typeface="宋体" panose="02010600030101010101" pitchFamily="2" charset="-122"/>
              </a:rPr>
              <a:t>。</a:t>
            </a:r>
            <a:endParaRPr lang="zh-CN" altLang="zh-CN" sz="1800" b="1" kern="100" dirty="0">
              <a:solidFill>
                <a:schemeClr val="accent1">
                  <a:lumMod val="60000"/>
                  <a:lumOff val="40000"/>
                </a:schemeClr>
              </a:solidFill>
              <a:effectLst/>
              <a:latin typeface="Times New Roman" panose="02020603050405020304" pitchFamily="18" charset="0"/>
              <a:ea typeface="宋体" panose="02010600030101010101" pitchFamily="2" charset="-122"/>
            </a:endParaRPr>
          </a:p>
          <a:p>
            <a:pPr indent="431800">
              <a:lnSpc>
                <a:spcPct val="200000"/>
              </a:lnSpc>
            </a:pPr>
            <a:endParaRPr lang="zh-CN" altLang="en-US" kern="100" dirty="0">
              <a:solidFill>
                <a:schemeClr val="bg1"/>
              </a:solidFill>
              <a:latin typeface="微软雅黑" panose="020B0503020204020204" pitchFamily="34" charset="-122"/>
              <a:ea typeface="微软雅黑" panose="020B0503020204020204" pitchFamily="34" charset="-122"/>
              <a:sym typeface="+mn-lt"/>
            </a:endParaRPr>
          </a:p>
        </p:txBody>
      </p:sp>
      <p:sp>
        <p:nvSpPr>
          <p:cNvPr id="16" name="矩形 15"/>
          <p:cNvSpPr/>
          <p:nvPr/>
        </p:nvSpPr>
        <p:spPr>
          <a:xfrm>
            <a:off x="1152000" y="288000"/>
            <a:ext cx="2468880" cy="64516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总结</a:t>
            </a:r>
            <a:r>
              <a:rPr lang="zh-CN" altLang="en-US" sz="3600" b="1" kern="0" dirty="0">
                <a:solidFill>
                  <a:prstClr val="black">
                    <a:lumMod val="95000"/>
                    <a:lumOff val="5000"/>
                  </a:prstClr>
                </a:solidFill>
                <a:latin typeface="微软雅黑" panose="020B0503020204020204" pitchFamily="34" charset="-122"/>
                <a:ea typeface="微软雅黑" panose="020B0503020204020204" pitchFamily="34" charset="-122"/>
              </a:rPr>
              <a:t>与展望</a:t>
            </a:r>
            <a:endParaRPr kumimoji="0" lang="zh-CN" altLang="en-US" sz="3600" b="1" i="0" u="none" strike="noStrike" kern="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sp>
        <p:nvSpPr>
          <p:cNvPr id="19" name="KSO_Shape"/>
          <p:cNvSpPr/>
          <p:nvPr/>
        </p:nvSpPr>
        <p:spPr bwMode="auto">
          <a:xfrm>
            <a:off x="5446978" y="5536649"/>
            <a:ext cx="730667" cy="823859"/>
          </a:xfrm>
          <a:custGeom>
            <a:avLst/>
            <a:gdLst>
              <a:gd name="T0" fmla="*/ 1437758 w 3678"/>
              <a:gd name="T1" fmla="*/ 791596 h 4570"/>
              <a:gd name="T2" fmla="*/ 1392268 w 3678"/>
              <a:gd name="T3" fmla="*/ 779508 h 4570"/>
              <a:gd name="T4" fmla="*/ 1360132 w 3678"/>
              <a:gd name="T5" fmla="*/ 782842 h 4570"/>
              <a:gd name="T6" fmla="*/ 1344690 w 3678"/>
              <a:gd name="T7" fmla="*/ 782426 h 4570"/>
              <a:gd name="T8" fmla="*/ 1354289 w 3678"/>
              <a:gd name="T9" fmla="*/ 716147 h 4570"/>
              <a:gd name="T10" fmla="*/ 1343021 w 3678"/>
              <a:gd name="T11" fmla="*/ 671544 h 4570"/>
              <a:gd name="T12" fmla="*/ 1317980 w 3678"/>
              <a:gd name="T13" fmla="*/ 640697 h 4570"/>
              <a:gd name="T14" fmla="*/ 1272906 w 3678"/>
              <a:gd name="T15" fmla="*/ 614852 h 4570"/>
              <a:gd name="T16" fmla="*/ 1216982 w 3678"/>
              <a:gd name="T17" fmla="*/ 599012 h 4570"/>
              <a:gd name="T18" fmla="*/ 1162727 w 3678"/>
              <a:gd name="T19" fmla="*/ 595260 h 4570"/>
              <a:gd name="T20" fmla="*/ 1107637 w 3678"/>
              <a:gd name="T21" fmla="*/ 613185 h 4570"/>
              <a:gd name="T22" fmla="*/ 1073415 w 3678"/>
              <a:gd name="T23" fmla="*/ 657371 h 4570"/>
              <a:gd name="T24" fmla="*/ 1060060 w 3678"/>
              <a:gd name="T25" fmla="*/ 611101 h 4570"/>
              <a:gd name="T26" fmla="*/ 1053800 w 3678"/>
              <a:gd name="T27" fmla="*/ 578586 h 4570"/>
              <a:gd name="T28" fmla="*/ 1026672 w 3678"/>
              <a:gd name="T29" fmla="*/ 537318 h 4570"/>
              <a:gd name="T30" fmla="*/ 996623 w 3678"/>
              <a:gd name="T31" fmla="*/ 518977 h 4570"/>
              <a:gd name="T32" fmla="*/ 951967 w 3678"/>
              <a:gd name="T33" fmla="*/ 508973 h 4570"/>
              <a:gd name="T34" fmla="*/ 906894 w 3678"/>
              <a:gd name="T35" fmla="*/ 508973 h 4570"/>
              <a:gd name="T36" fmla="*/ 846378 w 3678"/>
              <a:gd name="T37" fmla="*/ 521478 h 4570"/>
              <a:gd name="T38" fmla="*/ 806313 w 3678"/>
              <a:gd name="T39" fmla="*/ 542321 h 4570"/>
              <a:gd name="T40" fmla="*/ 781690 w 3678"/>
              <a:gd name="T41" fmla="*/ 569416 h 4570"/>
              <a:gd name="T42" fmla="*/ 767917 w 3678"/>
              <a:gd name="T43" fmla="*/ 616937 h 4570"/>
              <a:gd name="T44" fmla="*/ 764996 w 3678"/>
              <a:gd name="T45" fmla="*/ 655287 h 4570"/>
              <a:gd name="T46" fmla="*/ 754980 w 3678"/>
              <a:gd name="T47" fmla="*/ 669876 h 4570"/>
              <a:gd name="T48" fmla="*/ 751223 w 3678"/>
              <a:gd name="T49" fmla="*/ 125888 h 4570"/>
              <a:gd name="T50" fmla="*/ 739538 w 3678"/>
              <a:gd name="T51" fmla="*/ 85454 h 4570"/>
              <a:gd name="T52" fmla="*/ 717836 w 3678"/>
              <a:gd name="T53" fmla="*/ 50856 h 4570"/>
              <a:gd name="T54" fmla="*/ 686952 w 3678"/>
              <a:gd name="T55" fmla="*/ 23344 h 4570"/>
              <a:gd name="T56" fmla="*/ 648974 w 3678"/>
              <a:gd name="T57" fmla="*/ 5836 h 4570"/>
              <a:gd name="T58" fmla="*/ 605987 w 3678"/>
              <a:gd name="T59" fmla="*/ 0 h 4570"/>
              <a:gd name="T60" fmla="*/ 579277 w 3678"/>
              <a:gd name="T61" fmla="*/ 2501 h 4570"/>
              <a:gd name="T62" fmla="*/ 539212 w 3678"/>
              <a:gd name="T63" fmla="*/ 16257 h 4570"/>
              <a:gd name="T64" fmla="*/ 504154 w 3678"/>
              <a:gd name="T65" fmla="*/ 40851 h 4570"/>
              <a:gd name="T66" fmla="*/ 482035 w 3678"/>
              <a:gd name="T67" fmla="*/ 69197 h 4570"/>
              <a:gd name="T68" fmla="*/ 464924 w 3678"/>
              <a:gd name="T69" fmla="*/ 107964 h 4570"/>
              <a:gd name="T70" fmla="*/ 459916 w 3678"/>
              <a:gd name="T71" fmla="*/ 150482 h 4570"/>
              <a:gd name="T72" fmla="*/ 462420 w 3678"/>
              <a:gd name="T73" fmla="*/ 1016278 h 4570"/>
              <a:gd name="T74" fmla="*/ 449482 w 3678"/>
              <a:gd name="T75" fmla="*/ 1108402 h 4570"/>
              <a:gd name="T76" fmla="*/ 230375 w 3678"/>
              <a:gd name="T77" fmla="*/ 945414 h 4570"/>
              <a:gd name="T78" fmla="*/ 159426 w 3678"/>
              <a:gd name="T79" fmla="*/ 919569 h 4570"/>
              <a:gd name="T80" fmla="*/ 114770 w 3678"/>
              <a:gd name="T81" fmla="*/ 922487 h 4570"/>
              <a:gd name="T82" fmla="*/ 70949 w 3678"/>
              <a:gd name="T83" fmla="*/ 939995 h 4570"/>
              <a:gd name="T84" fmla="*/ 34640 w 3678"/>
              <a:gd name="T85" fmla="*/ 970841 h 4570"/>
              <a:gd name="T86" fmla="*/ 15024 w 3678"/>
              <a:gd name="T87" fmla="*/ 1001271 h 4570"/>
              <a:gd name="T88" fmla="*/ 2087 w 3678"/>
              <a:gd name="T89" fmla="*/ 1041706 h 4570"/>
              <a:gd name="T90" fmla="*/ 417 w 3678"/>
              <a:gd name="T91" fmla="*/ 1077555 h 4570"/>
              <a:gd name="T92" fmla="*/ 10434 w 3678"/>
              <a:gd name="T93" fmla="*/ 1119240 h 4570"/>
              <a:gd name="T94" fmla="*/ 31718 w 3678"/>
              <a:gd name="T95" fmla="*/ 1156756 h 4570"/>
              <a:gd name="T96" fmla="*/ 395644 w 3678"/>
              <a:gd name="T97" fmla="*/ 1467309 h 4570"/>
              <a:gd name="T98" fmla="*/ 487043 w 3678"/>
              <a:gd name="T99" fmla="*/ 1600283 h 4570"/>
              <a:gd name="T100" fmla="*/ 568008 w 3678"/>
              <a:gd name="T101" fmla="*/ 1681986 h 4570"/>
              <a:gd name="T102" fmla="*/ 1298365 w 3678"/>
              <a:gd name="T103" fmla="*/ 1905000 h 4570"/>
              <a:gd name="T104" fmla="*/ 1510794 w 3678"/>
              <a:gd name="T105" fmla="*/ 1041289 h 4570"/>
              <a:gd name="T106" fmla="*/ 1533331 w 3678"/>
              <a:gd name="T107" fmla="*/ 936660 h 4570"/>
              <a:gd name="T108" fmla="*/ 1531661 w 3678"/>
              <a:gd name="T109" fmla="*/ 880385 h 4570"/>
              <a:gd name="T110" fmla="*/ 1516637 w 3678"/>
              <a:gd name="T111" fmla="*/ 845787 h 4570"/>
              <a:gd name="T112" fmla="*/ 1485336 w 3678"/>
              <a:gd name="T113" fmla="*/ 817441 h 45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678" h="4570">
                <a:moveTo>
                  <a:pt x="3559" y="1961"/>
                </a:moveTo>
                <a:lnTo>
                  <a:pt x="3559" y="1961"/>
                </a:lnTo>
                <a:lnTo>
                  <a:pt x="3532" y="1945"/>
                </a:lnTo>
                <a:lnTo>
                  <a:pt x="3504" y="1928"/>
                </a:lnTo>
                <a:lnTo>
                  <a:pt x="3474" y="1913"/>
                </a:lnTo>
                <a:lnTo>
                  <a:pt x="3445" y="1899"/>
                </a:lnTo>
                <a:lnTo>
                  <a:pt x="3415" y="1887"/>
                </a:lnTo>
                <a:lnTo>
                  <a:pt x="3399" y="1881"/>
                </a:lnTo>
                <a:lnTo>
                  <a:pt x="3383" y="1878"/>
                </a:lnTo>
                <a:lnTo>
                  <a:pt x="3368" y="1874"/>
                </a:lnTo>
                <a:lnTo>
                  <a:pt x="3351" y="1872"/>
                </a:lnTo>
                <a:lnTo>
                  <a:pt x="3336" y="1870"/>
                </a:lnTo>
                <a:lnTo>
                  <a:pt x="3320" y="1870"/>
                </a:lnTo>
                <a:lnTo>
                  <a:pt x="3296" y="1871"/>
                </a:lnTo>
                <a:lnTo>
                  <a:pt x="3285" y="1872"/>
                </a:lnTo>
                <a:lnTo>
                  <a:pt x="3272" y="1874"/>
                </a:lnTo>
                <a:lnTo>
                  <a:pt x="3259" y="1878"/>
                </a:lnTo>
                <a:lnTo>
                  <a:pt x="3245" y="1883"/>
                </a:lnTo>
                <a:lnTo>
                  <a:pt x="3232" y="1888"/>
                </a:lnTo>
                <a:lnTo>
                  <a:pt x="3218" y="1894"/>
                </a:lnTo>
                <a:lnTo>
                  <a:pt x="3221" y="1880"/>
                </a:lnTo>
                <a:lnTo>
                  <a:pt x="3222" y="1877"/>
                </a:lnTo>
                <a:lnTo>
                  <a:pt x="3224" y="1872"/>
                </a:lnTo>
                <a:lnTo>
                  <a:pt x="3241" y="1773"/>
                </a:lnTo>
                <a:lnTo>
                  <a:pt x="3243" y="1757"/>
                </a:lnTo>
                <a:lnTo>
                  <a:pt x="3245" y="1738"/>
                </a:lnTo>
                <a:lnTo>
                  <a:pt x="3245" y="1718"/>
                </a:lnTo>
                <a:lnTo>
                  <a:pt x="3243" y="1695"/>
                </a:lnTo>
                <a:lnTo>
                  <a:pt x="3240" y="1672"/>
                </a:lnTo>
                <a:lnTo>
                  <a:pt x="3233" y="1648"/>
                </a:lnTo>
                <a:lnTo>
                  <a:pt x="3229" y="1635"/>
                </a:lnTo>
                <a:lnTo>
                  <a:pt x="3224" y="1622"/>
                </a:lnTo>
                <a:lnTo>
                  <a:pt x="3218" y="1611"/>
                </a:lnTo>
                <a:lnTo>
                  <a:pt x="3211" y="1598"/>
                </a:lnTo>
                <a:lnTo>
                  <a:pt x="3202" y="1585"/>
                </a:lnTo>
                <a:lnTo>
                  <a:pt x="3193" y="1573"/>
                </a:lnTo>
                <a:lnTo>
                  <a:pt x="3183" y="1560"/>
                </a:lnTo>
                <a:lnTo>
                  <a:pt x="3171" y="1548"/>
                </a:lnTo>
                <a:lnTo>
                  <a:pt x="3158" y="1537"/>
                </a:lnTo>
                <a:lnTo>
                  <a:pt x="3144" y="1525"/>
                </a:lnTo>
                <a:lnTo>
                  <a:pt x="3127" y="1514"/>
                </a:lnTo>
                <a:lnTo>
                  <a:pt x="3111" y="1504"/>
                </a:lnTo>
                <a:lnTo>
                  <a:pt x="3092" y="1493"/>
                </a:lnTo>
                <a:lnTo>
                  <a:pt x="3072" y="1484"/>
                </a:lnTo>
                <a:lnTo>
                  <a:pt x="3050" y="1475"/>
                </a:lnTo>
                <a:lnTo>
                  <a:pt x="3028" y="1465"/>
                </a:lnTo>
                <a:lnTo>
                  <a:pt x="3002" y="1458"/>
                </a:lnTo>
                <a:lnTo>
                  <a:pt x="2975" y="1450"/>
                </a:lnTo>
                <a:lnTo>
                  <a:pt x="2947" y="1443"/>
                </a:lnTo>
                <a:lnTo>
                  <a:pt x="2916" y="1437"/>
                </a:lnTo>
                <a:lnTo>
                  <a:pt x="2888" y="1432"/>
                </a:lnTo>
                <a:lnTo>
                  <a:pt x="2861" y="1430"/>
                </a:lnTo>
                <a:lnTo>
                  <a:pt x="2837" y="1428"/>
                </a:lnTo>
                <a:lnTo>
                  <a:pt x="2812" y="1428"/>
                </a:lnTo>
                <a:lnTo>
                  <a:pt x="2786" y="1428"/>
                </a:lnTo>
                <a:lnTo>
                  <a:pt x="2761" y="1431"/>
                </a:lnTo>
                <a:lnTo>
                  <a:pt x="2737" y="1436"/>
                </a:lnTo>
                <a:lnTo>
                  <a:pt x="2715" y="1442"/>
                </a:lnTo>
                <a:lnTo>
                  <a:pt x="2693" y="1450"/>
                </a:lnTo>
                <a:lnTo>
                  <a:pt x="2673" y="1461"/>
                </a:lnTo>
                <a:lnTo>
                  <a:pt x="2654" y="1471"/>
                </a:lnTo>
                <a:lnTo>
                  <a:pt x="2636" y="1485"/>
                </a:lnTo>
                <a:lnTo>
                  <a:pt x="2621" y="1500"/>
                </a:lnTo>
                <a:lnTo>
                  <a:pt x="2606" y="1517"/>
                </a:lnTo>
                <a:lnTo>
                  <a:pt x="2593" y="1536"/>
                </a:lnTo>
                <a:lnTo>
                  <a:pt x="2581" y="1555"/>
                </a:lnTo>
                <a:lnTo>
                  <a:pt x="2572" y="1577"/>
                </a:lnTo>
                <a:lnTo>
                  <a:pt x="2562" y="1600"/>
                </a:lnTo>
                <a:lnTo>
                  <a:pt x="2555" y="1625"/>
                </a:lnTo>
                <a:lnTo>
                  <a:pt x="2550" y="1650"/>
                </a:lnTo>
                <a:lnTo>
                  <a:pt x="2550" y="1653"/>
                </a:lnTo>
                <a:lnTo>
                  <a:pt x="2541" y="1469"/>
                </a:lnTo>
                <a:lnTo>
                  <a:pt x="2540" y="1466"/>
                </a:lnTo>
                <a:lnTo>
                  <a:pt x="2540" y="1465"/>
                </a:lnTo>
                <a:lnTo>
                  <a:pt x="2539" y="1446"/>
                </a:lnTo>
                <a:lnTo>
                  <a:pt x="2535" y="1428"/>
                </a:lnTo>
                <a:lnTo>
                  <a:pt x="2531" y="1408"/>
                </a:lnTo>
                <a:lnTo>
                  <a:pt x="2525" y="1388"/>
                </a:lnTo>
                <a:lnTo>
                  <a:pt x="2517" y="1367"/>
                </a:lnTo>
                <a:lnTo>
                  <a:pt x="2506" y="1347"/>
                </a:lnTo>
                <a:lnTo>
                  <a:pt x="2493" y="1327"/>
                </a:lnTo>
                <a:lnTo>
                  <a:pt x="2478" y="1307"/>
                </a:lnTo>
                <a:lnTo>
                  <a:pt x="2470" y="1299"/>
                </a:lnTo>
                <a:lnTo>
                  <a:pt x="2460" y="1289"/>
                </a:lnTo>
                <a:lnTo>
                  <a:pt x="2450" y="1281"/>
                </a:lnTo>
                <a:lnTo>
                  <a:pt x="2439" y="1273"/>
                </a:lnTo>
                <a:lnTo>
                  <a:pt x="2428" y="1265"/>
                </a:lnTo>
                <a:lnTo>
                  <a:pt x="2415" y="1258"/>
                </a:lnTo>
                <a:lnTo>
                  <a:pt x="2402" y="1251"/>
                </a:lnTo>
                <a:lnTo>
                  <a:pt x="2388" y="1245"/>
                </a:lnTo>
                <a:lnTo>
                  <a:pt x="2373" y="1239"/>
                </a:lnTo>
                <a:lnTo>
                  <a:pt x="2356" y="1234"/>
                </a:lnTo>
                <a:lnTo>
                  <a:pt x="2339" y="1230"/>
                </a:lnTo>
                <a:lnTo>
                  <a:pt x="2320" y="1226"/>
                </a:lnTo>
                <a:lnTo>
                  <a:pt x="2301" y="1223"/>
                </a:lnTo>
                <a:lnTo>
                  <a:pt x="2281" y="1221"/>
                </a:lnTo>
                <a:lnTo>
                  <a:pt x="2259" y="1219"/>
                </a:lnTo>
                <a:lnTo>
                  <a:pt x="2237" y="1219"/>
                </a:lnTo>
                <a:lnTo>
                  <a:pt x="2206" y="1220"/>
                </a:lnTo>
                <a:lnTo>
                  <a:pt x="2173" y="1221"/>
                </a:lnTo>
                <a:lnTo>
                  <a:pt x="2145" y="1225"/>
                </a:lnTo>
                <a:lnTo>
                  <a:pt x="2119" y="1228"/>
                </a:lnTo>
                <a:lnTo>
                  <a:pt x="2095" y="1233"/>
                </a:lnTo>
                <a:lnTo>
                  <a:pt x="2071" y="1238"/>
                </a:lnTo>
                <a:lnTo>
                  <a:pt x="2049" y="1244"/>
                </a:lnTo>
                <a:lnTo>
                  <a:pt x="2028" y="1251"/>
                </a:lnTo>
                <a:lnTo>
                  <a:pt x="2009" y="1258"/>
                </a:lnTo>
                <a:lnTo>
                  <a:pt x="1990" y="1265"/>
                </a:lnTo>
                <a:lnTo>
                  <a:pt x="1974" y="1273"/>
                </a:lnTo>
                <a:lnTo>
                  <a:pt x="1959" y="1282"/>
                </a:lnTo>
                <a:lnTo>
                  <a:pt x="1945" y="1292"/>
                </a:lnTo>
                <a:lnTo>
                  <a:pt x="1932" y="1301"/>
                </a:lnTo>
                <a:lnTo>
                  <a:pt x="1919" y="1310"/>
                </a:lnTo>
                <a:lnTo>
                  <a:pt x="1908" y="1321"/>
                </a:lnTo>
                <a:lnTo>
                  <a:pt x="1898" y="1332"/>
                </a:lnTo>
                <a:lnTo>
                  <a:pt x="1890" y="1343"/>
                </a:lnTo>
                <a:lnTo>
                  <a:pt x="1881" y="1354"/>
                </a:lnTo>
                <a:lnTo>
                  <a:pt x="1873" y="1366"/>
                </a:lnTo>
                <a:lnTo>
                  <a:pt x="1867" y="1377"/>
                </a:lnTo>
                <a:lnTo>
                  <a:pt x="1861" y="1388"/>
                </a:lnTo>
                <a:lnTo>
                  <a:pt x="1852" y="1411"/>
                </a:lnTo>
                <a:lnTo>
                  <a:pt x="1846" y="1435"/>
                </a:lnTo>
                <a:lnTo>
                  <a:pt x="1843" y="1458"/>
                </a:lnTo>
                <a:lnTo>
                  <a:pt x="1840" y="1480"/>
                </a:lnTo>
                <a:lnTo>
                  <a:pt x="1840" y="1502"/>
                </a:lnTo>
                <a:lnTo>
                  <a:pt x="1840" y="1521"/>
                </a:lnTo>
                <a:lnTo>
                  <a:pt x="1841" y="1545"/>
                </a:lnTo>
                <a:lnTo>
                  <a:pt x="1838" y="1560"/>
                </a:lnTo>
                <a:lnTo>
                  <a:pt x="1833" y="1572"/>
                </a:lnTo>
                <a:lnTo>
                  <a:pt x="1829" y="1581"/>
                </a:lnTo>
                <a:lnTo>
                  <a:pt x="1825" y="1589"/>
                </a:lnTo>
                <a:lnTo>
                  <a:pt x="1820" y="1595"/>
                </a:lnTo>
                <a:lnTo>
                  <a:pt x="1817" y="1600"/>
                </a:lnTo>
                <a:lnTo>
                  <a:pt x="1809" y="1607"/>
                </a:lnTo>
                <a:lnTo>
                  <a:pt x="1804" y="341"/>
                </a:lnTo>
                <a:lnTo>
                  <a:pt x="1804" y="340"/>
                </a:lnTo>
                <a:lnTo>
                  <a:pt x="1804" y="338"/>
                </a:lnTo>
                <a:lnTo>
                  <a:pt x="1803" y="320"/>
                </a:lnTo>
                <a:lnTo>
                  <a:pt x="1800" y="302"/>
                </a:lnTo>
                <a:lnTo>
                  <a:pt x="1798" y="286"/>
                </a:lnTo>
                <a:lnTo>
                  <a:pt x="1795" y="268"/>
                </a:lnTo>
                <a:lnTo>
                  <a:pt x="1790" y="252"/>
                </a:lnTo>
                <a:lnTo>
                  <a:pt x="1785" y="236"/>
                </a:lnTo>
                <a:lnTo>
                  <a:pt x="1779" y="220"/>
                </a:lnTo>
                <a:lnTo>
                  <a:pt x="1772" y="205"/>
                </a:lnTo>
                <a:lnTo>
                  <a:pt x="1765" y="190"/>
                </a:lnTo>
                <a:lnTo>
                  <a:pt x="1757" y="175"/>
                </a:lnTo>
                <a:lnTo>
                  <a:pt x="1749" y="161"/>
                </a:lnTo>
                <a:lnTo>
                  <a:pt x="1739" y="148"/>
                </a:lnTo>
                <a:lnTo>
                  <a:pt x="1730" y="134"/>
                </a:lnTo>
                <a:lnTo>
                  <a:pt x="1720" y="122"/>
                </a:lnTo>
                <a:lnTo>
                  <a:pt x="1708" y="109"/>
                </a:lnTo>
                <a:lnTo>
                  <a:pt x="1697" y="97"/>
                </a:lnTo>
                <a:lnTo>
                  <a:pt x="1684" y="87"/>
                </a:lnTo>
                <a:lnTo>
                  <a:pt x="1673" y="76"/>
                </a:lnTo>
                <a:lnTo>
                  <a:pt x="1659" y="66"/>
                </a:lnTo>
                <a:lnTo>
                  <a:pt x="1646" y="56"/>
                </a:lnTo>
                <a:lnTo>
                  <a:pt x="1632" y="48"/>
                </a:lnTo>
                <a:lnTo>
                  <a:pt x="1616" y="40"/>
                </a:lnTo>
                <a:lnTo>
                  <a:pt x="1602" y="33"/>
                </a:lnTo>
                <a:lnTo>
                  <a:pt x="1587" y="26"/>
                </a:lnTo>
                <a:lnTo>
                  <a:pt x="1571" y="20"/>
                </a:lnTo>
                <a:lnTo>
                  <a:pt x="1555" y="14"/>
                </a:lnTo>
                <a:lnTo>
                  <a:pt x="1539" y="9"/>
                </a:lnTo>
                <a:lnTo>
                  <a:pt x="1523" y="6"/>
                </a:lnTo>
                <a:lnTo>
                  <a:pt x="1505" y="3"/>
                </a:lnTo>
                <a:lnTo>
                  <a:pt x="1487" y="1"/>
                </a:lnTo>
                <a:lnTo>
                  <a:pt x="1471" y="0"/>
                </a:lnTo>
                <a:lnTo>
                  <a:pt x="1452" y="0"/>
                </a:lnTo>
                <a:lnTo>
                  <a:pt x="1441" y="0"/>
                </a:lnTo>
                <a:lnTo>
                  <a:pt x="1423" y="1"/>
                </a:lnTo>
                <a:lnTo>
                  <a:pt x="1405" y="2"/>
                </a:lnTo>
                <a:lnTo>
                  <a:pt x="1388" y="6"/>
                </a:lnTo>
                <a:lnTo>
                  <a:pt x="1371" y="9"/>
                </a:lnTo>
                <a:lnTo>
                  <a:pt x="1355" y="13"/>
                </a:lnTo>
                <a:lnTo>
                  <a:pt x="1339" y="19"/>
                </a:lnTo>
                <a:lnTo>
                  <a:pt x="1322" y="25"/>
                </a:lnTo>
                <a:lnTo>
                  <a:pt x="1307" y="30"/>
                </a:lnTo>
                <a:lnTo>
                  <a:pt x="1292" y="39"/>
                </a:lnTo>
                <a:lnTo>
                  <a:pt x="1276" y="47"/>
                </a:lnTo>
                <a:lnTo>
                  <a:pt x="1262" y="56"/>
                </a:lnTo>
                <a:lnTo>
                  <a:pt x="1248" y="66"/>
                </a:lnTo>
                <a:lnTo>
                  <a:pt x="1234" y="76"/>
                </a:lnTo>
                <a:lnTo>
                  <a:pt x="1221" y="87"/>
                </a:lnTo>
                <a:lnTo>
                  <a:pt x="1208" y="98"/>
                </a:lnTo>
                <a:lnTo>
                  <a:pt x="1196" y="111"/>
                </a:lnTo>
                <a:lnTo>
                  <a:pt x="1184" y="124"/>
                </a:lnTo>
                <a:lnTo>
                  <a:pt x="1173" y="138"/>
                </a:lnTo>
                <a:lnTo>
                  <a:pt x="1164" y="151"/>
                </a:lnTo>
                <a:lnTo>
                  <a:pt x="1155" y="166"/>
                </a:lnTo>
                <a:lnTo>
                  <a:pt x="1145" y="180"/>
                </a:lnTo>
                <a:lnTo>
                  <a:pt x="1138" y="196"/>
                </a:lnTo>
                <a:lnTo>
                  <a:pt x="1130" y="211"/>
                </a:lnTo>
                <a:lnTo>
                  <a:pt x="1124" y="227"/>
                </a:lnTo>
                <a:lnTo>
                  <a:pt x="1118" y="243"/>
                </a:lnTo>
                <a:lnTo>
                  <a:pt x="1114" y="259"/>
                </a:lnTo>
                <a:lnTo>
                  <a:pt x="1110" y="275"/>
                </a:lnTo>
                <a:lnTo>
                  <a:pt x="1106" y="292"/>
                </a:lnTo>
                <a:lnTo>
                  <a:pt x="1104" y="309"/>
                </a:lnTo>
                <a:lnTo>
                  <a:pt x="1103" y="326"/>
                </a:lnTo>
                <a:lnTo>
                  <a:pt x="1102" y="343"/>
                </a:lnTo>
                <a:lnTo>
                  <a:pt x="1102" y="361"/>
                </a:lnTo>
                <a:lnTo>
                  <a:pt x="1119" y="1965"/>
                </a:lnTo>
                <a:lnTo>
                  <a:pt x="1118" y="2105"/>
                </a:lnTo>
                <a:lnTo>
                  <a:pt x="1116" y="2231"/>
                </a:lnTo>
                <a:lnTo>
                  <a:pt x="1112" y="2342"/>
                </a:lnTo>
                <a:lnTo>
                  <a:pt x="1108" y="2438"/>
                </a:lnTo>
                <a:lnTo>
                  <a:pt x="1101" y="2519"/>
                </a:lnTo>
                <a:lnTo>
                  <a:pt x="1096" y="2554"/>
                </a:lnTo>
                <a:lnTo>
                  <a:pt x="1092" y="2586"/>
                </a:lnTo>
                <a:lnTo>
                  <a:pt x="1088" y="2614"/>
                </a:lnTo>
                <a:lnTo>
                  <a:pt x="1082" y="2637"/>
                </a:lnTo>
                <a:lnTo>
                  <a:pt x="1077" y="2659"/>
                </a:lnTo>
                <a:lnTo>
                  <a:pt x="1071" y="2675"/>
                </a:lnTo>
                <a:lnTo>
                  <a:pt x="1054" y="2662"/>
                </a:lnTo>
                <a:lnTo>
                  <a:pt x="577" y="2287"/>
                </a:lnTo>
                <a:lnTo>
                  <a:pt x="552" y="2268"/>
                </a:lnTo>
                <a:lnTo>
                  <a:pt x="526" y="2252"/>
                </a:lnTo>
                <a:lnTo>
                  <a:pt x="499" y="2238"/>
                </a:lnTo>
                <a:lnTo>
                  <a:pt x="471" y="2226"/>
                </a:lnTo>
                <a:lnTo>
                  <a:pt x="442" y="2217"/>
                </a:lnTo>
                <a:lnTo>
                  <a:pt x="413" y="2211"/>
                </a:lnTo>
                <a:lnTo>
                  <a:pt x="382" y="2206"/>
                </a:lnTo>
                <a:lnTo>
                  <a:pt x="352" y="2205"/>
                </a:lnTo>
                <a:lnTo>
                  <a:pt x="332" y="2205"/>
                </a:lnTo>
                <a:lnTo>
                  <a:pt x="313" y="2207"/>
                </a:lnTo>
                <a:lnTo>
                  <a:pt x="294" y="2210"/>
                </a:lnTo>
                <a:lnTo>
                  <a:pt x="275" y="2213"/>
                </a:lnTo>
                <a:lnTo>
                  <a:pt x="257" y="2218"/>
                </a:lnTo>
                <a:lnTo>
                  <a:pt x="239" y="2224"/>
                </a:lnTo>
                <a:lnTo>
                  <a:pt x="220" y="2229"/>
                </a:lnTo>
                <a:lnTo>
                  <a:pt x="204" y="2238"/>
                </a:lnTo>
                <a:lnTo>
                  <a:pt x="186" y="2246"/>
                </a:lnTo>
                <a:lnTo>
                  <a:pt x="170" y="2255"/>
                </a:lnTo>
                <a:lnTo>
                  <a:pt x="153" y="2266"/>
                </a:lnTo>
                <a:lnTo>
                  <a:pt x="138" y="2276"/>
                </a:lnTo>
                <a:lnTo>
                  <a:pt x="124" y="2288"/>
                </a:lnTo>
                <a:lnTo>
                  <a:pt x="109" y="2301"/>
                </a:lnTo>
                <a:lnTo>
                  <a:pt x="96" y="2315"/>
                </a:lnTo>
                <a:lnTo>
                  <a:pt x="83" y="2329"/>
                </a:lnTo>
                <a:lnTo>
                  <a:pt x="73" y="2343"/>
                </a:lnTo>
                <a:lnTo>
                  <a:pt x="62" y="2357"/>
                </a:lnTo>
                <a:lnTo>
                  <a:pt x="53" y="2371"/>
                </a:lnTo>
                <a:lnTo>
                  <a:pt x="43" y="2387"/>
                </a:lnTo>
                <a:lnTo>
                  <a:pt x="36" y="2402"/>
                </a:lnTo>
                <a:lnTo>
                  <a:pt x="28" y="2417"/>
                </a:lnTo>
                <a:lnTo>
                  <a:pt x="22" y="2432"/>
                </a:lnTo>
                <a:lnTo>
                  <a:pt x="16" y="2449"/>
                </a:lnTo>
                <a:lnTo>
                  <a:pt x="12" y="2465"/>
                </a:lnTo>
                <a:lnTo>
                  <a:pt x="8" y="2482"/>
                </a:lnTo>
                <a:lnTo>
                  <a:pt x="5" y="2499"/>
                </a:lnTo>
                <a:lnTo>
                  <a:pt x="2" y="2516"/>
                </a:lnTo>
                <a:lnTo>
                  <a:pt x="1" y="2533"/>
                </a:lnTo>
                <a:lnTo>
                  <a:pt x="0" y="2551"/>
                </a:lnTo>
                <a:lnTo>
                  <a:pt x="0" y="2567"/>
                </a:lnTo>
                <a:lnTo>
                  <a:pt x="1" y="2585"/>
                </a:lnTo>
                <a:lnTo>
                  <a:pt x="3" y="2602"/>
                </a:lnTo>
                <a:lnTo>
                  <a:pt x="6" y="2620"/>
                </a:lnTo>
                <a:lnTo>
                  <a:pt x="9" y="2636"/>
                </a:lnTo>
                <a:lnTo>
                  <a:pt x="14" y="2654"/>
                </a:lnTo>
                <a:lnTo>
                  <a:pt x="19" y="2670"/>
                </a:lnTo>
                <a:lnTo>
                  <a:pt x="25" y="2685"/>
                </a:lnTo>
                <a:lnTo>
                  <a:pt x="32" y="2702"/>
                </a:lnTo>
                <a:lnTo>
                  <a:pt x="39" y="2717"/>
                </a:lnTo>
                <a:lnTo>
                  <a:pt x="47" y="2732"/>
                </a:lnTo>
                <a:lnTo>
                  <a:pt x="56" y="2746"/>
                </a:lnTo>
                <a:lnTo>
                  <a:pt x="66" y="2760"/>
                </a:lnTo>
                <a:lnTo>
                  <a:pt x="76" y="2775"/>
                </a:lnTo>
                <a:lnTo>
                  <a:pt x="87" y="2787"/>
                </a:lnTo>
                <a:lnTo>
                  <a:pt x="98" y="2800"/>
                </a:lnTo>
                <a:lnTo>
                  <a:pt x="111" y="2812"/>
                </a:lnTo>
                <a:lnTo>
                  <a:pt x="124" y="2824"/>
                </a:lnTo>
                <a:lnTo>
                  <a:pt x="948" y="3520"/>
                </a:lnTo>
                <a:lnTo>
                  <a:pt x="985" y="3582"/>
                </a:lnTo>
                <a:lnTo>
                  <a:pt x="1021" y="3641"/>
                </a:lnTo>
                <a:lnTo>
                  <a:pt x="1058" y="3696"/>
                </a:lnTo>
                <a:lnTo>
                  <a:pt x="1095" y="3747"/>
                </a:lnTo>
                <a:lnTo>
                  <a:pt x="1131" y="3794"/>
                </a:lnTo>
                <a:lnTo>
                  <a:pt x="1167" y="3839"/>
                </a:lnTo>
                <a:lnTo>
                  <a:pt x="1203" y="3880"/>
                </a:lnTo>
                <a:lnTo>
                  <a:pt x="1237" y="3916"/>
                </a:lnTo>
                <a:lnTo>
                  <a:pt x="1271" y="3950"/>
                </a:lnTo>
                <a:lnTo>
                  <a:pt x="1302" y="3982"/>
                </a:lnTo>
                <a:lnTo>
                  <a:pt x="1332" y="4009"/>
                </a:lnTo>
                <a:lnTo>
                  <a:pt x="1361" y="4035"/>
                </a:lnTo>
                <a:lnTo>
                  <a:pt x="1387" y="4056"/>
                </a:lnTo>
                <a:lnTo>
                  <a:pt x="1411" y="4076"/>
                </a:lnTo>
                <a:lnTo>
                  <a:pt x="1452" y="4106"/>
                </a:lnTo>
                <a:lnTo>
                  <a:pt x="1456" y="4472"/>
                </a:lnTo>
                <a:lnTo>
                  <a:pt x="1457" y="4570"/>
                </a:lnTo>
                <a:lnTo>
                  <a:pt x="3111" y="4570"/>
                </a:lnTo>
                <a:lnTo>
                  <a:pt x="3112" y="4473"/>
                </a:lnTo>
                <a:lnTo>
                  <a:pt x="3119" y="4086"/>
                </a:lnTo>
                <a:lnTo>
                  <a:pt x="3606" y="2552"/>
                </a:lnTo>
                <a:lnTo>
                  <a:pt x="3607" y="2549"/>
                </a:lnTo>
                <a:lnTo>
                  <a:pt x="3607" y="2546"/>
                </a:lnTo>
                <a:lnTo>
                  <a:pt x="3620" y="2498"/>
                </a:lnTo>
                <a:lnTo>
                  <a:pt x="3642" y="2408"/>
                </a:lnTo>
                <a:lnTo>
                  <a:pt x="3653" y="2365"/>
                </a:lnTo>
                <a:lnTo>
                  <a:pt x="3662" y="2324"/>
                </a:lnTo>
                <a:lnTo>
                  <a:pt x="3669" y="2285"/>
                </a:lnTo>
                <a:lnTo>
                  <a:pt x="3674" y="2247"/>
                </a:lnTo>
                <a:lnTo>
                  <a:pt x="3677" y="2211"/>
                </a:lnTo>
                <a:lnTo>
                  <a:pt x="3678" y="2177"/>
                </a:lnTo>
                <a:lnTo>
                  <a:pt x="3677" y="2160"/>
                </a:lnTo>
                <a:lnTo>
                  <a:pt x="3676" y="2144"/>
                </a:lnTo>
                <a:lnTo>
                  <a:pt x="3674" y="2127"/>
                </a:lnTo>
                <a:lnTo>
                  <a:pt x="3670" y="2112"/>
                </a:lnTo>
                <a:lnTo>
                  <a:pt x="3667" y="2098"/>
                </a:lnTo>
                <a:lnTo>
                  <a:pt x="3662" y="2083"/>
                </a:lnTo>
                <a:lnTo>
                  <a:pt x="3656" y="2069"/>
                </a:lnTo>
                <a:lnTo>
                  <a:pt x="3650" y="2055"/>
                </a:lnTo>
                <a:lnTo>
                  <a:pt x="3642" y="2042"/>
                </a:lnTo>
                <a:lnTo>
                  <a:pt x="3634" y="2029"/>
                </a:lnTo>
                <a:lnTo>
                  <a:pt x="3624" y="2017"/>
                </a:lnTo>
                <a:lnTo>
                  <a:pt x="3614" y="2004"/>
                </a:lnTo>
                <a:lnTo>
                  <a:pt x="3601" y="1993"/>
                </a:lnTo>
                <a:lnTo>
                  <a:pt x="3588" y="1982"/>
                </a:lnTo>
                <a:lnTo>
                  <a:pt x="3574" y="1972"/>
                </a:lnTo>
                <a:lnTo>
                  <a:pt x="3559" y="1961"/>
                </a:lnTo>
                <a:close/>
              </a:path>
            </a:pathLst>
          </a:custGeom>
          <a:noFill/>
          <a:ln w="53975">
            <a:solidFill>
              <a:schemeClr val="bg1"/>
            </a:solidFill>
          </a:ln>
        </p:spPr>
        <p:txBody>
          <a:bodyPr tIns="360000" rIns="18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endParaRPr lang="zh-CN" altLang="en-US">
              <a:solidFill>
                <a:srgbClr val="FFFFFF"/>
              </a:solidFill>
            </a:endParaRPr>
          </a:p>
        </p:txBody>
      </p:sp>
      <p:sp>
        <p:nvSpPr>
          <p:cNvPr id="20" name="矩形 19"/>
          <p:cNvSpPr/>
          <p:nvPr/>
        </p:nvSpPr>
        <p:spPr>
          <a:xfrm>
            <a:off x="1151999" y="1862044"/>
            <a:ext cx="1620957" cy="523220"/>
          </a:xfrm>
          <a:prstGeom prst="rect">
            <a:avLst/>
          </a:prstGeom>
        </p:spPr>
        <p:txBody>
          <a:bodyPr wrap="none">
            <a:spAutoFit/>
          </a:bodyPr>
          <a:lstStyle/>
          <a:p>
            <a:pPr marL="0" marR="0" lvl="0" indent="0" algn="ctr" defTabSz="914400" rtl="0" eaLnBrk="1" fontAlgn="auto" latinLnBrk="0" hangingPunct="1">
              <a:lnSpc>
                <a:spcPct val="100000"/>
              </a:lnSpc>
              <a:spcBef>
                <a:spcPct val="20000"/>
              </a:spcBef>
              <a:spcAft>
                <a:spcPts val="0"/>
              </a:spcAft>
              <a:buClrTx/>
              <a:buSzTx/>
              <a:buFontTx/>
              <a:buNone/>
              <a:defRPr/>
            </a:pPr>
            <a:r>
              <a:rPr lang="zh-CN" altLang="en-US" sz="2800" b="1" kern="0" dirty="0">
                <a:solidFill>
                  <a:schemeClr val="bg1"/>
                </a:solidFill>
                <a:latin typeface="微软雅黑" panose="020B0503020204020204" pitchFamily="34" charset="-122"/>
                <a:ea typeface="微软雅黑" panose="020B0503020204020204" pitchFamily="34" charset="-122"/>
              </a:rPr>
              <a:t>项目总结</a:t>
            </a:r>
            <a:endPar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连接符 21"/>
          <p:cNvCxnSpPr/>
          <p:nvPr/>
        </p:nvCxnSpPr>
        <p:spPr>
          <a:xfrm>
            <a:off x="1417320" y="2560320"/>
            <a:ext cx="74676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382571" y="5837288"/>
            <a:ext cx="1669047"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2800" b="1" kern="0" dirty="0">
                <a:solidFill>
                  <a:schemeClr val="bg1"/>
                </a:solidFill>
                <a:latin typeface="微软雅黑" panose="020B0503020204020204" pitchFamily="34" charset="-122"/>
                <a:ea typeface="微软雅黑" panose="020B0503020204020204" pitchFamily="34" charset="-122"/>
              </a:rPr>
              <a:t>项目不足</a:t>
            </a:r>
            <a:endPar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4" name="KSO_Shape"/>
          <p:cNvSpPr/>
          <p:nvPr/>
        </p:nvSpPr>
        <p:spPr bwMode="auto">
          <a:xfrm>
            <a:off x="8407227" y="5577799"/>
            <a:ext cx="505164" cy="823859"/>
          </a:xfrm>
          <a:custGeom>
            <a:avLst/>
            <a:gdLst>
              <a:gd name="T0" fmla="*/ 953144 w 3315"/>
              <a:gd name="T1" fmla="*/ 322 h 5921"/>
              <a:gd name="T2" fmla="*/ 934480 w 3315"/>
              <a:gd name="T3" fmla="*/ 322 h 5921"/>
              <a:gd name="T4" fmla="*/ 916782 w 3315"/>
              <a:gd name="T5" fmla="*/ 3217 h 5921"/>
              <a:gd name="T6" fmla="*/ 900048 w 3315"/>
              <a:gd name="T7" fmla="*/ 8365 h 5921"/>
              <a:gd name="T8" fmla="*/ 883959 w 3315"/>
              <a:gd name="T9" fmla="*/ 16409 h 5921"/>
              <a:gd name="T10" fmla="*/ 869478 w 3315"/>
              <a:gd name="T11" fmla="*/ 26061 h 5921"/>
              <a:gd name="T12" fmla="*/ 856607 w 3315"/>
              <a:gd name="T13" fmla="*/ 37965 h 5921"/>
              <a:gd name="T14" fmla="*/ 845344 w 3315"/>
              <a:gd name="T15" fmla="*/ 51478 h 5921"/>
              <a:gd name="T16" fmla="*/ 836334 w 3315"/>
              <a:gd name="T17" fmla="*/ 66599 h 5921"/>
              <a:gd name="T18" fmla="*/ 829576 w 3315"/>
              <a:gd name="T19" fmla="*/ 83651 h 5921"/>
              <a:gd name="T20" fmla="*/ 824749 w 3315"/>
              <a:gd name="T21" fmla="*/ 101347 h 5921"/>
              <a:gd name="T22" fmla="*/ 730465 w 3315"/>
              <a:gd name="T23" fmla="*/ 638968 h 5921"/>
              <a:gd name="T24" fmla="*/ 667072 w 3315"/>
              <a:gd name="T25" fmla="*/ 101347 h 5921"/>
              <a:gd name="T26" fmla="*/ 662889 w 3315"/>
              <a:gd name="T27" fmla="*/ 83651 h 5921"/>
              <a:gd name="T28" fmla="*/ 656131 w 3315"/>
              <a:gd name="T29" fmla="*/ 66599 h 5921"/>
              <a:gd name="T30" fmla="*/ 646799 w 3315"/>
              <a:gd name="T31" fmla="*/ 51478 h 5921"/>
              <a:gd name="T32" fmla="*/ 635858 w 3315"/>
              <a:gd name="T33" fmla="*/ 37965 h 5921"/>
              <a:gd name="T34" fmla="*/ 622987 w 3315"/>
              <a:gd name="T35" fmla="*/ 26061 h 5921"/>
              <a:gd name="T36" fmla="*/ 608184 w 3315"/>
              <a:gd name="T37" fmla="*/ 16409 h 5921"/>
              <a:gd name="T38" fmla="*/ 592417 w 3315"/>
              <a:gd name="T39" fmla="*/ 8365 h 5921"/>
              <a:gd name="T40" fmla="*/ 575683 w 3315"/>
              <a:gd name="T41" fmla="*/ 3217 h 5921"/>
              <a:gd name="T42" fmla="*/ 557985 w 3315"/>
              <a:gd name="T43" fmla="*/ 322 h 5921"/>
              <a:gd name="T44" fmla="*/ 539321 w 3315"/>
              <a:gd name="T45" fmla="*/ 322 h 5921"/>
              <a:gd name="T46" fmla="*/ 526771 w 3315"/>
              <a:gd name="T47" fmla="*/ 1609 h 5921"/>
              <a:gd name="T48" fmla="*/ 509395 w 3315"/>
              <a:gd name="T49" fmla="*/ 6113 h 5921"/>
              <a:gd name="T50" fmla="*/ 492340 w 3315"/>
              <a:gd name="T51" fmla="*/ 12869 h 5921"/>
              <a:gd name="T52" fmla="*/ 477216 w 3315"/>
              <a:gd name="T53" fmla="*/ 21878 h 5921"/>
              <a:gd name="T54" fmla="*/ 463700 w 3315"/>
              <a:gd name="T55" fmla="*/ 33139 h 5921"/>
              <a:gd name="T56" fmla="*/ 451794 w 3315"/>
              <a:gd name="T57" fmla="*/ 46330 h 5921"/>
              <a:gd name="T58" fmla="*/ 441819 w 3315"/>
              <a:gd name="T59" fmla="*/ 60808 h 5921"/>
              <a:gd name="T60" fmla="*/ 434096 w 3315"/>
              <a:gd name="T61" fmla="*/ 76573 h 5921"/>
              <a:gd name="T62" fmla="*/ 428625 w 3315"/>
              <a:gd name="T63" fmla="*/ 93303 h 5921"/>
              <a:gd name="T64" fmla="*/ 426051 w 3315"/>
              <a:gd name="T65" fmla="*/ 111321 h 5921"/>
              <a:gd name="T66" fmla="*/ 425729 w 3315"/>
              <a:gd name="T67" fmla="*/ 129660 h 5921"/>
              <a:gd name="T68" fmla="*/ 120993 w 3315"/>
              <a:gd name="T69" fmla="*/ 639933 h 5921"/>
              <a:gd name="T70" fmla="*/ 108765 w 3315"/>
              <a:gd name="T71" fmla="*/ 640577 h 5921"/>
              <a:gd name="T72" fmla="*/ 90745 w 3315"/>
              <a:gd name="T73" fmla="*/ 643472 h 5921"/>
              <a:gd name="T74" fmla="*/ 74012 w 3315"/>
              <a:gd name="T75" fmla="*/ 649264 h 5921"/>
              <a:gd name="T76" fmla="*/ 58244 w 3315"/>
              <a:gd name="T77" fmla="*/ 657307 h 5921"/>
              <a:gd name="T78" fmla="*/ 44085 w 3315"/>
              <a:gd name="T79" fmla="*/ 667603 h 5921"/>
              <a:gd name="T80" fmla="*/ 31535 w 3315"/>
              <a:gd name="T81" fmla="*/ 679507 h 5921"/>
              <a:gd name="T82" fmla="*/ 20916 w 3315"/>
              <a:gd name="T83" fmla="*/ 693341 h 5921"/>
              <a:gd name="T84" fmla="*/ 11906 w 3315"/>
              <a:gd name="T85" fmla="*/ 708141 h 5921"/>
              <a:gd name="T86" fmla="*/ 5470 w 3315"/>
              <a:gd name="T87" fmla="*/ 724872 h 5921"/>
              <a:gd name="T88" fmla="*/ 1609 w 3315"/>
              <a:gd name="T89" fmla="*/ 742245 h 5921"/>
              <a:gd name="T90" fmla="*/ 0 w 3315"/>
              <a:gd name="T91" fmla="*/ 760584 h 5921"/>
              <a:gd name="T92" fmla="*/ 155747 w 3315"/>
              <a:gd name="T93" fmla="*/ 1905000 h 5921"/>
              <a:gd name="T94" fmla="*/ 866260 w 3315"/>
              <a:gd name="T95" fmla="*/ 1631846 h 5921"/>
              <a:gd name="T96" fmla="*/ 1066092 w 3315"/>
              <a:gd name="T97" fmla="*/ 136094 h 5921"/>
              <a:gd name="T98" fmla="*/ 1066736 w 3315"/>
              <a:gd name="T99" fmla="*/ 123547 h 5921"/>
              <a:gd name="T100" fmla="*/ 1065771 w 3315"/>
              <a:gd name="T101" fmla="*/ 105208 h 5921"/>
              <a:gd name="T102" fmla="*/ 1061909 w 3315"/>
              <a:gd name="T103" fmla="*/ 87512 h 5921"/>
              <a:gd name="T104" fmla="*/ 1055795 w 3315"/>
              <a:gd name="T105" fmla="*/ 71104 h 5921"/>
              <a:gd name="T106" fmla="*/ 1047429 w 3315"/>
              <a:gd name="T107" fmla="*/ 55982 h 5921"/>
              <a:gd name="T108" fmla="*/ 1036809 w 3315"/>
              <a:gd name="T109" fmla="*/ 41504 h 5921"/>
              <a:gd name="T110" fmla="*/ 1024260 w 3315"/>
              <a:gd name="T111" fmla="*/ 29600 h 5921"/>
              <a:gd name="T112" fmla="*/ 1010101 w 3315"/>
              <a:gd name="T113" fmla="*/ 18982 h 5921"/>
              <a:gd name="T114" fmla="*/ 994655 w 3315"/>
              <a:gd name="T115" fmla="*/ 10617 h 5921"/>
              <a:gd name="T116" fmla="*/ 977278 w 3315"/>
              <a:gd name="T117" fmla="*/ 4504 h 5921"/>
              <a:gd name="T118" fmla="*/ 959258 w 3315"/>
              <a:gd name="T119" fmla="*/ 643 h 592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315" h="5921">
                <a:moveTo>
                  <a:pt x="2981" y="2"/>
                </a:moveTo>
                <a:lnTo>
                  <a:pt x="2981" y="2"/>
                </a:lnTo>
                <a:lnTo>
                  <a:pt x="2962" y="1"/>
                </a:lnTo>
                <a:lnTo>
                  <a:pt x="2942" y="0"/>
                </a:lnTo>
                <a:lnTo>
                  <a:pt x="2923" y="0"/>
                </a:lnTo>
                <a:lnTo>
                  <a:pt x="2904" y="1"/>
                </a:lnTo>
                <a:lnTo>
                  <a:pt x="2886" y="3"/>
                </a:lnTo>
                <a:lnTo>
                  <a:pt x="2867" y="6"/>
                </a:lnTo>
                <a:lnTo>
                  <a:pt x="2849" y="10"/>
                </a:lnTo>
                <a:lnTo>
                  <a:pt x="2831" y="15"/>
                </a:lnTo>
                <a:lnTo>
                  <a:pt x="2813" y="20"/>
                </a:lnTo>
                <a:lnTo>
                  <a:pt x="2797" y="26"/>
                </a:lnTo>
                <a:lnTo>
                  <a:pt x="2780" y="34"/>
                </a:lnTo>
                <a:lnTo>
                  <a:pt x="2763" y="42"/>
                </a:lnTo>
                <a:lnTo>
                  <a:pt x="2747" y="51"/>
                </a:lnTo>
                <a:lnTo>
                  <a:pt x="2731" y="60"/>
                </a:lnTo>
                <a:lnTo>
                  <a:pt x="2717" y="71"/>
                </a:lnTo>
                <a:lnTo>
                  <a:pt x="2702" y="81"/>
                </a:lnTo>
                <a:lnTo>
                  <a:pt x="2688" y="93"/>
                </a:lnTo>
                <a:lnTo>
                  <a:pt x="2675" y="105"/>
                </a:lnTo>
                <a:lnTo>
                  <a:pt x="2662" y="118"/>
                </a:lnTo>
                <a:lnTo>
                  <a:pt x="2649" y="131"/>
                </a:lnTo>
                <a:lnTo>
                  <a:pt x="2638" y="145"/>
                </a:lnTo>
                <a:lnTo>
                  <a:pt x="2627" y="160"/>
                </a:lnTo>
                <a:lnTo>
                  <a:pt x="2617" y="176"/>
                </a:lnTo>
                <a:lnTo>
                  <a:pt x="2607" y="191"/>
                </a:lnTo>
                <a:lnTo>
                  <a:pt x="2599" y="207"/>
                </a:lnTo>
                <a:lnTo>
                  <a:pt x="2591" y="224"/>
                </a:lnTo>
                <a:lnTo>
                  <a:pt x="2584" y="242"/>
                </a:lnTo>
                <a:lnTo>
                  <a:pt x="2578" y="260"/>
                </a:lnTo>
                <a:lnTo>
                  <a:pt x="2572" y="278"/>
                </a:lnTo>
                <a:lnTo>
                  <a:pt x="2567" y="297"/>
                </a:lnTo>
                <a:lnTo>
                  <a:pt x="2563" y="315"/>
                </a:lnTo>
                <a:lnTo>
                  <a:pt x="2561" y="334"/>
                </a:lnTo>
                <a:lnTo>
                  <a:pt x="2368" y="1986"/>
                </a:lnTo>
                <a:lnTo>
                  <a:pt x="2270" y="1986"/>
                </a:lnTo>
                <a:lnTo>
                  <a:pt x="2077" y="334"/>
                </a:lnTo>
                <a:lnTo>
                  <a:pt x="2073" y="315"/>
                </a:lnTo>
                <a:lnTo>
                  <a:pt x="2070" y="297"/>
                </a:lnTo>
                <a:lnTo>
                  <a:pt x="2066" y="278"/>
                </a:lnTo>
                <a:lnTo>
                  <a:pt x="2060" y="260"/>
                </a:lnTo>
                <a:lnTo>
                  <a:pt x="2053" y="242"/>
                </a:lnTo>
                <a:lnTo>
                  <a:pt x="2046" y="224"/>
                </a:lnTo>
                <a:lnTo>
                  <a:pt x="2039" y="207"/>
                </a:lnTo>
                <a:lnTo>
                  <a:pt x="2030" y="191"/>
                </a:lnTo>
                <a:lnTo>
                  <a:pt x="2021" y="176"/>
                </a:lnTo>
                <a:lnTo>
                  <a:pt x="2010" y="160"/>
                </a:lnTo>
                <a:lnTo>
                  <a:pt x="1999" y="145"/>
                </a:lnTo>
                <a:lnTo>
                  <a:pt x="1987" y="131"/>
                </a:lnTo>
                <a:lnTo>
                  <a:pt x="1976" y="118"/>
                </a:lnTo>
                <a:lnTo>
                  <a:pt x="1963" y="105"/>
                </a:lnTo>
                <a:lnTo>
                  <a:pt x="1949" y="93"/>
                </a:lnTo>
                <a:lnTo>
                  <a:pt x="1936" y="81"/>
                </a:lnTo>
                <a:lnTo>
                  <a:pt x="1921" y="71"/>
                </a:lnTo>
                <a:lnTo>
                  <a:pt x="1906" y="60"/>
                </a:lnTo>
                <a:lnTo>
                  <a:pt x="1890" y="51"/>
                </a:lnTo>
                <a:lnTo>
                  <a:pt x="1875" y="42"/>
                </a:lnTo>
                <a:lnTo>
                  <a:pt x="1858" y="34"/>
                </a:lnTo>
                <a:lnTo>
                  <a:pt x="1841" y="26"/>
                </a:lnTo>
                <a:lnTo>
                  <a:pt x="1824" y="20"/>
                </a:lnTo>
                <a:lnTo>
                  <a:pt x="1806" y="15"/>
                </a:lnTo>
                <a:lnTo>
                  <a:pt x="1789" y="10"/>
                </a:lnTo>
                <a:lnTo>
                  <a:pt x="1771" y="6"/>
                </a:lnTo>
                <a:lnTo>
                  <a:pt x="1752" y="3"/>
                </a:lnTo>
                <a:lnTo>
                  <a:pt x="1734" y="1"/>
                </a:lnTo>
                <a:lnTo>
                  <a:pt x="1715" y="0"/>
                </a:lnTo>
                <a:lnTo>
                  <a:pt x="1695" y="0"/>
                </a:lnTo>
                <a:lnTo>
                  <a:pt x="1676" y="1"/>
                </a:lnTo>
                <a:lnTo>
                  <a:pt x="1657" y="2"/>
                </a:lnTo>
                <a:lnTo>
                  <a:pt x="1637" y="5"/>
                </a:lnTo>
                <a:lnTo>
                  <a:pt x="1618" y="9"/>
                </a:lnTo>
                <a:lnTo>
                  <a:pt x="1600" y="14"/>
                </a:lnTo>
                <a:lnTo>
                  <a:pt x="1583" y="19"/>
                </a:lnTo>
                <a:lnTo>
                  <a:pt x="1565" y="25"/>
                </a:lnTo>
                <a:lnTo>
                  <a:pt x="1547" y="33"/>
                </a:lnTo>
                <a:lnTo>
                  <a:pt x="1530" y="40"/>
                </a:lnTo>
                <a:lnTo>
                  <a:pt x="1514" y="50"/>
                </a:lnTo>
                <a:lnTo>
                  <a:pt x="1498" y="59"/>
                </a:lnTo>
                <a:lnTo>
                  <a:pt x="1483" y="68"/>
                </a:lnTo>
                <a:lnTo>
                  <a:pt x="1468" y="80"/>
                </a:lnTo>
                <a:lnTo>
                  <a:pt x="1454" y="92"/>
                </a:lnTo>
                <a:lnTo>
                  <a:pt x="1441" y="103"/>
                </a:lnTo>
                <a:lnTo>
                  <a:pt x="1428" y="117"/>
                </a:lnTo>
                <a:lnTo>
                  <a:pt x="1415" y="129"/>
                </a:lnTo>
                <a:lnTo>
                  <a:pt x="1404" y="144"/>
                </a:lnTo>
                <a:lnTo>
                  <a:pt x="1393" y="158"/>
                </a:lnTo>
                <a:lnTo>
                  <a:pt x="1383" y="174"/>
                </a:lnTo>
                <a:lnTo>
                  <a:pt x="1373" y="189"/>
                </a:lnTo>
                <a:lnTo>
                  <a:pt x="1365" y="205"/>
                </a:lnTo>
                <a:lnTo>
                  <a:pt x="1356" y="221"/>
                </a:lnTo>
                <a:lnTo>
                  <a:pt x="1349" y="238"/>
                </a:lnTo>
                <a:lnTo>
                  <a:pt x="1343" y="256"/>
                </a:lnTo>
                <a:lnTo>
                  <a:pt x="1338" y="272"/>
                </a:lnTo>
                <a:lnTo>
                  <a:pt x="1332" y="290"/>
                </a:lnTo>
                <a:lnTo>
                  <a:pt x="1329" y="309"/>
                </a:lnTo>
                <a:lnTo>
                  <a:pt x="1326" y="327"/>
                </a:lnTo>
                <a:lnTo>
                  <a:pt x="1324" y="346"/>
                </a:lnTo>
                <a:lnTo>
                  <a:pt x="1323" y="365"/>
                </a:lnTo>
                <a:lnTo>
                  <a:pt x="1323" y="384"/>
                </a:lnTo>
                <a:lnTo>
                  <a:pt x="1323" y="403"/>
                </a:lnTo>
                <a:lnTo>
                  <a:pt x="1325" y="423"/>
                </a:lnTo>
                <a:lnTo>
                  <a:pt x="1508" y="1987"/>
                </a:lnTo>
                <a:lnTo>
                  <a:pt x="376" y="1989"/>
                </a:lnTo>
                <a:lnTo>
                  <a:pt x="357" y="1990"/>
                </a:lnTo>
                <a:lnTo>
                  <a:pt x="338" y="1991"/>
                </a:lnTo>
                <a:lnTo>
                  <a:pt x="319" y="1993"/>
                </a:lnTo>
                <a:lnTo>
                  <a:pt x="300" y="1996"/>
                </a:lnTo>
                <a:lnTo>
                  <a:pt x="282" y="2000"/>
                </a:lnTo>
                <a:lnTo>
                  <a:pt x="264" y="2006"/>
                </a:lnTo>
                <a:lnTo>
                  <a:pt x="246" y="2012"/>
                </a:lnTo>
                <a:lnTo>
                  <a:pt x="230" y="2018"/>
                </a:lnTo>
                <a:lnTo>
                  <a:pt x="213" y="2025"/>
                </a:lnTo>
                <a:lnTo>
                  <a:pt x="197" y="2034"/>
                </a:lnTo>
                <a:lnTo>
                  <a:pt x="181" y="2043"/>
                </a:lnTo>
                <a:lnTo>
                  <a:pt x="165" y="2053"/>
                </a:lnTo>
                <a:lnTo>
                  <a:pt x="151" y="2063"/>
                </a:lnTo>
                <a:lnTo>
                  <a:pt x="137" y="2075"/>
                </a:lnTo>
                <a:lnTo>
                  <a:pt x="123" y="2086"/>
                </a:lnTo>
                <a:lnTo>
                  <a:pt x="111" y="2099"/>
                </a:lnTo>
                <a:lnTo>
                  <a:pt x="98" y="2112"/>
                </a:lnTo>
                <a:lnTo>
                  <a:pt x="86" y="2125"/>
                </a:lnTo>
                <a:lnTo>
                  <a:pt x="75" y="2140"/>
                </a:lnTo>
                <a:lnTo>
                  <a:pt x="65" y="2155"/>
                </a:lnTo>
                <a:lnTo>
                  <a:pt x="55" y="2169"/>
                </a:lnTo>
                <a:lnTo>
                  <a:pt x="46" y="2185"/>
                </a:lnTo>
                <a:lnTo>
                  <a:pt x="37" y="2201"/>
                </a:lnTo>
                <a:lnTo>
                  <a:pt x="30" y="2218"/>
                </a:lnTo>
                <a:lnTo>
                  <a:pt x="24" y="2235"/>
                </a:lnTo>
                <a:lnTo>
                  <a:pt x="17" y="2253"/>
                </a:lnTo>
                <a:lnTo>
                  <a:pt x="12" y="2270"/>
                </a:lnTo>
                <a:lnTo>
                  <a:pt x="8" y="2288"/>
                </a:lnTo>
                <a:lnTo>
                  <a:pt x="5" y="2307"/>
                </a:lnTo>
                <a:lnTo>
                  <a:pt x="3" y="2326"/>
                </a:lnTo>
                <a:lnTo>
                  <a:pt x="0" y="2345"/>
                </a:lnTo>
                <a:lnTo>
                  <a:pt x="0" y="2364"/>
                </a:lnTo>
                <a:lnTo>
                  <a:pt x="0" y="4596"/>
                </a:lnTo>
                <a:lnTo>
                  <a:pt x="484" y="5072"/>
                </a:lnTo>
                <a:lnTo>
                  <a:pt x="484" y="5921"/>
                </a:lnTo>
                <a:lnTo>
                  <a:pt x="2690" y="5921"/>
                </a:lnTo>
                <a:lnTo>
                  <a:pt x="2690" y="5072"/>
                </a:lnTo>
                <a:lnTo>
                  <a:pt x="2692" y="5072"/>
                </a:lnTo>
                <a:lnTo>
                  <a:pt x="3130" y="3574"/>
                </a:lnTo>
                <a:lnTo>
                  <a:pt x="3130" y="1983"/>
                </a:lnTo>
                <a:lnTo>
                  <a:pt x="3313" y="423"/>
                </a:lnTo>
                <a:lnTo>
                  <a:pt x="3315" y="403"/>
                </a:lnTo>
                <a:lnTo>
                  <a:pt x="3315" y="384"/>
                </a:lnTo>
                <a:lnTo>
                  <a:pt x="3315" y="365"/>
                </a:lnTo>
                <a:lnTo>
                  <a:pt x="3314" y="346"/>
                </a:lnTo>
                <a:lnTo>
                  <a:pt x="3312" y="327"/>
                </a:lnTo>
                <a:lnTo>
                  <a:pt x="3309" y="309"/>
                </a:lnTo>
                <a:lnTo>
                  <a:pt x="3304" y="290"/>
                </a:lnTo>
                <a:lnTo>
                  <a:pt x="3300" y="272"/>
                </a:lnTo>
                <a:lnTo>
                  <a:pt x="3295" y="256"/>
                </a:lnTo>
                <a:lnTo>
                  <a:pt x="3289" y="238"/>
                </a:lnTo>
                <a:lnTo>
                  <a:pt x="3281" y="221"/>
                </a:lnTo>
                <a:lnTo>
                  <a:pt x="3273" y="205"/>
                </a:lnTo>
                <a:lnTo>
                  <a:pt x="3264" y="189"/>
                </a:lnTo>
                <a:lnTo>
                  <a:pt x="3255" y="174"/>
                </a:lnTo>
                <a:lnTo>
                  <a:pt x="3244" y="158"/>
                </a:lnTo>
                <a:lnTo>
                  <a:pt x="3234" y="144"/>
                </a:lnTo>
                <a:lnTo>
                  <a:pt x="3222" y="129"/>
                </a:lnTo>
                <a:lnTo>
                  <a:pt x="3210" y="117"/>
                </a:lnTo>
                <a:lnTo>
                  <a:pt x="3197" y="103"/>
                </a:lnTo>
                <a:lnTo>
                  <a:pt x="3183" y="92"/>
                </a:lnTo>
                <a:lnTo>
                  <a:pt x="3170" y="80"/>
                </a:lnTo>
                <a:lnTo>
                  <a:pt x="3155" y="68"/>
                </a:lnTo>
                <a:lnTo>
                  <a:pt x="3139" y="59"/>
                </a:lnTo>
                <a:lnTo>
                  <a:pt x="3124" y="50"/>
                </a:lnTo>
                <a:lnTo>
                  <a:pt x="3108" y="40"/>
                </a:lnTo>
                <a:lnTo>
                  <a:pt x="3091" y="33"/>
                </a:lnTo>
                <a:lnTo>
                  <a:pt x="3073" y="25"/>
                </a:lnTo>
                <a:lnTo>
                  <a:pt x="3055" y="19"/>
                </a:lnTo>
                <a:lnTo>
                  <a:pt x="3037" y="14"/>
                </a:lnTo>
                <a:lnTo>
                  <a:pt x="3019" y="9"/>
                </a:lnTo>
                <a:lnTo>
                  <a:pt x="3001" y="5"/>
                </a:lnTo>
                <a:lnTo>
                  <a:pt x="2981" y="2"/>
                </a:lnTo>
                <a:close/>
              </a:path>
            </a:pathLst>
          </a:custGeom>
          <a:noFill/>
          <a:ln w="53975">
            <a:solidFill>
              <a:srgbClr val="64A3D7"/>
            </a:solidFill>
          </a:ln>
        </p:spPr>
        <p:txBody>
          <a:bodyPr tIns="360000" rIns="18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chemeClr val="accent1">
                  <a:lumMod val="60000"/>
                  <a:lumOff val="40000"/>
                </a:schemeClr>
              </a:solidFill>
            </a:endParaRPr>
          </a:p>
        </p:txBody>
      </p:sp>
      <p:sp>
        <p:nvSpPr>
          <p:cNvPr id="25" name="矩形 24"/>
          <p:cNvSpPr/>
          <p:nvPr/>
        </p:nvSpPr>
        <p:spPr>
          <a:xfrm>
            <a:off x="9152156" y="5781759"/>
            <a:ext cx="1620957" cy="523220"/>
          </a:xfrm>
          <a:prstGeom prst="rect">
            <a:avLst/>
          </a:prstGeom>
        </p:spPr>
        <p:txBody>
          <a:bodyPr wrap="none">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lang="zh-CN" altLang="en-US" sz="2800" b="1" kern="0" dirty="0">
                <a:solidFill>
                  <a:schemeClr val="accent1">
                    <a:lumMod val="60000"/>
                    <a:lumOff val="40000"/>
                  </a:schemeClr>
                </a:solidFill>
                <a:latin typeface="微软雅黑" panose="020B0503020204020204" pitchFamily="34" charset="-122"/>
                <a:ea typeface="微软雅黑" panose="020B0503020204020204" pitchFamily="34" charset="-122"/>
              </a:rPr>
              <a:t>项目期望</a:t>
            </a:r>
            <a:endParaRPr kumimoji="0" lang="zh-CN" altLang="en-US" sz="2800" b="1" i="0" u="none" strike="noStrike" kern="0" cap="none" spc="0" normalizeH="0" baseline="0" noProof="0" dirty="0">
              <a:ln>
                <a:noFill/>
              </a:ln>
              <a:solidFill>
                <a:schemeClr val="accent1">
                  <a:lumMod val="60000"/>
                  <a:lumOff val="40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1831049" y="1855366"/>
            <a:ext cx="8175445" cy="3529890"/>
          </a:xfrm>
          <a:prstGeom prst="rect">
            <a:avLst/>
          </a:prstGeom>
        </p:spPr>
      </p:pic>
      <p:sp>
        <p:nvSpPr>
          <p:cNvPr id="34" name="平行四边形 33"/>
          <p:cNvSpPr/>
          <p:nvPr/>
        </p:nvSpPr>
        <p:spPr>
          <a:xfrm>
            <a:off x="9700192" y="-21822"/>
            <a:ext cx="5520696" cy="6858000"/>
          </a:xfrm>
          <a:prstGeom prst="parallelogram">
            <a:avLst>
              <a:gd name="adj" fmla="val 76100"/>
            </a:avLst>
          </a:prstGeom>
          <a:gradFill>
            <a:gsLst>
              <a:gs pos="0">
                <a:srgbClr val="0070C0"/>
              </a:gs>
              <a:gs pos="100000">
                <a:srgbClr val="002060"/>
              </a:gs>
            </a:gsLst>
            <a:lin ang="2700000" scaled="1"/>
          </a:gradFill>
          <a:ln>
            <a:noFill/>
          </a:ln>
          <a:effectLst>
            <a:outerShdw blurRad="762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4" name="平行四边形 13"/>
          <p:cNvSpPr/>
          <p:nvPr/>
        </p:nvSpPr>
        <p:spPr>
          <a:xfrm>
            <a:off x="-4160345" y="1627322"/>
            <a:ext cx="6973806" cy="5230678"/>
          </a:xfrm>
          <a:prstGeom prst="parallelogram">
            <a:avLst>
              <a:gd name="adj" fmla="val 60655"/>
            </a:avLst>
          </a:prstGeom>
          <a:solidFill>
            <a:srgbClr val="0070C0"/>
          </a:solidFill>
          <a:ln>
            <a:noFill/>
          </a:ln>
          <a:effectLst>
            <a:outerShdw blurRad="508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16" name="三角形 15"/>
          <p:cNvSpPr/>
          <p:nvPr/>
        </p:nvSpPr>
        <p:spPr>
          <a:xfrm>
            <a:off x="2003698" y="1631111"/>
            <a:ext cx="1627559" cy="1337504"/>
          </a:xfrm>
          <a:prstGeom prst="triangle">
            <a:avLst/>
          </a:prstGeom>
          <a:gradFill flip="none" rotWithShape="1">
            <a:gsLst>
              <a:gs pos="0">
                <a:srgbClr val="0070C0"/>
              </a:gs>
              <a:gs pos="100000">
                <a:srgbClr val="00206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30" name="三角形 29"/>
          <p:cNvSpPr/>
          <p:nvPr/>
        </p:nvSpPr>
        <p:spPr>
          <a:xfrm rot="10800000">
            <a:off x="2987725" y="1911477"/>
            <a:ext cx="1266785" cy="1041025"/>
          </a:xfrm>
          <a:prstGeom prst="triangle">
            <a:avLst/>
          </a:prstGeom>
          <a:solidFill>
            <a:srgbClr val="0064C8"/>
          </a:solidFill>
          <a:ln>
            <a:noFill/>
          </a:ln>
          <a:effectLst>
            <a:outerShdw blurRad="762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cxnSp>
        <p:nvCxnSpPr>
          <p:cNvPr id="25" name="直线连接符 24"/>
          <p:cNvCxnSpPr/>
          <p:nvPr/>
        </p:nvCxnSpPr>
        <p:spPr>
          <a:xfrm flipH="1">
            <a:off x="11287970" y="5356368"/>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flipH="1">
            <a:off x="5680255" y="1466983"/>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flipH="1">
            <a:off x="-228600" y="5572016"/>
            <a:ext cx="904030" cy="1501632"/>
          </a:xfrm>
          <a:prstGeom prst="line">
            <a:avLst/>
          </a:prstGeom>
          <a:ln w="25400">
            <a:solidFill>
              <a:srgbClr val="0064C8"/>
            </a:solidFill>
          </a:ln>
        </p:spPr>
        <p:style>
          <a:lnRef idx="1">
            <a:schemeClr val="accent1"/>
          </a:lnRef>
          <a:fillRef idx="0">
            <a:schemeClr val="accent1"/>
          </a:fillRef>
          <a:effectRef idx="0">
            <a:schemeClr val="accent1"/>
          </a:effectRef>
          <a:fontRef idx="minor">
            <a:schemeClr val="tx1"/>
          </a:fontRef>
        </p:style>
      </p:cxnSp>
      <p:sp>
        <p:nvSpPr>
          <p:cNvPr id="57" name="平行四边形 56"/>
          <p:cNvSpPr/>
          <p:nvPr/>
        </p:nvSpPr>
        <p:spPr>
          <a:xfrm>
            <a:off x="-5637890" y="2431990"/>
            <a:ext cx="6973806" cy="5230678"/>
          </a:xfrm>
          <a:prstGeom prst="parallelogram">
            <a:avLst>
              <a:gd name="adj" fmla="val 60655"/>
            </a:avLst>
          </a:prstGeom>
          <a:gradFill flip="none" rotWithShape="1">
            <a:gsLst>
              <a:gs pos="0">
                <a:srgbClr val="0070C0"/>
              </a:gs>
              <a:gs pos="100000">
                <a:srgbClr val="002060"/>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Arial" panose="020B0604020202020204" pitchFamily="34" charset="0"/>
              <a:ea typeface="思源黑体 CN Regular" panose="020B0500000000000000" pitchFamily="34" charset="-122"/>
              <a:cs typeface="+mn-cs"/>
              <a:sym typeface="Arial" panose="020B0604020202020204" pitchFamily="34" charset="0"/>
            </a:endParaRPr>
          </a:p>
        </p:txBody>
      </p:sp>
      <p:sp>
        <p:nvSpPr>
          <p:cNvPr id="22" name="矩形 21"/>
          <p:cNvSpPr/>
          <p:nvPr/>
        </p:nvSpPr>
        <p:spPr>
          <a:xfrm>
            <a:off x="6150473" y="2444140"/>
            <a:ext cx="5284829" cy="1680460"/>
          </a:xfrm>
          <a:prstGeom prst="rect">
            <a:avLst/>
          </a:prstGeom>
          <a:noFill/>
        </p:spPr>
        <p:txBody>
          <a:bodyPr wrap="square">
            <a:spAutoFit/>
          </a:bodyPr>
          <a:lstStyle/>
          <a:p>
            <a:pPr lvl="0" algn="dist">
              <a:lnSpc>
                <a:spcPct val="130000"/>
              </a:lnSpc>
              <a:defRPr/>
            </a:pPr>
            <a:r>
              <a:rPr kumimoji="1" lang="zh-CN" altLang="en-US" sz="8800" b="1" dirty="0">
                <a:solidFill>
                  <a:srgbClr val="00467F"/>
                </a:solidFill>
                <a:latin typeface="微软雅黑" panose="020B0503020204020204" pitchFamily="34" charset="-122"/>
                <a:ea typeface="微软雅黑" panose="020B0503020204020204" pitchFamily="34" charset="-122"/>
                <a:cs typeface="Calibri" panose="020F0502020204030204" pitchFamily="34" charset="0"/>
                <a:sym typeface="+mn-ea"/>
              </a:rPr>
              <a:t>谢谢聆听</a:t>
            </a:r>
            <a:endParaRPr kumimoji="1" lang="zh-CN" altLang="en-US" sz="6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7" name="文本框 16"/>
          <p:cNvSpPr txBox="1"/>
          <p:nvPr/>
        </p:nvSpPr>
        <p:spPr>
          <a:xfrm>
            <a:off x="4691712" y="5061349"/>
            <a:ext cx="35000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2025</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年</a:t>
            </a: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5</a:t>
            </a:r>
            <a:r>
              <a:rPr kumimoji="1" lang="zh-CN" altLang="en-US"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月</a:t>
            </a:r>
            <a:r>
              <a:rPr kumimoji="1" lang="en-US" altLang="zh-CN"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rPr>
              <a:t> May</a:t>
            </a:r>
            <a:r>
              <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rPr>
              <a:t>, 2025</a:t>
            </a:r>
            <a:endParaRPr kumimoji="1" lang="en-US" altLang="zh-CN"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1600" y="1911477"/>
            <a:ext cx="2514152" cy="673296"/>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2.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3.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4.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5.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6.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7.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8.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9.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0.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1.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2.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3.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4.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5.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6.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7.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8.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19.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20.xml><?xml version="1.0" encoding="utf-8"?>
<p:tagLst xmlns:p="http://schemas.openxmlformats.org/presentationml/2006/main">
  <p:tag name="KSO_WM_DIAGRAM_VIRTUALLY_FRAME" val="{&quot;height&quot;:353.6088976377952,&quot;left&quot;:157.72622047244096,&quot;top&quot;:161.25338582677165,&quot;width&quot;:284.3900787401575}"/>
</p:tagLst>
</file>

<file path=ppt/tags/tag21.xml><?xml version="1.0" encoding="utf-8"?>
<p:tagLst xmlns:p="http://schemas.openxmlformats.org/presentationml/2006/main">
  <p:tag name="ISLIDE.VECTOR" val="#308537;#267802;#1842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4239</Words>
  <Application>WPS 演示</Application>
  <PresentationFormat>宽屏</PresentationFormat>
  <Paragraphs>272</Paragraphs>
  <Slides>23</Slides>
  <Notes>8</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23</vt:i4>
      </vt:variant>
    </vt:vector>
  </HeadingPairs>
  <TitlesOfParts>
    <vt:vector size="46" baseType="lpstr">
      <vt:lpstr>Arial</vt:lpstr>
      <vt:lpstr>宋体</vt:lpstr>
      <vt:lpstr>Wingdings</vt:lpstr>
      <vt:lpstr>思源黑体 CN Normal</vt:lpstr>
      <vt:lpstr>Arial</vt:lpstr>
      <vt:lpstr>黑体</vt:lpstr>
      <vt:lpstr>思源黑体 CN Regular</vt:lpstr>
      <vt:lpstr>微软雅黑</vt:lpstr>
      <vt:lpstr>Calibri</vt:lpstr>
      <vt:lpstr>Times New Roman</vt:lpstr>
      <vt:lpstr>等线</vt:lpstr>
      <vt:lpstr>Arial Black</vt:lpstr>
      <vt:lpstr>Palatino</vt:lpstr>
      <vt:lpstr>华文宋体</vt:lpstr>
      <vt:lpstr>Stencil</vt:lpstr>
      <vt:lpstr>Gabriola</vt:lpstr>
      <vt:lpstr>Wingdings</vt:lpstr>
      <vt:lpstr>Cambria Math</vt:lpstr>
      <vt:lpstr>Arial Unicode MS</vt:lpstr>
      <vt:lpstr>Palatino Linotype</vt:lpstr>
      <vt:lpstr>BatangChe</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董洋</dc:creator>
  <cp:lastModifiedBy>马云浩</cp:lastModifiedBy>
  <cp:revision>474</cp:revision>
  <dcterms:created xsi:type="dcterms:W3CDTF">2020-08-21T00:34:00Z</dcterms:created>
  <dcterms:modified xsi:type="dcterms:W3CDTF">2026-01-01T20:03:49Z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5B6FA876F4244D91A3E56EB68E7E33CA_13</vt:lpwstr>
  </property>
  <property fmtid="{D5CDD505-2E9C-101B-9397-08002B2CF9AE}" pid="3" name="KSOProductBuildVer">
    <vt:lpwstr>2052-12.1.0.23542</vt:lpwstr>
  </property>
</Properties>
</file>